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heme/theme1.xml" ContentType="application/vnd.openxmlformats-officedocument.them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Notes"/>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6256000" cy="9144000"/>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Notes" Type="http://schemas.openxmlformats.org/officeDocument/2006/relationships/notesMaster" Target="notesMasters/notes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p:nvPr>
            <p:ph type="body" idx="1"/>
          </p:nvPr>
        </p:nvSpPr>
        <p:spPr/>
        <p:txBody>
          <a:bodyPr/>
          <a:lstStyle/>
          <a:p>
            <a:r>
              <a:t>Predictive coding cap experiments — 0:20</a:t>
            </a:r>
          </a:p>
          <a:p>
            <a:r>
              <a:t/>
            </a:r>
          </a:p>
          <a:p>
            <a:r>
              <a:t>This is work with Matthew Iklé on whether a small adaptive system can learn useful corrections on top of a frozen language model. We will look at retrieval, predictive-coding learning signals, and the distribution of unintended prediction losses. Those are components of our active-inference programme, rather than a claim that the whole programme has already been implemented.</a:t>
            </a:r>
          </a:p>
          <a:p>
            <a:r>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p:nvPr>
            <p:ph type="body" idx="1"/>
          </p:nvPr>
        </p:nvSpPr>
        <p:spPr/>
        <p:txBody>
          <a:bodyPr/>
          <a:lstStyle/>
          <a:p>
            <a:r>
              <a:t>The scientific question — 0:40</a:t>
            </a:r>
          </a:p>
          <a:p>
            <a:r>
              <a:t/>
            </a:r>
          </a:p>
          <a:p>
            <a:r>
              <a:t>The practical question is easy to state: can we teach new answers without needlessly damaging what the model already does? The three themes have different roles. Active inference motivates a system that updates beliefs and chooses informative actions. Predictive coding offers a way to obtain learning signals through iterative error inference. Heavy-tail questions encourage us to inspect rare severe consequences, not only the average change. Our experiments measured the learning and preservation components. The autonomous action-selection part remains future work.</a:t>
            </a:r>
          </a:p>
          <a:p>
            <a:r>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p:nvPr>
            <p:ph type="body" idx="1"/>
          </p:nvPr>
        </p:nvSpPr>
        <p:spPr/>
        <p:txBody>
          <a:bodyPr/>
          <a:lstStyle/>
          <a:p>
            <a:r>
              <a:t>What a cap is — 1:05</a:t>
            </a:r>
          </a:p>
          <a:p>
            <a:r>
              <a:t/>
            </a:r>
          </a:p>
          <a:p>
            <a:r>
              <a:t>The base is GPT-2 small, with twelve transformer blocks and approximately 124 million parameters. A block is a stage in its computation. The cap can observe activations after blocks four, eight, and twelve, and add small correction vectors there. These are three access points to the same twelve-block model.</a:t>
            </a:r>
          </a:p>
          <a:p>
            <a:r>
              <a:t/>
            </a:r>
          </a:p>
          <a:p>
            <a:r>
              <a:t>The memory holds corrections taught earlier. A reader decides whether a stored correction is relevant or whether the model should be left alone. In the main deployment, stored answer-position corrections are applied after retrieval; the cap is not retraining the entire language model for each new fact. Its own reusable machinery is fixed for an evaluated edit stream, while the correction memory grows.</a:t>
            </a:r>
          </a:p>
          <a:p>
            <a:r>
              <a:t/>
            </a:r>
          </a:p>
          <a:p>
            <a:r>
              <a:t>Frozen weights do not imply unchanged predictions. An activation correction can change downstream computation. That is both how the cap helps and how it can cause collateral prediction changes. The experiment is local, on a small model; it establishes no transfer to production-scale models.</a:t>
            </a:r>
          </a:p>
          <a:p>
            <a:r>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p:nvPr>
            <p:ph type="body" idx="1"/>
          </p:nvPr>
        </p:nvSpPr>
        <p:spPr/>
        <p:txBody>
          <a:bodyPr/>
          <a:lstStyle/>
          <a:p>
            <a:r>
              <a:t>Which reader? — 1:00</a:t>
            </a:r>
          </a:p>
          <a:p>
            <a:r>
              <a:t/>
            </a:r>
          </a:p>
          <a:p>
            <a:r>
              <a:t>Stable v0 retrieves by fixed distance thresholds in activation space. The learned reader is trained to identify an applicable correction or choose none. The random-reader comparator uses untrained random geometry with its specified gate configuration. It is a useful control, but it is not literally identical to the learned reader with only its weights randomized: some enabled features and gate settings differ.</a:t>
            </a:r>
          </a:p>
          <a:p>
            <a:r>
              <a:t/>
            </a:r>
          </a:p>
          <a:p>
            <a:r>
              <a:t>The key distinction is between storing a correction and finding it again under different wording. All these conditions can learn correction memories. The selected main-study learned reader was trained beforehand by ordinary backpropagation. Later I will distinguish changing the learning signal for a new correction from changing how the reader itself is trained.</a:t>
            </a:r>
          </a:p>
          <a:p>
            <a:r>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p:nvPr>
            <p:ph type="body" idx="1"/>
          </p:nvPr>
        </p:nvSpPr>
        <p:spPr/>
        <p:txBody>
          <a:bodyPr/>
          <a:lstStyle/>
          <a:p>
            <a:r>
              <a:t>Teach, test, retest — 1:25</a:t>
            </a:r>
          </a:p>
          <a:p>
            <a:r>
              <a:t/>
            </a:r>
          </a:p>
          <a:p>
            <a:r>
              <a:t>Each stream begins with an empty correction memory. We provide a prompt and target answer, teach that fact, and test it immediately without providing the answer. We then teach more facts and return to the earlier questions. We also ask held-out paraphrases: different wording seeking the same answer.</a:t>
            </a:r>
          </a:p>
          <a:p>
            <a:r>
              <a:t/>
            </a:r>
          </a:p>
          <a:p>
            <a:r>
              <a:t>The main study used three fact samples and five orders of each sample. The zsRE and CounterFact streams reached one thousand edits; MQuAKE reached three hundred. In zsRE the target was the dataset reference answer. CounterFact supplied controlled replacement answers. Our MQuAKE payload used single-fact rewrites; this was not the standard multi-hop reasoning evaluation.</a:t>
            </a:r>
          </a:p>
          <a:p>
            <a:r>
              <a:t/>
            </a:r>
          </a:p>
          <a:p>
            <a:r>
              <a:t>Usefulness means retaining the taught answer and recognizing it under new wording. Preservation has more than one test: unrelated factual prompts should retain their answers, and ordinary-text predictions should remain close to the uncapped base. These questions cannot be reduced to one accuracy score.</a:t>
            </a:r>
          </a:p>
          <a:p>
            <a:r>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p:nvPr>
            <p:ph type="body" idx="1"/>
          </p:nvPr>
        </p:nvSpPr>
        <p:spPr/>
        <p:txBody>
          <a:bodyPr/>
          <a:lstStyle/>
          <a:p>
            <a:r>
              <a:t>Retrieval result — 1:35</a:t>
            </a:r>
          </a:p>
          <a:p>
            <a:r>
              <a:t/>
            </a:r>
          </a:p>
          <a:p>
            <a:r>
              <a:t>Read the first three columns before the last one. Stable v0 retained every original prompt on CounterFact and MQuAKE, yet retained none of their paraphrases. On zsRE it retained about two-thirds of original prompts but fewer than one-fifth of paraphrases. Storing an answer is not enough to retrieve it under a new question.</a:t>
            </a:r>
          </a:p>
          <a:p>
            <a:r>
              <a:t/>
            </a:r>
          </a:p>
          <a:p>
            <a:r>
              <a:t>The learned reader’s paraphrase scores were much higher: approximately 96 percent on zsRE, 68 percent on CounterFact, and 72 percent on the shorter MQuAKE stream. These are means over orders within each of three fact samples and then over those samples.</a:t>
            </a:r>
          </a:p>
          <a:p>
            <a:r>
              <a:t/>
            </a:r>
          </a:p>
          <a:p>
            <a:r>
              <a:t>The footer uses a different comparison: the main three samples plus a supplemental fourth sample, comparing learned and random readers at one thousand edits. The learned reader’s paraphrase advantage was about 44 and 56 percentage points on zsRE and CounterFact. That extension strengthens the retrieval evidence; it does not replace the original registered classification. Next, the preservation qualifications matter.</a:t>
            </a:r>
          </a:p>
          <a:p>
            <a:r>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p:nvPr>
            <p:ph type="body" idx="1"/>
          </p:nvPr>
        </p:nvSpPr>
        <p:spPr/>
        <p:txBody>
          <a:bodyPr/>
          <a:lstStyle/>
          <a:p>
            <a:r>
              <a:t>Preservation — 0:55</a:t>
            </a:r>
          </a:p>
          <a:p>
            <a:r>
              <a:t/>
            </a:r>
          </a:p>
          <a:p>
            <a:r>
              <a:t>All forty-five learned-reader cells missed our registered mean-KL preservation limit. KL measures change in the full next-token distribution on ordinary text, not the percentage of wrong answers. The limit was 0.001 nats per token.</a:t>
            </a:r>
          </a:p>
          <a:p>
            <a:r>
              <a:t/>
            </a:r>
          </a:p>
          <a:p>
            <a:r>
              <a:t>The CounterFact learned-versus-stable-v0 comparison was formally inconclusive because its locality requirement failed, despite the large paraphrase advantage. The MQuAKE stream is shorter and remains descriptive. We should report the useful retrieval improvement and these failures together. A less active reader can preserve ordinary text while failing to retrieve useful corrections; preservation alone is not sufficient either.</a:t>
            </a:r>
          </a:p>
          <a:p>
            <a:r>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p:nvPr>
            <p:ph type="body" idx="1"/>
          </p:nvPr>
        </p:nvSpPr>
        <p:spPr/>
        <p:txBody>
          <a:bodyPr/>
          <a:lstStyle/>
          <a:p>
            <a:r>
              <a:t>Where PC enters — 1:40</a:t>
            </a:r>
          </a:p>
          <a:p>
            <a:r>
              <a:t/>
            </a:r>
          </a:p>
          <a:p>
            <a:r>
              <a:t>When teaching an answer, we need to decide how to move the correction vectors. The adjoint method differentiates answer loss through the frozen transformer, takes the negative gradient, and normalizes its direction. The base weights remain fixed.</a:t>
            </a:r>
          </a:p>
          <a:p>
            <a:r>
              <a:t/>
            </a:r>
          </a:p>
          <a:p>
            <a:r>
              <a:t>The error-based predictive-coding method introduces temporary error variables. It adjusts them repeatedly against a prediction-loss term and a quadratic error penalty. The settled errors at the write sites provide the alternative direction. Those iterations are settling steps, not added transformer layers.</a:t>
            </a:r>
          </a:p>
          <a:p>
            <a:r>
              <a:t/>
            </a:r>
          </a:p>
          <a:p>
            <a:r>
              <a:t>Our digital error solver uses automatic differentiation through the graph. This is not evidence of a wholly local or backpropagation-free implementation. We are testing the resulting learning signal and its practical costs. The corrected comparisons shown here use the repaired error-only penalty; they are not the earlier defective-energy results.</a:t>
            </a:r>
          </a:p>
          <a:p>
            <a:r>
              <a:t/>
            </a:r>
          </a:p>
          <a:p>
            <a:r>
              <a:t>There are two distinct interventions. We can keep the selected reader fixed and change how a new correction is acquired. Or we can change the learning estimator used when training the reader/controller, then evaluate each trained artifact using the same adjoint acquisition rule. The next two slides separate those experiments.</a:t>
            </a:r>
          </a:p>
          <a:p>
            <a:r>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p:nvPr>
            <p:ph type="body" idx="1"/>
          </p:nvPr>
        </p:nvSpPr>
        <p:spPr/>
        <p:txBody>
          <a:bodyPr/>
          <a:lstStyle/>
          <a:p>
            <a:r>
              <a:t>Acquisition credit — 1:15</a:t>
            </a:r>
          </a:p>
          <a:p>
            <a:r>
              <a:t/>
            </a:r>
          </a:p>
          <a:p>
            <a:r>
              <a:t>This comparison holds the selected reader and GPT-2 checkpoint fixed, and changes only the credit rule for acquiring three hundred edits. It is one exposed fact sample and order, not a new population-level confirmation.</a:t>
            </a:r>
          </a:p>
          <a:p>
            <a:r>
              <a:t/>
            </a:r>
          </a:p>
          <a:p>
            <a:r>
              <a:t>The paraphrase results barely change: equal on zsRE and slightly lower with error inference on CounterFact. Process time rises. The final column is the largest token loss increase relative to the base, not the absolute token loss; both maxima increase. Mean harm is more mixed, improving on zsRE and worsening on CounterFact.</a:t>
            </a:r>
          </a:p>
          <a:p>
            <a:r>
              <a:t/>
            </a:r>
          </a:p>
          <a:p>
            <a:r>
              <a:t>The timing column includes the whole cell process and is not pure learning time. This narrow comparison provides little evidence that the additional inference work bought useful retention here. Small numerical differences do not demonstrate equivalence, and these maxima alone do not summarize every aspect of harm.</a:t>
            </a:r>
          </a:p>
          <a:p>
            <a:r>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p:nvPr>
            <p:ph type="body" idx="1"/>
          </p:nvPr>
        </p:nvSpPr>
        <p:spPr/>
        <p:txBody>
          <a:bodyPr/>
          <a:lstStyle/>
          <a:p>
            <a:r>
              <a:t>Training the reader — 1:35</a:t>
            </a:r>
          </a:p>
          <a:p>
            <a:r>
              <a:t/>
            </a:r>
          </a:p>
          <a:p>
            <a:r>
              <a:t>This time we trained three paired seeds using BP or the corrected ePC estimator. Within each seed, initialization and training data sequences were matched. All readers were evaluated on the same exposed fact sample/order, with adjoint acquisition for the new facts. Three training seeds are not three new fact samples.</a:t>
            </a:r>
          </a:p>
          <a:p>
            <a:r>
              <a:t/>
            </a:r>
          </a:p>
          <a:p>
            <a:r>
              <a:t>The table shows retained paraphrase accuracy. PC is lower in five of six pairs, including all three CounterFact pairs. Some harm measurements improve, particularly on zsRE, so the outcome is not a single scalar ranking.</a:t>
            </a:r>
          </a:p>
          <a:p>
            <a:r>
              <a:t/>
            </a:r>
          </a:p>
          <a:p>
            <a:r>
              <a:t>The cost matters: ePC training took roughly twenty-three to twenty-five hours per seed, compared with about fifteen minutes for BP—approximately ninety-six to one hundred and two times longer for these completed runs. That is a result of this implementation and recipe, not a universal constant for PC. The 3.35-million-parameter count includes both reader and controller. This experiment does not establish a general failure of predictive coding, but it makes the practical trade-off clear for our setting.</a:t>
            </a:r>
          </a:p>
          <a:p>
            <a:r>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p:nvPr>
            <p:ph type="body" idx="1"/>
          </p:nvPr>
        </p:nvSpPr>
        <p:spPr/>
        <p:txBody>
          <a:bodyPr/>
          <a:lstStyle/>
          <a:p>
            <a:r>
              <a:t>Settling depth — 1:00</a:t>
            </a:r>
          </a:p>
          <a:p>
            <a:r>
              <a:t/>
            </a:r>
          </a:p>
          <a:p>
            <a:r>
              <a:t>This is a separate experiment using an older distilled checkpoint and live v0 cap. The base still has 124 million parameters. Fifty million denotes its approximate training-token budget, not its model size.</a:t>
            </a:r>
          </a:p>
          <a:p>
            <a:r>
              <a:t/>
            </a:r>
          </a:p>
          <a:p>
            <a:r>
              <a:t>Across three fact samples in the same order, more settling increased original-prompt retention from about 51.5 to 56.5 percent. Paraphrase retention did not improve and fell at thirty-two steps. Learning time grew substantially, and mean ordinary-text loss increase rose too. The first error-inference step has the adjoint direction in exact arithmetic after normalization; tiny floating-point differences can remain.</a:t>
            </a:r>
          </a:p>
          <a:p>
            <a:r>
              <a:t/>
            </a:r>
          </a:p>
          <a:p>
            <a:r>
              <a:t>The result is a limited benefit rather than no PC effect: more original prompts were retained, with costs and no broader wording benefit. If rehearsal runs long, this is the optional main slide to skip rather than rushing the distributional results.</a:t>
            </a:r>
          </a:p>
          <a:p>
            <a:r>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p:nvPr>
            <p:ph type="body" idx="1"/>
          </p:nvPr>
        </p:nvSpPr>
        <p:spPr/>
        <p:txBody>
          <a:bodyPr/>
          <a:lstStyle/>
          <a:p>
            <a:r>
              <a:t>Observed tails — 2:00</a:t>
            </a:r>
          </a:p>
          <a:p>
            <a:r>
              <a:t/>
            </a:r>
          </a:p>
          <a:p>
            <a:r>
              <a:t>First define the quantity on the horizontal axis. At a fixed text prefix, compare the loss assigned to the actual next token with and without the cap. Positive delta means the cap made that actual token less probable. Loss uses natural logarithms, measured in nats. An increase of one nat corresponds to a probability decrease by a factor of about 2.72.</a:t>
            </a:r>
          </a:p>
          <a:p>
            <a:r>
              <a:t/>
            </a:r>
          </a:p>
          <a:p>
            <a:r>
              <a:t>The vertical axis is the fraction of all scored positions with a loss increase larger than the horizontal threshold. Both axes are logarithmic. This makes rare but severe changes visible. The two panels use the same ordinary-text inventory and show a fixed illustrative zsRE sample/order after one thousand edits. The text positions are dependent observations, not hundreds of thousands of independent experiments.</a:t>
            </a:r>
          </a:p>
          <a:p>
            <a:r>
              <a:t/>
            </a:r>
          </a:p>
          <a:p>
            <a:r>
              <a:t>The solid lines are empirical survival curves. Dashed lines are the saved exponential fits to excesses above 0.01 nat. Stable v0 has a more pronounced tail than that exponential comparison predicts. For the learned reader, the more flexible tail fit added little held-out predictive value in the broader analysis.</a:t>
            </a:r>
          </a:p>
          <a:p>
            <a:r>
              <a:t/>
            </a:r>
          </a:p>
          <a:p>
            <a:r>
              <a:t>This is evidence about finite observed ranges. It does not establish a power law, infinite variance, a complexity class, or a coupled-entropy parameter. Also, lower maxima need not imply lower averages among the worst losses. The reason to show this is that the frequency and severity of collateral effects deserve their own examination.</a:t>
            </a:r>
          </a:p>
          <a:p>
            <a:r>
              <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p:nvPr>
            <p:ph type="body" idx="1"/>
          </p:nvPr>
        </p:nvSpPr>
        <p:spPr/>
        <p:txBody>
          <a:bodyPr/>
          <a:lstStyle/>
          <a:p>
            <a:r>
              <a:t>Probability mixture — 2:00</a:t>
            </a:r>
          </a:p>
          <a:p>
            <a:r>
              <a:t/>
            </a:r>
          </a:p>
          <a:p>
            <a:r>
              <a:t>We then asked whether an explicit bound could reduce severity while preserving useful editing. Mix approximately thirty-seven percent of the base distribution with sixty-three percent of the cap distribution.</a:t>
            </a:r>
          </a:p>
          <a:p>
            <a:r>
              <a:t/>
            </a:r>
          </a:p>
          <a:p>
            <a:r>
              <a:t>For every token at the same prefix, the mixture contains at least the base’s thirty-seven-percent contribution. Its probability therefore cannot fall below that fraction of the base probability. Taking a negative logarithm yields the one-nat bound on loss increase. This is a mathematical guarantee for token likelihood relative to that base, not an empirical fit.</a:t>
            </a:r>
          </a:p>
          <a:p>
            <a:r>
              <a:t/>
            </a:r>
          </a:p>
          <a:p>
            <a:r>
              <a:t>The table measures a separate quantity: average severity among positions whose loss increase exceeds 0.01 nat. That falls from about 1.6 to 0.54 nats on zsRE and 1.9 to 0.58 on CounterFact—approximately one-third of the original levels. These are ten exposed three-hundred-edit streams, a different population from the thousand-edit tail illustration.</a:t>
            </a:r>
          </a:p>
          <a:p>
            <a:r>
              <a:t/>
            </a:r>
          </a:p>
          <a:p>
            <a:r>
              <a:t>Usefulness was largely retained: paraphrase retention did not change on zsRE and declined by about 0.7 to 1.2 percentage points on CounterFact. CounterFact still missed the mean-KL criterion. The mixture does not guarantee unchanged greedy answers; a mixture can change which token wins. Nor is one nat a bound on a whole answer, semantic harm, or separately generated continuations with different prefixes. It is a useful and precisely delimited intervention.</a:t>
            </a:r>
          </a:p>
          <a:p>
            <a:r>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p:nvPr>
            <p:ph type="body" idx="1"/>
          </p:nvPr>
        </p:nvSpPr>
        <p:spPr/>
        <p:txBody>
          <a:bodyPr/>
          <a:lstStyle/>
          <a:p>
            <a:r>
              <a:t>What remains open — 1:30</a:t>
            </a:r>
          </a:p>
          <a:p>
            <a:r>
              <a:t/>
            </a:r>
          </a:p>
          <a:p>
            <a:r>
              <a:t>The project has separated several questions that should not be conflated. Can a correction be found? Does a proposed learning signal improve the trade-off for its cost? What happens in the rare, severe part of the loss distribution?</a:t>
            </a:r>
          </a:p>
          <a:p>
            <a:r>
              <a:t/>
            </a:r>
          </a:p>
          <a:p>
            <a:r>
              <a:t>The next active-inference step should add an actual decision: for example, selecting which uncertain fact to audit or update under a fixed budget. A specified policy could be compared with fixed or random selection while keeping usefulness, preservation, and cost as outcomes. We did not implement that autonomous policy in these experiments.</a:t>
            </a:r>
          </a:p>
          <a:p>
            <a:r>
              <a:t/>
            </a:r>
          </a:p>
          <a:p>
            <a:r>
              <a:t>Likewise, a software interface is not proof of a probabilistic Markov blanket. The state variables and claimed conditional-independence properties need to be specified and tested. We welcome collaboration on a precise coupled-entropy model and an experiment capable of distinguishing its proposed mechanism. The limited κ-loss pilot was not a test of the full theory.</a:t>
            </a:r>
          </a:p>
          <a:p>
            <a:r>
              <a:t/>
            </a:r>
          </a:p>
          <a:p>
            <a:r>
              <a:t>The existing measurements give us a concrete testbed for that work, with positive retrieval results, limited and costly PC effects, and an explicit bound on one kind of extreme loss.</a:t>
            </a:r>
          </a:p>
          <a:p>
            <a:r>
              <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txBox="1"/>
          <p:nvPr>
            <p:ph type="body" idx="1"/>
          </p:nvPr>
        </p:nvSpPr>
        <p:spPr/>
        <p:txBody>
          <a:bodyPr/>
          <a:lstStyle/>
          <a:p>
            <a:r>
              <a:t>Questions — at least 5:00</a:t>
            </a:r>
          </a:p>
          <a:p>
            <a:r>
              <a:t/>
            </a:r>
          </a:p>
          <a:p>
            <a:r>
              <a:t>Leave this slide visible for discussion. The QR code and short URL lead to charlie’s canonical presentation page, not an automatically published copy of this local alternative. The repository links provide experimental detail and materials. Acknowledge the collaborators and agentic assistance without using discussion time to read a list of roles.</a:t>
            </a:r>
          </a:p>
          <a:p>
            <a:r>
              <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earthland.ai/ccs/" TargetMode="External"/><Relationship Id="rId4" Type="http://schemas.openxmlformats.org/officeDocument/2006/relationships/hyperlink" Target="https://github.com/pderp/pc_cap" TargetMode="External"/><Relationship Id="rId5" Type="http://schemas.openxmlformats.org/officeDocument/2006/relationships/hyperlink" Target="https://github.com/pderp/cap-asset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16256000" cy="9144000"/>
          </a:xfrm>
          <a:prstGeom prst="rect">
            <a:avLst/>
          </a:prstGeom>
          <a:solidFill>
            <a:srgbClr val="162F3B"/>
          </a:solidFill>
          <a:ln>
            <a:noFill/>
          </a:ln>
        </p:spPr>
      </p:sp>
      <p:sp>
        <p:nvSpPr>
          <p:cNvPr id="3" name="rect 3"/>
          <p:cNvSpPr/>
          <p:nvPr/>
        </p:nvSpPr>
        <p:spPr>
          <a:xfrm>
            <a:off x="12065000" y="0"/>
            <a:ext cx="4191000" cy="9144000"/>
          </a:xfrm>
          <a:prstGeom prst="rect">
            <a:avLst/>
          </a:prstGeom>
          <a:solidFill>
            <a:srgbClr val="204955"/>
          </a:solidFill>
          <a:ln>
            <a:noFill/>
          </a:ln>
        </p:spPr>
      </p:sp>
      <p:sp>
        <p:nvSpPr>
          <p:cNvPr id="4" name="rect 4"/>
          <p:cNvSpPr/>
          <p:nvPr/>
        </p:nvSpPr>
        <p:spPr>
          <a:xfrm>
            <a:off x="12560300" y="3048000"/>
            <a:ext cx="1460500" cy="1460500"/>
          </a:xfrm>
          <a:prstGeom prst="rect">
            <a:avLst/>
          </a:prstGeom>
          <a:solidFill>
            <a:srgbClr val="28606A"/>
          </a:solidFill>
          <a:ln>
            <a:noFill/>
          </a:ln>
        </p:spPr>
      </p:sp>
      <p:sp>
        <p:nvSpPr>
          <p:cNvPr id="5" name="rect 5"/>
          <p:cNvSpPr/>
          <p:nvPr/>
        </p:nvSpPr>
        <p:spPr>
          <a:xfrm>
            <a:off x="12827000" y="3403600"/>
            <a:ext cx="1460500" cy="1460500"/>
          </a:xfrm>
          <a:prstGeom prst="rect">
            <a:avLst/>
          </a:prstGeom>
          <a:solidFill>
            <a:srgbClr val="28606A"/>
          </a:solidFill>
          <a:ln>
            <a:noFill/>
          </a:ln>
        </p:spPr>
      </p:sp>
      <p:sp>
        <p:nvSpPr>
          <p:cNvPr id="6" name="rect 6"/>
          <p:cNvSpPr/>
          <p:nvPr/>
        </p:nvSpPr>
        <p:spPr>
          <a:xfrm>
            <a:off x="13093700" y="3759200"/>
            <a:ext cx="1460500" cy="1460500"/>
          </a:xfrm>
          <a:prstGeom prst="rect">
            <a:avLst/>
          </a:prstGeom>
          <a:solidFill>
            <a:srgbClr val="28606A"/>
          </a:solidFill>
          <a:ln>
            <a:noFill/>
          </a:ln>
        </p:spPr>
      </p:sp>
      <p:sp>
        <p:nvSpPr>
          <p:cNvPr id="7" name="rect 7"/>
          <p:cNvSpPr/>
          <p:nvPr/>
        </p:nvSpPr>
        <p:spPr>
          <a:xfrm>
            <a:off x="13360400" y="4114800"/>
            <a:ext cx="1460500" cy="1460500"/>
          </a:xfrm>
          <a:prstGeom prst="rect">
            <a:avLst/>
          </a:prstGeom>
          <a:solidFill>
            <a:srgbClr val="28606A"/>
          </a:solidFill>
          <a:ln>
            <a:noFill/>
          </a:ln>
        </p:spPr>
      </p:sp>
      <p:sp>
        <p:nvSpPr>
          <p:cNvPr id="8" name="rect 8"/>
          <p:cNvSpPr/>
          <p:nvPr/>
        </p:nvSpPr>
        <p:spPr>
          <a:xfrm>
            <a:off x="13627100" y="4470400"/>
            <a:ext cx="1460500" cy="1460500"/>
          </a:xfrm>
          <a:prstGeom prst="rect">
            <a:avLst/>
          </a:prstGeom>
          <a:solidFill>
            <a:srgbClr val="28606A"/>
          </a:solidFill>
          <a:ln>
            <a:noFill/>
          </a:ln>
        </p:spPr>
      </p:sp>
      <p:sp>
        <p:nvSpPr>
          <p:cNvPr id="9" name="rect 9"/>
          <p:cNvSpPr/>
          <p:nvPr/>
        </p:nvSpPr>
        <p:spPr>
          <a:xfrm>
            <a:off x="13893800" y="4826000"/>
            <a:ext cx="1460500" cy="1460500"/>
          </a:xfrm>
          <a:prstGeom prst="rect">
            <a:avLst/>
          </a:prstGeom>
          <a:solidFill>
            <a:srgbClr val="28606A"/>
          </a:solidFill>
          <a:ln>
            <a:noFill/>
          </a:ln>
        </p:spPr>
      </p:sp>
      <p:sp>
        <p:nvSpPr>
          <p:cNvPr id="10" name="rect 10"/>
          <p:cNvSpPr/>
          <p:nvPr/>
        </p:nvSpPr>
        <p:spPr>
          <a:xfrm>
            <a:off x="711200" y="635000"/>
            <a:ext cx="939800" cy="76200"/>
          </a:xfrm>
          <a:prstGeom prst="rect">
            <a:avLst/>
          </a:prstGeom>
          <a:solidFill>
            <a:srgbClr val="79DCC8"/>
          </a:solidFill>
          <a:ln>
            <a:noFill/>
          </a:ln>
        </p:spPr>
      </p:sp>
      <p:sp>
        <p:nvSpPr>
          <p:cNvPr id="11" name="text 11"/>
          <p:cNvSpPr/>
          <p:nvPr/>
        </p:nvSpPr>
        <p:spPr>
          <a:xfrm>
            <a:off x="698500" y="1066800"/>
            <a:ext cx="14097000" cy="2857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800" b="1">
                <a:solidFill>
                  <a:srgbClr val="9ADFD4"/>
                </a:solidFill>
                <a:latin typeface="DejaVu Sans"/>
              </a:rPr>
              <a:t>Active Inference in the Extremes · CCS 2026</a:t>
            </a:r>
          </a:p>
        </p:txBody>
      </p:sp>
      <p:sp>
        <p:nvSpPr>
          <p:cNvPr id="12" name="text 12"/>
          <p:cNvSpPr/>
          <p:nvPr/>
        </p:nvSpPr>
        <p:spPr>
          <a:xfrm>
            <a:off x="698500" y="1905000"/>
            <a:ext cx="12001500" cy="9207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5800" b="1">
                <a:solidFill>
                  <a:srgbClr val="FFFFFF"/>
                </a:solidFill>
                <a:latin typeface="DejaVu Sans"/>
              </a:rPr>
              <a:t>Predictive coding cap</a:t>
            </a:r>
          </a:p>
        </p:txBody>
      </p:sp>
      <p:sp>
        <p:nvSpPr>
          <p:cNvPr id="13" name="text 13"/>
          <p:cNvSpPr/>
          <p:nvPr/>
        </p:nvSpPr>
        <p:spPr>
          <a:xfrm>
            <a:off x="698500" y="2825750"/>
            <a:ext cx="12001500" cy="9207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5800" b="1">
                <a:solidFill>
                  <a:srgbClr val="FFFFFF"/>
                </a:solidFill>
                <a:latin typeface="DejaVu Sans"/>
              </a:rPr>
              <a:t>experiments</a:t>
            </a:r>
          </a:p>
        </p:txBody>
      </p:sp>
      <p:sp>
        <p:nvSpPr>
          <p:cNvPr id="14" name="text 14"/>
          <p:cNvSpPr/>
          <p:nvPr/>
        </p:nvSpPr>
        <p:spPr>
          <a:xfrm>
            <a:off x="749300" y="4241800"/>
            <a:ext cx="11938000" cy="4921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3100" b="0">
                <a:solidFill>
                  <a:srgbClr val="A9E2D9"/>
                </a:solidFill>
                <a:latin typeface="DejaVu Sans"/>
              </a:rPr>
              <a:t>Learning corrections on a frozen transformer</a:t>
            </a:r>
          </a:p>
        </p:txBody>
      </p:sp>
      <p:sp>
        <p:nvSpPr>
          <p:cNvPr id="15" name="text 15"/>
          <p:cNvSpPr/>
          <p:nvPr/>
        </p:nvSpPr>
        <p:spPr>
          <a:xfrm>
            <a:off x="749300" y="5549900"/>
            <a:ext cx="13081000" cy="460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900" b="0">
                <a:solidFill>
                  <a:srgbClr val="FFFFFF"/>
                </a:solidFill>
                <a:latin typeface="DejaVu Sans"/>
              </a:rPr>
              <a:t>charlie derr · Matthew Iklé</a:t>
            </a:r>
          </a:p>
        </p:txBody>
      </p:sp>
      <p:sp>
        <p:nvSpPr>
          <p:cNvPr id="16" name="text 16"/>
          <p:cNvSpPr/>
          <p:nvPr/>
        </p:nvSpPr>
        <p:spPr>
          <a:xfrm>
            <a:off x="749300" y="6184900"/>
            <a:ext cx="13462000" cy="3492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200" b="0">
                <a:solidFill>
                  <a:srgbClr val="C3D8DC"/>
                </a:solidFill>
                <a:latin typeface="DejaVu Sans"/>
              </a:rPr>
              <a:t>15 October 2026 · Binghamton, New York</a:t>
            </a:r>
          </a:p>
        </p:txBody>
      </p:sp>
      <p:sp>
        <p:nvSpPr>
          <p:cNvPr id="17" name="text 17"/>
          <p:cNvSpPr/>
          <p:nvPr/>
        </p:nvSpPr>
        <p:spPr>
          <a:xfrm>
            <a:off x="749300" y="7493000"/>
            <a:ext cx="140970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1">
                <a:solidFill>
                  <a:srgbClr val="FFFFFF"/>
                </a:solidFill>
                <a:latin typeface="DejaVu Sans"/>
              </a:rPr>
              <a:t>Retrieval, learning signals, and the consequences of extreme errors.</a:t>
            </a:r>
          </a:p>
        </p:txBody>
      </p:sp>
      <p:sp>
        <p:nvSpPr>
          <p:cNvPr id="18" name="text 18"/>
          <p:cNvSpPr/>
          <p:nvPr/>
        </p:nvSpPr>
        <p:spPr>
          <a:xfrm>
            <a:off x="749300" y="8788400"/>
            <a:ext cx="13081000" cy="174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100" b="0">
                <a:solidFill>
                  <a:srgbClr val="C3D8DC"/>
                </a:solidFill>
                <a:latin typeface="DejaVu Sans"/>
              </a:rPr>
              <a:t>Source: Project results through October 2026.</a:t>
            </a:r>
          </a:p>
        </p:txBody>
      </p:sp>
      <p:sp>
        <p:nvSpPr>
          <p:cNvPr id="19" name="text 19"/>
          <p:cNvSpPr/>
          <p:nvPr/>
        </p:nvSpPr>
        <p:spPr>
          <a:xfrm>
            <a:off x="14541500" y="8788400"/>
            <a:ext cx="1079500" cy="190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200" b="0">
                <a:solidFill>
                  <a:srgbClr val="C3D8DC"/>
                </a:solidFill>
                <a:latin typeface="DejaVu Sans"/>
              </a:rPr>
              <a:t>01 / 15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16256000" cy="9144000"/>
          </a:xfrm>
          <a:prstGeom prst="rect">
            <a:avLst/>
          </a:prstGeom>
          <a:solidFill>
            <a:srgbClr val="FAFAF7"/>
          </a:solidFill>
          <a:ln>
            <a:noFill/>
          </a:ln>
        </p:spPr>
      </p:sp>
      <p:sp>
        <p:nvSpPr>
          <p:cNvPr id="3" name="rect 3"/>
          <p:cNvSpPr/>
          <p:nvPr/>
        </p:nvSpPr>
        <p:spPr>
          <a:xfrm>
            <a:off x="0" y="0"/>
            <a:ext cx="16256000" cy="88900"/>
          </a:xfrm>
          <a:prstGeom prst="rect">
            <a:avLst/>
          </a:prstGeom>
          <a:solidFill>
            <a:srgbClr val="007E80"/>
          </a:solidFill>
          <a:ln>
            <a:noFill/>
          </a:ln>
        </p:spPr>
      </p:sp>
      <p:sp>
        <p:nvSpPr>
          <p:cNvPr id="4" name="text 4"/>
          <p:cNvSpPr/>
          <p:nvPr/>
        </p:nvSpPr>
        <p:spPr>
          <a:xfrm>
            <a:off x="685800" y="355600"/>
            <a:ext cx="14884400" cy="2222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400" b="1">
                <a:solidFill>
                  <a:srgbClr val="007E80"/>
                </a:solidFill>
                <a:latin typeface="DejaVu Sans"/>
              </a:rPr>
              <a:t>The scientific question</a:t>
            </a:r>
          </a:p>
        </p:txBody>
      </p:sp>
      <p:sp>
        <p:nvSpPr>
          <p:cNvPr id="5" name="text 5"/>
          <p:cNvSpPr/>
          <p:nvPr/>
        </p:nvSpPr>
        <p:spPr>
          <a:xfrm>
            <a:off x="685800" y="850900"/>
            <a:ext cx="14884400" cy="555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3500" b="1">
                <a:solidFill>
                  <a:srgbClr val="162F3B"/>
                </a:solidFill>
                <a:latin typeface="DejaVu Sans"/>
              </a:rPr>
              <a:t>Can a small cap learn without disrupting the rest?</a:t>
            </a:r>
          </a:p>
        </p:txBody>
      </p:sp>
      <p:sp>
        <p:nvSpPr>
          <p:cNvPr id="6" name="rect 6"/>
          <p:cNvSpPr/>
          <p:nvPr/>
        </p:nvSpPr>
        <p:spPr>
          <a:xfrm>
            <a:off x="685800" y="7797800"/>
            <a:ext cx="14884400" cy="762000"/>
          </a:xfrm>
          <a:prstGeom prst="rect">
            <a:avLst/>
          </a:prstGeom>
          <a:solidFill>
            <a:srgbClr val="EAF3F1"/>
          </a:solidFill>
          <a:ln>
            <a:noFill/>
          </a:ln>
        </p:spPr>
      </p:sp>
      <p:sp>
        <p:nvSpPr>
          <p:cNvPr id="7" name="text 7"/>
          <p:cNvSpPr/>
          <p:nvPr/>
        </p:nvSpPr>
        <p:spPr>
          <a:xfrm>
            <a:off x="914400" y="7937500"/>
            <a:ext cx="144272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162F3B"/>
                </a:solidFill>
                <a:latin typeface="DejaVu Sans"/>
              </a:rPr>
              <a:t>We tested components of this programme. The full active-inference agent remains open.</a:t>
            </a:r>
          </a:p>
        </p:txBody>
      </p:sp>
      <p:sp>
        <p:nvSpPr>
          <p:cNvPr id="8" name="text 8"/>
          <p:cNvSpPr/>
          <p:nvPr/>
        </p:nvSpPr>
        <p:spPr>
          <a:xfrm>
            <a:off x="698500" y="8788400"/>
            <a:ext cx="13716000" cy="166688"/>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050" b="0">
                <a:solidFill>
                  <a:srgbClr val="52666F"/>
                </a:solidFill>
                <a:latin typeface="DejaVu Sans"/>
              </a:rPr>
              <a:t>Source: Submitted abstract; shared presentation brief; completed experiments.</a:t>
            </a:r>
          </a:p>
        </p:txBody>
      </p:sp>
      <p:sp>
        <p:nvSpPr>
          <p:cNvPr id="9" name="text 9"/>
          <p:cNvSpPr/>
          <p:nvPr/>
        </p:nvSpPr>
        <p:spPr>
          <a:xfrm>
            <a:off x="14541500" y="8788400"/>
            <a:ext cx="1079500" cy="190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200" b="0">
                <a:solidFill>
                  <a:srgbClr val="52666F"/>
                </a:solidFill>
                <a:latin typeface="DejaVu Sans"/>
              </a:rPr>
              <a:t>02 / 15</a:t>
            </a:r>
          </a:p>
        </p:txBody>
      </p:sp>
      <p:sp>
        <p:nvSpPr>
          <p:cNvPr id="10" name="text 10"/>
          <p:cNvSpPr/>
          <p:nvPr/>
        </p:nvSpPr>
        <p:spPr>
          <a:xfrm>
            <a:off x="711200" y="2159000"/>
            <a:ext cx="14795500" cy="460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900" b="0">
                <a:solidFill>
                  <a:srgbClr val="162F3B"/>
                </a:solidFill>
                <a:latin typeface="DejaVu Sans"/>
              </a:rPr>
              <a:t>Teach a frozen language model new answers while preserving its other</a:t>
            </a:r>
          </a:p>
        </p:txBody>
      </p:sp>
      <p:sp>
        <p:nvSpPr>
          <p:cNvPr id="11" name="text 11"/>
          <p:cNvSpPr/>
          <p:nvPr/>
        </p:nvSpPr>
        <p:spPr>
          <a:xfrm>
            <a:off x="711200" y="2619375"/>
            <a:ext cx="14795500" cy="460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900" b="0">
                <a:solidFill>
                  <a:srgbClr val="162F3B"/>
                </a:solidFill>
                <a:latin typeface="DejaVu Sans"/>
              </a:rPr>
              <a:t>predictions.</a:t>
            </a:r>
          </a:p>
        </p:txBody>
      </p:sp>
      <p:sp>
        <p:nvSpPr>
          <p:cNvPr id="12" name="rect 12"/>
          <p:cNvSpPr/>
          <p:nvPr/>
        </p:nvSpPr>
        <p:spPr>
          <a:xfrm>
            <a:off x="711200" y="3619500"/>
            <a:ext cx="4749800" cy="3378200"/>
          </a:xfrm>
          <a:prstGeom prst="rect">
            <a:avLst/>
          </a:prstGeom>
          <a:solidFill>
            <a:srgbClr val="FFFFFF"/>
          </a:solidFill>
          <a:ln>
            <a:noFill/>
          </a:ln>
        </p:spPr>
      </p:sp>
      <p:sp>
        <p:nvSpPr>
          <p:cNvPr id="13" name="rect 13"/>
          <p:cNvSpPr/>
          <p:nvPr/>
        </p:nvSpPr>
        <p:spPr>
          <a:xfrm>
            <a:off x="711200" y="3619500"/>
            <a:ext cx="63500" cy="3378200"/>
          </a:xfrm>
          <a:prstGeom prst="rect">
            <a:avLst/>
          </a:prstGeom>
          <a:solidFill>
            <a:srgbClr val="007E80"/>
          </a:solidFill>
          <a:ln>
            <a:noFill/>
          </a:ln>
        </p:spPr>
      </p:sp>
      <p:sp>
        <p:nvSpPr>
          <p:cNvPr id="14" name="text 14"/>
          <p:cNvSpPr/>
          <p:nvPr/>
        </p:nvSpPr>
        <p:spPr>
          <a:xfrm>
            <a:off x="1003300" y="3873500"/>
            <a:ext cx="41656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1">
                <a:solidFill>
                  <a:srgbClr val="007E80"/>
                </a:solidFill>
                <a:latin typeface="DejaVu Sans"/>
              </a:rPr>
              <a:t>Active inference</a:t>
            </a:r>
          </a:p>
        </p:txBody>
      </p:sp>
      <p:sp>
        <p:nvSpPr>
          <p:cNvPr id="15" name="text 15"/>
          <p:cNvSpPr/>
          <p:nvPr/>
        </p:nvSpPr>
        <p:spPr>
          <a:xfrm>
            <a:off x="1003300" y="4397375"/>
            <a:ext cx="41656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The longer-term goal:</a:t>
            </a:r>
          </a:p>
        </p:txBody>
      </p:sp>
      <p:sp>
        <p:nvSpPr>
          <p:cNvPr id="16" name="text 16"/>
          <p:cNvSpPr/>
          <p:nvPr/>
        </p:nvSpPr>
        <p:spPr>
          <a:xfrm>
            <a:off x="1003300" y="4778375"/>
            <a:ext cx="41656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update beliefs and choose</a:t>
            </a:r>
          </a:p>
        </p:txBody>
      </p:sp>
      <p:sp>
        <p:nvSpPr>
          <p:cNvPr id="17" name="text 17"/>
          <p:cNvSpPr/>
          <p:nvPr/>
        </p:nvSpPr>
        <p:spPr>
          <a:xfrm>
            <a:off x="1003300" y="5159375"/>
            <a:ext cx="41656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informative actions.</a:t>
            </a:r>
          </a:p>
        </p:txBody>
      </p:sp>
      <p:sp>
        <p:nvSpPr>
          <p:cNvPr id="18" name="rect 18"/>
          <p:cNvSpPr/>
          <p:nvPr/>
        </p:nvSpPr>
        <p:spPr>
          <a:xfrm>
            <a:off x="5765800" y="3619500"/>
            <a:ext cx="4749800" cy="3378200"/>
          </a:xfrm>
          <a:prstGeom prst="rect">
            <a:avLst/>
          </a:prstGeom>
          <a:solidFill>
            <a:srgbClr val="FFFFFF"/>
          </a:solidFill>
          <a:ln>
            <a:noFill/>
          </a:ln>
        </p:spPr>
      </p:sp>
      <p:sp>
        <p:nvSpPr>
          <p:cNvPr id="19" name="rect 19"/>
          <p:cNvSpPr/>
          <p:nvPr/>
        </p:nvSpPr>
        <p:spPr>
          <a:xfrm>
            <a:off x="5765800" y="3619500"/>
            <a:ext cx="63500" cy="3378200"/>
          </a:xfrm>
          <a:prstGeom prst="rect">
            <a:avLst/>
          </a:prstGeom>
          <a:solidFill>
            <a:srgbClr val="675399"/>
          </a:solidFill>
          <a:ln>
            <a:noFill/>
          </a:ln>
        </p:spPr>
      </p:sp>
      <p:sp>
        <p:nvSpPr>
          <p:cNvPr id="20" name="text 20"/>
          <p:cNvSpPr/>
          <p:nvPr/>
        </p:nvSpPr>
        <p:spPr>
          <a:xfrm>
            <a:off x="6057900" y="3873500"/>
            <a:ext cx="41656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1">
                <a:solidFill>
                  <a:srgbClr val="675399"/>
                </a:solidFill>
                <a:latin typeface="DejaVu Sans"/>
              </a:rPr>
              <a:t>Predictive coding</a:t>
            </a:r>
          </a:p>
        </p:txBody>
      </p:sp>
      <p:sp>
        <p:nvSpPr>
          <p:cNvPr id="21" name="text 21"/>
          <p:cNvSpPr/>
          <p:nvPr/>
        </p:nvSpPr>
        <p:spPr>
          <a:xfrm>
            <a:off x="6057900" y="4397375"/>
            <a:ext cx="41656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Test whether iterative</a:t>
            </a:r>
          </a:p>
        </p:txBody>
      </p:sp>
      <p:sp>
        <p:nvSpPr>
          <p:cNvPr id="22" name="text 22"/>
          <p:cNvSpPr/>
          <p:nvPr/>
        </p:nvSpPr>
        <p:spPr>
          <a:xfrm>
            <a:off x="6057900" y="4778375"/>
            <a:ext cx="41656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error inference provides</a:t>
            </a:r>
          </a:p>
        </p:txBody>
      </p:sp>
      <p:sp>
        <p:nvSpPr>
          <p:cNvPr id="23" name="text 23"/>
          <p:cNvSpPr/>
          <p:nvPr/>
        </p:nvSpPr>
        <p:spPr>
          <a:xfrm>
            <a:off x="6057900" y="5159375"/>
            <a:ext cx="41656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useful learning signals.</a:t>
            </a:r>
          </a:p>
        </p:txBody>
      </p:sp>
      <p:sp>
        <p:nvSpPr>
          <p:cNvPr id="24" name="rect 24"/>
          <p:cNvSpPr/>
          <p:nvPr/>
        </p:nvSpPr>
        <p:spPr>
          <a:xfrm>
            <a:off x="10820400" y="3619500"/>
            <a:ext cx="4749800" cy="3378200"/>
          </a:xfrm>
          <a:prstGeom prst="rect">
            <a:avLst/>
          </a:prstGeom>
          <a:solidFill>
            <a:srgbClr val="FFFFFF"/>
          </a:solidFill>
          <a:ln>
            <a:noFill/>
          </a:ln>
        </p:spPr>
      </p:sp>
      <p:sp>
        <p:nvSpPr>
          <p:cNvPr id="25" name="rect 25"/>
          <p:cNvSpPr/>
          <p:nvPr/>
        </p:nvSpPr>
        <p:spPr>
          <a:xfrm>
            <a:off x="10820400" y="3619500"/>
            <a:ext cx="63500" cy="3378200"/>
          </a:xfrm>
          <a:prstGeom prst="rect">
            <a:avLst/>
          </a:prstGeom>
          <a:solidFill>
            <a:srgbClr val="B44D32"/>
          </a:solidFill>
          <a:ln>
            <a:noFill/>
          </a:ln>
        </p:spPr>
      </p:sp>
      <p:sp>
        <p:nvSpPr>
          <p:cNvPr id="26" name="text 26"/>
          <p:cNvSpPr/>
          <p:nvPr/>
        </p:nvSpPr>
        <p:spPr>
          <a:xfrm>
            <a:off x="11112500" y="3873500"/>
            <a:ext cx="41656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1">
                <a:solidFill>
                  <a:srgbClr val="B44D32"/>
                </a:solidFill>
                <a:latin typeface="DejaVu Sans"/>
              </a:rPr>
              <a:t>Heavy-tailed</a:t>
            </a:r>
          </a:p>
        </p:txBody>
      </p:sp>
      <p:sp>
        <p:nvSpPr>
          <p:cNvPr id="27" name="text 27"/>
          <p:cNvSpPr/>
          <p:nvPr/>
        </p:nvSpPr>
        <p:spPr>
          <a:xfrm>
            <a:off x="11112500" y="4270375"/>
            <a:ext cx="41656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1">
                <a:solidFill>
                  <a:srgbClr val="B44D32"/>
                </a:solidFill>
                <a:latin typeface="DejaVu Sans"/>
              </a:rPr>
              <a:t>distributions</a:t>
            </a:r>
          </a:p>
        </p:txBody>
      </p:sp>
      <p:sp>
        <p:nvSpPr>
          <p:cNvPr id="28" name="text 28"/>
          <p:cNvSpPr/>
          <p:nvPr/>
        </p:nvSpPr>
        <p:spPr>
          <a:xfrm>
            <a:off x="11112500" y="4794250"/>
            <a:ext cx="41656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Ask whether rare, large</a:t>
            </a:r>
          </a:p>
        </p:txBody>
      </p:sp>
      <p:sp>
        <p:nvSpPr>
          <p:cNvPr id="29" name="text 29"/>
          <p:cNvSpPr/>
          <p:nvPr/>
        </p:nvSpPr>
        <p:spPr>
          <a:xfrm>
            <a:off x="11112500" y="5175250"/>
            <a:ext cx="41656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losses change the story</a:t>
            </a:r>
          </a:p>
        </p:txBody>
      </p:sp>
      <p:sp>
        <p:nvSpPr>
          <p:cNvPr id="30" name="text 30"/>
          <p:cNvSpPr/>
          <p:nvPr/>
        </p:nvSpPr>
        <p:spPr>
          <a:xfrm>
            <a:off x="11112500" y="5556250"/>
            <a:ext cx="41656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told by averages.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16256000" cy="9144000"/>
          </a:xfrm>
          <a:prstGeom prst="rect">
            <a:avLst/>
          </a:prstGeom>
          <a:solidFill>
            <a:srgbClr val="FAFAF7"/>
          </a:solidFill>
          <a:ln>
            <a:noFill/>
          </a:ln>
        </p:spPr>
      </p:sp>
      <p:sp>
        <p:nvSpPr>
          <p:cNvPr id="3" name="rect 3"/>
          <p:cNvSpPr/>
          <p:nvPr/>
        </p:nvSpPr>
        <p:spPr>
          <a:xfrm>
            <a:off x="0" y="0"/>
            <a:ext cx="16256000" cy="88900"/>
          </a:xfrm>
          <a:prstGeom prst="rect">
            <a:avLst/>
          </a:prstGeom>
          <a:solidFill>
            <a:srgbClr val="007E80"/>
          </a:solidFill>
          <a:ln>
            <a:noFill/>
          </a:ln>
        </p:spPr>
      </p:sp>
      <p:sp>
        <p:nvSpPr>
          <p:cNvPr id="4" name="text 4"/>
          <p:cNvSpPr/>
          <p:nvPr/>
        </p:nvSpPr>
        <p:spPr>
          <a:xfrm>
            <a:off x="685800" y="355600"/>
            <a:ext cx="14884400" cy="2222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400" b="1">
                <a:solidFill>
                  <a:srgbClr val="007E80"/>
                </a:solidFill>
                <a:latin typeface="DejaVu Sans"/>
              </a:rPr>
              <a:t>The testbed</a:t>
            </a:r>
          </a:p>
        </p:txBody>
      </p:sp>
      <p:sp>
        <p:nvSpPr>
          <p:cNvPr id="5" name="text 5"/>
          <p:cNvSpPr/>
          <p:nvPr/>
        </p:nvSpPr>
        <p:spPr>
          <a:xfrm>
            <a:off x="685800" y="850900"/>
            <a:ext cx="14884400" cy="555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3500" b="1">
                <a:solidFill>
                  <a:srgbClr val="162F3B"/>
                </a:solidFill>
                <a:latin typeface="DejaVu Sans"/>
              </a:rPr>
              <a:t>What a cap is</a:t>
            </a:r>
          </a:p>
        </p:txBody>
      </p:sp>
      <p:sp>
        <p:nvSpPr>
          <p:cNvPr id="6" name="rect 6"/>
          <p:cNvSpPr/>
          <p:nvPr/>
        </p:nvSpPr>
        <p:spPr>
          <a:xfrm>
            <a:off x="685800" y="7797800"/>
            <a:ext cx="14884400" cy="762000"/>
          </a:xfrm>
          <a:prstGeom prst="rect">
            <a:avLst/>
          </a:prstGeom>
          <a:solidFill>
            <a:srgbClr val="EAF3F1"/>
          </a:solidFill>
          <a:ln>
            <a:noFill/>
          </a:ln>
        </p:spPr>
      </p:sp>
      <p:sp>
        <p:nvSpPr>
          <p:cNvPr id="7" name="text 7"/>
          <p:cNvSpPr/>
          <p:nvPr/>
        </p:nvSpPr>
        <p:spPr>
          <a:xfrm>
            <a:off x="914400" y="7937500"/>
            <a:ext cx="144272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162F3B"/>
                </a:solidFill>
                <a:latin typeface="DejaVu Sans"/>
              </a:rPr>
              <a:t>No correction reproduces the base. Frozen weights can still produce changed behavior.</a:t>
            </a:r>
          </a:p>
        </p:txBody>
      </p:sp>
      <p:sp>
        <p:nvSpPr>
          <p:cNvPr id="8" name="text 8"/>
          <p:cNvSpPr/>
          <p:nvPr/>
        </p:nvSpPr>
        <p:spPr>
          <a:xfrm>
            <a:off x="698500" y="8788400"/>
            <a:ext cx="13716000" cy="166688"/>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050" b="0">
                <a:solidFill>
                  <a:srgbClr val="52666F"/>
                </a:solidFill>
                <a:latin typeface="DejaVu Sans"/>
              </a:rPr>
              <a:t>Source: Stage-4 implementation and architecture audit.</a:t>
            </a:r>
          </a:p>
        </p:txBody>
      </p:sp>
      <p:sp>
        <p:nvSpPr>
          <p:cNvPr id="9" name="text 9"/>
          <p:cNvSpPr/>
          <p:nvPr/>
        </p:nvSpPr>
        <p:spPr>
          <a:xfrm>
            <a:off x="14541500" y="8788400"/>
            <a:ext cx="1079500" cy="190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200" b="0">
                <a:solidFill>
                  <a:srgbClr val="52666F"/>
                </a:solidFill>
                <a:latin typeface="DejaVu Sans"/>
              </a:rPr>
              <a:t>03 / 15</a:t>
            </a:r>
          </a:p>
        </p:txBody>
      </p:sp>
      <p:sp>
        <p:nvSpPr>
          <p:cNvPr id="10" name="text 10"/>
          <p:cNvSpPr/>
          <p:nvPr/>
        </p:nvSpPr>
        <p:spPr>
          <a:xfrm>
            <a:off x="711200" y="2070100"/>
            <a:ext cx="147320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GPT-2 small: 12 blocks, 124M parameters. Base weights stay fixed during the edit</a:t>
            </a:r>
          </a:p>
        </p:txBody>
      </p:sp>
      <p:sp>
        <p:nvSpPr>
          <p:cNvPr id="11" name="text 11"/>
          <p:cNvSpPr/>
          <p:nvPr/>
        </p:nvSpPr>
        <p:spPr>
          <a:xfrm>
            <a:off x="711200" y="2466975"/>
            <a:ext cx="147320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experiments.</a:t>
            </a:r>
          </a:p>
        </p:txBody>
      </p:sp>
      <p:sp>
        <p:nvSpPr>
          <p:cNvPr id="12" name="rect 12"/>
          <p:cNvSpPr/>
          <p:nvPr/>
        </p:nvSpPr>
        <p:spPr>
          <a:xfrm>
            <a:off x="711200" y="3403600"/>
            <a:ext cx="6604000" cy="2692400"/>
          </a:xfrm>
          <a:prstGeom prst="rect">
            <a:avLst/>
          </a:prstGeom>
          <a:solidFill>
            <a:srgbClr val="FFFFFF"/>
          </a:solidFill>
          <a:ln>
            <a:noFill/>
          </a:ln>
        </p:spPr>
      </p:sp>
      <p:sp>
        <p:nvSpPr>
          <p:cNvPr id="13" name="rect 13"/>
          <p:cNvSpPr/>
          <p:nvPr/>
        </p:nvSpPr>
        <p:spPr>
          <a:xfrm>
            <a:off x="711200" y="3403600"/>
            <a:ext cx="63500" cy="2692400"/>
          </a:xfrm>
          <a:prstGeom prst="rect">
            <a:avLst/>
          </a:prstGeom>
          <a:solidFill>
            <a:srgbClr val="007E80"/>
          </a:solidFill>
          <a:ln>
            <a:noFill/>
          </a:ln>
        </p:spPr>
      </p:sp>
      <p:sp>
        <p:nvSpPr>
          <p:cNvPr id="14" name="text 14"/>
          <p:cNvSpPr/>
          <p:nvPr/>
        </p:nvSpPr>
        <p:spPr>
          <a:xfrm>
            <a:off x="1003300" y="3657600"/>
            <a:ext cx="60198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1">
                <a:solidFill>
                  <a:srgbClr val="007E80"/>
                </a:solidFill>
                <a:latin typeface="DejaVu Sans"/>
              </a:rPr>
              <a:t>Frozen transformer</a:t>
            </a:r>
          </a:p>
        </p:txBody>
      </p:sp>
      <p:sp>
        <p:nvSpPr>
          <p:cNvPr id="15" name="text 15"/>
          <p:cNvSpPr/>
          <p:nvPr/>
        </p:nvSpPr>
        <p:spPr>
          <a:xfrm>
            <a:off x="1003300" y="4181475"/>
            <a:ext cx="60198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Prompt → blocks 1–12 → next-token</a:t>
            </a:r>
          </a:p>
        </p:txBody>
      </p:sp>
      <p:sp>
        <p:nvSpPr>
          <p:cNvPr id="16" name="text 16"/>
          <p:cNvSpPr/>
          <p:nvPr/>
        </p:nvSpPr>
        <p:spPr>
          <a:xfrm>
            <a:off x="1003300" y="4562475"/>
            <a:ext cx="60198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probabilities</a:t>
            </a:r>
          </a:p>
        </p:txBody>
      </p:sp>
      <p:sp>
        <p:nvSpPr>
          <p:cNvPr id="17" name="rect 17"/>
          <p:cNvSpPr/>
          <p:nvPr/>
        </p:nvSpPr>
        <p:spPr>
          <a:xfrm>
            <a:off x="8940800" y="3403600"/>
            <a:ext cx="6604000" cy="2692400"/>
          </a:xfrm>
          <a:prstGeom prst="rect">
            <a:avLst/>
          </a:prstGeom>
          <a:solidFill>
            <a:srgbClr val="FFFFFF"/>
          </a:solidFill>
          <a:ln>
            <a:noFill/>
          </a:ln>
        </p:spPr>
      </p:sp>
      <p:sp>
        <p:nvSpPr>
          <p:cNvPr id="18" name="rect 18"/>
          <p:cNvSpPr/>
          <p:nvPr/>
        </p:nvSpPr>
        <p:spPr>
          <a:xfrm>
            <a:off x="8940800" y="3403600"/>
            <a:ext cx="63500" cy="2692400"/>
          </a:xfrm>
          <a:prstGeom prst="rect">
            <a:avLst/>
          </a:prstGeom>
          <a:solidFill>
            <a:srgbClr val="675399"/>
          </a:solidFill>
          <a:ln>
            <a:noFill/>
          </a:ln>
        </p:spPr>
      </p:sp>
      <p:sp>
        <p:nvSpPr>
          <p:cNvPr id="19" name="text 19"/>
          <p:cNvSpPr/>
          <p:nvPr/>
        </p:nvSpPr>
        <p:spPr>
          <a:xfrm>
            <a:off x="9232900" y="3657600"/>
            <a:ext cx="60198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1">
                <a:solidFill>
                  <a:srgbClr val="675399"/>
                </a:solidFill>
                <a:latin typeface="DejaVu Sans"/>
              </a:rPr>
              <a:t>Cap and memory</a:t>
            </a:r>
          </a:p>
        </p:txBody>
      </p:sp>
      <p:sp>
        <p:nvSpPr>
          <p:cNvPr id="20" name="text 20"/>
          <p:cNvSpPr/>
          <p:nvPr/>
        </p:nvSpPr>
        <p:spPr>
          <a:xfrm>
            <a:off x="9232900" y="4181475"/>
            <a:ext cx="60198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Read activations → retrieve a</a:t>
            </a:r>
          </a:p>
        </p:txBody>
      </p:sp>
      <p:sp>
        <p:nvSpPr>
          <p:cNvPr id="21" name="text 21"/>
          <p:cNvSpPr/>
          <p:nvPr/>
        </p:nvSpPr>
        <p:spPr>
          <a:xfrm>
            <a:off x="9232900" y="4562475"/>
            <a:ext cx="60198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correction or abstain → add bounded</a:t>
            </a:r>
          </a:p>
        </p:txBody>
      </p:sp>
      <p:sp>
        <p:nvSpPr>
          <p:cNvPr id="22" name="text 22"/>
          <p:cNvSpPr/>
          <p:nvPr/>
        </p:nvSpPr>
        <p:spPr>
          <a:xfrm>
            <a:off x="9232900" y="4943475"/>
            <a:ext cx="60198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write vectors</a:t>
            </a:r>
          </a:p>
        </p:txBody>
      </p:sp>
      <p:sp>
        <p:nvSpPr>
          <p:cNvPr id="23" name="path 23"/>
          <p:cNvSpPr/>
          <p:nvPr/>
        </p:nvSpPr>
        <p:spPr>
          <a:xfrm>
            <a:off x="7569200" y="4318000"/>
            <a:ext cx="1104900" cy="127"/>
          </a:xfrm>
          <a:custGeom>
            <a:avLst/>
            <a:gdLst/>
            <a:ahLst/>
            <a:cxnLst/>
            <a:rect l="0" t="0" r="r" b="b"/>
            <a:pathLst>
              <a:path w="1104900" h="127" fill="none">
                <a:moveTo>
                  <a:pt x="0" y="0"/>
                </a:moveTo>
                <a:lnTo>
                  <a:pt x="1104900" y="0"/>
                </a:lnTo>
              </a:path>
            </a:pathLst>
          </a:custGeom>
          <a:noFill/>
          <a:ln w="30480">
            <a:solidFill>
              <a:srgbClr val="007E80"/>
            </a:solidFill>
            <a:prstDash val="solid"/>
          </a:ln>
        </p:spPr>
      </p:sp>
      <p:sp>
        <p:nvSpPr>
          <p:cNvPr id="24" name="path 24"/>
          <p:cNvSpPr/>
          <p:nvPr/>
        </p:nvSpPr>
        <p:spPr>
          <a:xfrm>
            <a:off x="8548308" y="4318000"/>
            <a:ext cx="125792" cy="60765"/>
          </a:xfrm>
          <a:custGeom>
            <a:avLst/>
            <a:gdLst/>
            <a:ahLst/>
            <a:cxnLst/>
            <a:rect l="0" t="0" r="r" b="b"/>
            <a:pathLst>
              <a:path w="125792" h="60765" fill="none">
                <a:moveTo>
                  <a:pt x="0" y="60765"/>
                </a:moveTo>
                <a:lnTo>
                  <a:pt x="125792" y="0"/>
                </a:lnTo>
              </a:path>
            </a:pathLst>
          </a:custGeom>
          <a:noFill/>
          <a:ln w="30480">
            <a:solidFill>
              <a:srgbClr val="007E80"/>
            </a:solidFill>
            <a:prstDash val="solid"/>
          </a:ln>
        </p:spPr>
      </p:sp>
      <p:sp>
        <p:nvSpPr>
          <p:cNvPr id="25" name="path 25"/>
          <p:cNvSpPr/>
          <p:nvPr/>
        </p:nvSpPr>
        <p:spPr>
          <a:xfrm>
            <a:off x="8548308" y="4257235"/>
            <a:ext cx="125792" cy="60765"/>
          </a:xfrm>
          <a:custGeom>
            <a:avLst/>
            <a:gdLst/>
            <a:ahLst/>
            <a:cxnLst/>
            <a:rect l="0" t="0" r="r" b="b"/>
            <a:pathLst>
              <a:path w="125792" h="60765" fill="none">
                <a:moveTo>
                  <a:pt x="0" y="0"/>
                </a:moveTo>
                <a:lnTo>
                  <a:pt x="125792" y="60765"/>
                </a:lnTo>
              </a:path>
            </a:pathLst>
          </a:custGeom>
          <a:noFill/>
          <a:ln w="30480">
            <a:solidFill>
              <a:srgbClr val="007E80"/>
            </a:solidFill>
            <a:prstDash val="solid"/>
          </a:ln>
        </p:spPr>
      </p:sp>
      <p:sp>
        <p:nvSpPr>
          <p:cNvPr id="26" name="path 26"/>
          <p:cNvSpPr/>
          <p:nvPr/>
        </p:nvSpPr>
        <p:spPr>
          <a:xfrm>
            <a:off x="7569200" y="5181600"/>
            <a:ext cx="1104900" cy="127"/>
          </a:xfrm>
          <a:custGeom>
            <a:avLst/>
            <a:gdLst/>
            <a:ahLst/>
            <a:cxnLst/>
            <a:rect l="0" t="0" r="r" b="b"/>
            <a:pathLst>
              <a:path w="1104900" h="127" fill="none">
                <a:moveTo>
                  <a:pt x="1104900" y="0"/>
                </a:moveTo>
                <a:lnTo>
                  <a:pt x="0" y="0"/>
                </a:lnTo>
              </a:path>
            </a:pathLst>
          </a:custGeom>
          <a:noFill/>
          <a:ln w="30480">
            <a:solidFill>
              <a:srgbClr val="675399"/>
            </a:solidFill>
            <a:prstDash val="solid"/>
          </a:ln>
        </p:spPr>
      </p:sp>
      <p:sp>
        <p:nvSpPr>
          <p:cNvPr id="27" name="path 27"/>
          <p:cNvSpPr/>
          <p:nvPr/>
        </p:nvSpPr>
        <p:spPr>
          <a:xfrm>
            <a:off x="7569200" y="5120835"/>
            <a:ext cx="125792" cy="60765"/>
          </a:xfrm>
          <a:custGeom>
            <a:avLst/>
            <a:gdLst/>
            <a:ahLst/>
            <a:cxnLst/>
            <a:rect l="0" t="0" r="r" b="b"/>
            <a:pathLst>
              <a:path w="125792" h="60765" fill="none">
                <a:moveTo>
                  <a:pt x="125792" y="0"/>
                </a:moveTo>
                <a:lnTo>
                  <a:pt x="0" y="60765"/>
                </a:lnTo>
              </a:path>
            </a:pathLst>
          </a:custGeom>
          <a:noFill/>
          <a:ln w="30480">
            <a:solidFill>
              <a:srgbClr val="675399"/>
            </a:solidFill>
            <a:prstDash val="solid"/>
          </a:ln>
        </p:spPr>
      </p:sp>
      <p:sp>
        <p:nvSpPr>
          <p:cNvPr id="28" name="path 28"/>
          <p:cNvSpPr/>
          <p:nvPr/>
        </p:nvSpPr>
        <p:spPr>
          <a:xfrm>
            <a:off x="7569200" y="5181600"/>
            <a:ext cx="125792" cy="60765"/>
          </a:xfrm>
          <a:custGeom>
            <a:avLst/>
            <a:gdLst/>
            <a:ahLst/>
            <a:cxnLst/>
            <a:rect l="0" t="0" r="r" b="b"/>
            <a:pathLst>
              <a:path w="125792" h="60765" fill="none">
                <a:moveTo>
                  <a:pt x="125792" y="60765"/>
                </a:moveTo>
                <a:lnTo>
                  <a:pt x="0" y="0"/>
                </a:lnTo>
              </a:path>
            </a:pathLst>
          </a:custGeom>
          <a:noFill/>
          <a:ln w="30480">
            <a:solidFill>
              <a:srgbClr val="675399"/>
            </a:solidFill>
            <a:prstDash val="solid"/>
          </a:ln>
        </p:spPr>
      </p:sp>
      <p:sp>
        <p:nvSpPr>
          <p:cNvPr id="29" name="text 29"/>
          <p:cNvSpPr/>
          <p:nvPr/>
        </p:nvSpPr>
        <p:spPr>
          <a:xfrm>
            <a:off x="749300" y="6489700"/>
            <a:ext cx="14732000" cy="3651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300" b="0">
                <a:solidFill>
                  <a:srgbClr val="162F3B"/>
                </a:solidFill>
                <a:latin typeface="DejaVu Sans"/>
              </a:rPr>
              <a:t>Read/write sites: after blocks 4, 8 and 12.</a:t>
            </a:r>
          </a:p>
        </p:txBody>
      </p:sp>
      <p:sp>
        <p:nvSpPr>
          <p:cNvPr id="30" name="text 30"/>
          <p:cNvSpPr/>
          <p:nvPr/>
        </p:nvSpPr>
        <p:spPr>
          <a:xfrm>
            <a:off x="749300" y="6956425"/>
            <a:ext cx="14732000" cy="3651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300" b="0">
                <a:solidFill>
                  <a:srgbClr val="162F3B"/>
                </a:solidFill>
                <a:latin typeface="DejaVu Sans"/>
              </a:rPr>
              <a:t>One local GPU; transfer to larger models is untested.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16256000" cy="9144000"/>
          </a:xfrm>
          <a:prstGeom prst="rect">
            <a:avLst/>
          </a:prstGeom>
          <a:solidFill>
            <a:srgbClr val="FAFAF7"/>
          </a:solidFill>
          <a:ln>
            <a:noFill/>
          </a:ln>
        </p:spPr>
      </p:sp>
      <p:sp>
        <p:nvSpPr>
          <p:cNvPr id="3" name="rect 3"/>
          <p:cNvSpPr/>
          <p:nvPr/>
        </p:nvSpPr>
        <p:spPr>
          <a:xfrm>
            <a:off x="0" y="0"/>
            <a:ext cx="16256000" cy="88900"/>
          </a:xfrm>
          <a:prstGeom prst="rect">
            <a:avLst/>
          </a:prstGeom>
          <a:solidFill>
            <a:srgbClr val="007E80"/>
          </a:solidFill>
          <a:ln>
            <a:noFill/>
          </a:ln>
        </p:spPr>
      </p:sp>
      <p:sp>
        <p:nvSpPr>
          <p:cNvPr id="4" name="text 4"/>
          <p:cNvSpPr/>
          <p:nvPr/>
        </p:nvSpPr>
        <p:spPr>
          <a:xfrm>
            <a:off x="685800" y="355600"/>
            <a:ext cx="14884400" cy="2222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400" b="1">
                <a:solidFill>
                  <a:srgbClr val="007E80"/>
                </a:solidFill>
                <a:latin typeface="DejaVu Sans"/>
              </a:rPr>
              <a:t>Separate retrieval from stored knowledge</a:t>
            </a:r>
          </a:p>
        </p:txBody>
      </p:sp>
      <p:sp>
        <p:nvSpPr>
          <p:cNvPr id="5" name="text 5"/>
          <p:cNvSpPr/>
          <p:nvPr/>
        </p:nvSpPr>
        <p:spPr>
          <a:xfrm>
            <a:off x="685800" y="850900"/>
            <a:ext cx="14884400" cy="555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3500" b="1">
                <a:solidFill>
                  <a:srgbClr val="162F3B"/>
                </a:solidFill>
                <a:latin typeface="DejaVu Sans"/>
              </a:rPr>
              <a:t>Which reader finds the correction?</a:t>
            </a:r>
          </a:p>
        </p:txBody>
      </p:sp>
      <p:sp>
        <p:nvSpPr>
          <p:cNvPr id="6" name="rect 6"/>
          <p:cNvSpPr/>
          <p:nvPr/>
        </p:nvSpPr>
        <p:spPr>
          <a:xfrm>
            <a:off x="685800" y="7797800"/>
            <a:ext cx="14884400" cy="762000"/>
          </a:xfrm>
          <a:prstGeom prst="rect">
            <a:avLst/>
          </a:prstGeom>
          <a:solidFill>
            <a:srgbClr val="EAF3F1"/>
          </a:solidFill>
          <a:ln>
            <a:noFill/>
          </a:ln>
        </p:spPr>
      </p:sp>
      <p:sp>
        <p:nvSpPr>
          <p:cNvPr id="7" name="text 7"/>
          <p:cNvSpPr/>
          <p:nvPr/>
        </p:nvSpPr>
        <p:spPr>
          <a:xfrm>
            <a:off x="914400" y="7937500"/>
            <a:ext cx="144272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162F3B"/>
                </a:solidFill>
                <a:latin typeface="DejaVu Sans"/>
              </a:rPr>
              <a:t>Reusable reader weights stay fixed; the correction memory continues to learn.</a:t>
            </a:r>
          </a:p>
        </p:txBody>
      </p:sp>
      <p:sp>
        <p:nvSpPr>
          <p:cNvPr id="8" name="text 8"/>
          <p:cNvSpPr/>
          <p:nvPr/>
        </p:nvSpPr>
        <p:spPr>
          <a:xfrm>
            <a:off x="698500" y="8788400"/>
            <a:ext cx="13716000" cy="166688"/>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050" b="0">
                <a:solidFill>
                  <a:srgbClr val="52666F"/>
                </a:solidFill>
                <a:latin typeface="DejaVu Sans"/>
              </a:rPr>
              <a:t>Source: Stage-4 condition definitions; architecture/comparator audit.</a:t>
            </a:r>
          </a:p>
        </p:txBody>
      </p:sp>
      <p:sp>
        <p:nvSpPr>
          <p:cNvPr id="9" name="text 9"/>
          <p:cNvSpPr/>
          <p:nvPr/>
        </p:nvSpPr>
        <p:spPr>
          <a:xfrm>
            <a:off x="14541500" y="8788400"/>
            <a:ext cx="1079500" cy="190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200" b="0">
                <a:solidFill>
                  <a:srgbClr val="52666F"/>
                </a:solidFill>
                <a:latin typeface="DejaVu Sans"/>
              </a:rPr>
              <a:t>04 / 15</a:t>
            </a:r>
          </a:p>
        </p:txBody>
      </p:sp>
      <p:sp>
        <p:nvSpPr>
          <p:cNvPr id="10" name="rect 10"/>
          <p:cNvSpPr/>
          <p:nvPr/>
        </p:nvSpPr>
        <p:spPr>
          <a:xfrm>
            <a:off x="711200" y="2273300"/>
            <a:ext cx="14833600" cy="635000"/>
          </a:xfrm>
          <a:prstGeom prst="rect">
            <a:avLst/>
          </a:prstGeom>
          <a:solidFill>
            <a:srgbClr val="162F3B"/>
          </a:solidFill>
          <a:ln>
            <a:noFill/>
          </a:ln>
        </p:spPr>
      </p:sp>
      <p:sp>
        <p:nvSpPr>
          <p:cNvPr id="11" name="text 11"/>
          <p:cNvSpPr/>
          <p:nvPr/>
        </p:nvSpPr>
        <p:spPr>
          <a:xfrm>
            <a:off x="876300" y="2424112"/>
            <a:ext cx="30988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FFFFFF"/>
                </a:solidFill>
                <a:latin typeface="DejaVu Sans"/>
              </a:rPr>
              <a:t>Condition</a:t>
            </a:r>
          </a:p>
        </p:txBody>
      </p:sp>
      <p:sp>
        <p:nvSpPr>
          <p:cNvPr id="12" name="text 12"/>
          <p:cNvSpPr/>
          <p:nvPr/>
        </p:nvSpPr>
        <p:spPr>
          <a:xfrm>
            <a:off x="4305300" y="2424112"/>
            <a:ext cx="110744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FFFFFF"/>
                </a:solidFill>
                <a:latin typeface="DejaVu Sans"/>
              </a:rPr>
              <a:t>Retrieval rule</a:t>
            </a:r>
          </a:p>
        </p:txBody>
      </p:sp>
      <p:sp>
        <p:nvSpPr>
          <p:cNvPr id="13" name="rect 13"/>
          <p:cNvSpPr/>
          <p:nvPr/>
        </p:nvSpPr>
        <p:spPr>
          <a:xfrm>
            <a:off x="711200" y="2908300"/>
            <a:ext cx="14833600" cy="1155700"/>
          </a:xfrm>
          <a:prstGeom prst="rect">
            <a:avLst/>
          </a:prstGeom>
          <a:solidFill>
            <a:srgbClr val="FFFFFF"/>
          </a:solidFill>
          <a:ln>
            <a:noFill/>
          </a:ln>
        </p:spPr>
      </p:sp>
      <p:sp>
        <p:nvSpPr>
          <p:cNvPr id="14" name="path 14"/>
          <p:cNvSpPr/>
          <p:nvPr/>
        </p:nvSpPr>
        <p:spPr>
          <a:xfrm>
            <a:off x="711200" y="4064000"/>
            <a:ext cx="14833600" cy="127"/>
          </a:xfrm>
          <a:custGeom>
            <a:avLst/>
            <a:gdLst/>
            <a:ahLst/>
            <a:cxnLst/>
            <a:rect l="0" t="0" r="r" b="b"/>
            <a:pathLst>
              <a:path w="14833600" h="127" fill="none">
                <a:moveTo>
                  <a:pt x="0" y="0"/>
                </a:moveTo>
                <a:lnTo>
                  <a:pt x="14833600" y="0"/>
                </a:lnTo>
              </a:path>
            </a:pathLst>
          </a:custGeom>
          <a:noFill/>
          <a:ln w="8890">
            <a:solidFill>
              <a:srgbClr val="D8E1E2"/>
            </a:solidFill>
            <a:prstDash val="solid"/>
          </a:ln>
        </p:spPr>
      </p:sp>
      <p:sp>
        <p:nvSpPr>
          <p:cNvPr id="15" name="text 15"/>
          <p:cNvSpPr/>
          <p:nvPr/>
        </p:nvSpPr>
        <p:spPr>
          <a:xfrm>
            <a:off x="876300" y="3287712"/>
            <a:ext cx="30988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Stable v0</a:t>
            </a:r>
          </a:p>
        </p:txBody>
      </p:sp>
      <p:sp>
        <p:nvSpPr>
          <p:cNvPr id="16" name="text 16"/>
          <p:cNvSpPr/>
          <p:nvPr/>
        </p:nvSpPr>
        <p:spPr>
          <a:xfrm>
            <a:off x="4305300" y="3287712"/>
            <a:ext cx="110744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Fixed activation-distance thresholds select stored corrections.</a:t>
            </a:r>
          </a:p>
        </p:txBody>
      </p:sp>
      <p:sp>
        <p:nvSpPr>
          <p:cNvPr id="17" name="rect 17"/>
          <p:cNvSpPr/>
          <p:nvPr/>
        </p:nvSpPr>
        <p:spPr>
          <a:xfrm>
            <a:off x="711200" y="4064000"/>
            <a:ext cx="14833600" cy="1155700"/>
          </a:xfrm>
          <a:prstGeom prst="rect">
            <a:avLst/>
          </a:prstGeom>
          <a:solidFill>
            <a:srgbClr val="EEF3F3"/>
          </a:solidFill>
          <a:ln>
            <a:noFill/>
          </a:ln>
        </p:spPr>
      </p:sp>
      <p:sp>
        <p:nvSpPr>
          <p:cNvPr id="18" name="path 18"/>
          <p:cNvSpPr/>
          <p:nvPr/>
        </p:nvSpPr>
        <p:spPr>
          <a:xfrm>
            <a:off x="711200" y="5219700"/>
            <a:ext cx="14833600" cy="127"/>
          </a:xfrm>
          <a:custGeom>
            <a:avLst/>
            <a:gdLst/>
            <a:ahLst/>
            <a:cxnLst/>
            <a:rect l="0" t="0" r="r" b="b"/>
            <a:pathLst>
              <a:path w="14833600" h="127" fill="none">
                <a:moveTo>
                  <a:pt x="0" y="0"/>
                </a:moveTo>
                <a:lnTo>
                  <a:pt x="14833600" y="0"/>
                </a:lnTo>
              </a:path>
            </a:pathLst>
          </a:custGeom>
          <a:noFill/>
          <a:ln w="8890">
            <a:solidFill>
              <a:srgbClr val="D8E1E2"/>
            </a:solidFill>
            <a:prstDash val="solid"/>
          </a:ln>
        </p:spPr>
      </p:sp>
      <p:sp>
        <p:nvSpPr>
          <p:cNvPr id="19" name="text 19"/>
          <p:cNvSpPr/>
          <p:nvPr/>
        </p:nvSpPr>
        <p:spPr>
          <a:xfrm>
            <a:off x="876300" y="4443412"/>
            <a:ext cx="30988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Learned reader</a:t>
            </a:r>
          </a:p>
        </p:txBody>
      </p:sp>
      <p:sp>
        <p:nvSpPr>
          <p:cNvPr id="20" name="text 20"/>
          <p:cNvSpPr/>
          <p:nvPr/>
        </p:nvSpPr>
        <p:spPr>
          <a:xfrm>
            <a:off x="4305300" y="4244975"/>
            <a:ext cx="110744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A trained reader selects a relevant correction or chooses no</a:t>
            </a:r>
          </a:p>
        </p:txBody>
      </p:sp>
      <p:sp>
        <p:nvSpPr>
          <p:cNvPr id="21" name="text 21"/>
          <p:cNvSpPr/>
          <p:nvPr/>
        </p:nvSpPr>
        <p:spPr>
          <a:xfrm>
            <a:off x="4305300" y="4641850"/>
            <a:ext cx="110744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correction.</a:t>
            </a:r>
          </a:p>
        </p:txBody>
      </p:sp>
      <p:sp>
        <p:nvSpPr>
          <p:cNvPr id="22" name="rect 22"/>
          <p:cNvSpPr/>
          <p:nvPr/>
        </p:nvSpPr>
        <p:spPr>
          <a:xfrm>
            <a:off x="711200" y="5219700"/>
            <a:ext cx="14833600" cy="1155700"/>
          </a:xfrm>
          <a:prstGeom prst="rect">
            <a:avLst/>
          </a:prstGeom>
          <a:solidFill>
            <a:srgbClr val="FFFFFF"/>
          </a:solidFill>
          <a:ln>
            <a:noFill/>
          </a:ln>
        </p:spPr>
      </p:sp>
      <p:sp>
        <p:nvSpPr>
          <p:cNvPr id="23" name="path 23"/>
          <p:cNvSpPr/>
          <p:nvPr/>
        </p:nvSpPr>
        <p:spPr>
          <a:xfrm>
            <a:off x="711200" y="6375400"/>
            <a:ext cx="14833600" cy="127"/>
          </a:xfrm>
          <a:custGeom>
            <a:avLst/>
            <a:gdLst/>
            <a:ahLst/>
            <a:cxnLst/>
            <a:rect l="0" t="0" r="r" b="b"/>
            <a:pathLst>
              <a:path w="14833600" h="127" fill="none">
                <a:moveTo>
                  <a:pt x="0" y="0"/>
                </a:moveTo>
                <a:lnTo>
                  <a:pt x="14833600" y="0"/>
                </a:lnTo>
              </a:path>
            </a:pathLst>
          </a:custGeom>
          <a:noFill/>
          <a:ln w="8890">
            <a:solidFill>
              <a:srgbClr val="D8E1E2"/>
            </a:solidFill>
            <a:prstDash val="solid"/>
          </a:ln>
        </p:spPr>
      </p:sp>
      <p:sp>
        <p:nvSpPr>
          <p:cNvPr id="24" name="text 24"/>
          <p:cNvSpPr/>
          <p:nvPr/>
        </p:nvSpPr>
        <p:spPr>
          <a:xfrm>
            <a:off x="876300" y="5400675"/>
            <a:ext cx="30988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Random-reader</a:t>
            </a:r>
          </a:p>
        </p:txBody>
      </p:sp>
      <p:sp>
        <p:nvSpPr>
          <p:cNvPr id="25" name="text 25"/>
          <p:cNvSpPr/>
          <p:nvPr/>
        </p:nvSpPr>
        <p:spPr>
          <a:xfrm>
            <a:off x="876300" y="5797550"/>
            <a:ext cx="30988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control</a:t>
            </a:r>
          </a:p>
        </p:txBody>
      </p:sp>
      <p:sp>
        <p:nvSpPr>
          <p:cNvPr id="26" name="text 26"/>
          <p:cNvSpPr/>
          <p:nvPr/>
        </p:nvSpPr>
        <p:spPr>
          <a:xfrm>
            <a:off x="4305300" y="5599112"/>
            <a:ext cx="110744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Untrained random geometry, with its specified gate configuration.</a:t>
            </a:r>
          </a:p>
        </p:txBody>
      </p:sp>
      <p:sp>
        <p:nvSpPr>
          <p:cNvPr id="27" name="text 27"/>
          <p:cNvSpPr/>
          <p:nvPr/>
        </p:nvSpPr>
        <p:spPr>
          <a:xfrm>
            <a:off x="749300" y="6705600"/>
            <a:ext cx="14732000" cy="3651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300" b="0">
                <a:solidFill>
                  <a:srgbClr val="162F3B"/>
                </a:solidFill>
                <a:latin typeface="DejaVu Sans"/>
              </a:rPr>
              <a:t>The main learned reader was trained by backpropagation before these edit streams.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16256000" cy="9144000"/>
          </a:xfrm>
          <a:prstGeom prst="rect">
            <a:avLst/>
          </a:prstGeom>
          <a:solidFill>
            <a:srgbClr val="FAFAF7"/>
          </a:solidFill>
          <a:ln>
            <a:noFill/>
          </a:ln>
        </p:spPr>
      </p:sp>
      <p:sp>
        <p:nvSpPr>
          <p:cNvPr id="3" name="rect 3"/>
          <p:cNvSpPr/>
          <p:nvPr/>
        </p:nvSpPr>
        <p:spPr>
          <a:xfrm>
            <a:off x="0" y="0"/>
            <a:ext cx="16256000" cy="88900"/>
          </a:xfrm>
          <a:prstGeom prst="rect">
            <a:avLst/>
          </a:prstGeom>
          <a:solidFill>
            <a:srgbClr val="007E80"/>
          </a:solidFill>
          <a:ln>
            <a:noFill/>
          </a:ln>
        </p:spPr>
      </p:sp>
      <p:sp>
        <p:nvSpPr>
          <p:cNvPr id="4" name="text 4"/>
          <p:cNvSpPr/>
          <p:nvPr/>
        </p:nvSpPr>
        <p:spPr>
          <a:xfrm>
            <a:off x="685800" y="355600"/>
            <a:ext cx="14884400" cy="2222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400" b="1">
                <a:solidFill>
                  <a:srgbClr val="007E80"/>
                </a:solidFill>
                <a:latin typeface="DejaVu Sans"/>
              </a:rPr>
              <a:t>What the experiment measures</a:t>
            </a:r>
          </a:p>
        </p:txBody>
      </p:sp>
      <p:sp>
        <p:nvSpPr>
          <p:cNvPr id="5" name="text 5"/>
          <p:cNvSpPr/>
          <p:nvPr/>
        </p:nvSpPr>
        <p:spPr>
          <a:xfrm>
            <a:off x="685800" y="850900"/>
            <a:ext cx="14884400" cy="555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3500" b="1">
                <a:solidFill>
                  <a:srgbClr val="162F3B"/>
                </a:solidFill>
                <a:latin typeface="DejaVu Sans"/>
              </a:rPr>
              <a:t>Teach, test, then retest after more learning</a:t>
            </a:r>
          </a:p>
        </p:txBody>
      </p:sp>
      <p:sp>
        <p:nvSpPr>
          <p:cNvPr id="6" name="rect 6"/>
          <p:cNvSpPr/>
          <p:nvPr/>
        </p:nvSpPr>
        <p:spPr>
          <a:xfrm>
            <a:off x="685800" y="7797800"/>
            <a:ext cx="14884400" cy="762000"/>
          </a:xfrm>
          <a:prstGeom prst="rect">
            <a:avLst/>
          </a:prstGeom>
          <a:solidFill>
            <a:srgbClr val="EAF3F1"/>
          </a:solidFill>
          <a:ln>
            <a:noFill/>
          </a:ln>
        </p:spPr>
      </p:sp>
      <p:sp>
        <p:nvSpPr>
          <p:cNvPr id="7" name="text 7"/>
          <p:cNvSpPr/>
          <p:nvPr/>
        </p:nvSpPr>
        <p:spPr>
          <a:xfrm>
            <a:off x="914400" y="7937500"/>
            <a:ext cx="144272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162F3B"/>
                </a:solidFill>
                <a:latin typeface="DejaVu Sans"/>
              </a:rPr>
              <a:t>Original-prompt retention and paraphrase retention answer different questions.</a:t>
            </a:r>
          </a:p>
        </p:txBody>
      </p:sp>
      <p:sp>
        <p:nvSpPr>
          <p:cNvPr id="8" name="text 8"/>
          <p:cNvSpPr/>
          <p:nvPr/>
        </p:nvSpPr>
        <p:spPr>
          <a:xfrm>
            <a:off x="698500" y="8788400"/>
            <a:ext cx="13716000" cy="166688"/>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050" b="0">
                <a:solidFill>
                  <a:srgbClr val="52666F"/>
                </a:solidFill>
                <a:latin typeface="DejaVu Sans"/>
              </a:rPr>
              <a:t>Source: Main-study protocol and triplet report.</a:t>
            </a:r>
          </a:p>
        </p:txBody>
      </p:sp>
      <p:sp>
        <p:nvSpPr>
          <p:cNvPr id="9" name="text 9"/>
          <p:cNvSpPr/>
          <p:nvPr/>
        </p:nvSpPr>
        <p:spPr>
          <a:xfrm>
            <a:off x="14541500" y="8788400"/>
            <a:ext cx="1079500" cy="190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200" b="0">
                <a:solidFill>
                  <a:srgbClr val="52666F"/>
                </a:solidFill>
                <a:latin typeface="DejaVu Sans"/>
              </a:rPr>
              <a:t>05 / 15</a:t>
            </a:r>
          </a:p>
        </p:txBody>
      </p:sp>
      <p:sp>
        <p:nvSpPr>
          <p:cNvPr id="10" name="text 10"/>
          <p:cNvSpPr/>
          <p:nvPr/>
        </p:nvSpPr>
        <p:spPr>
          <a:xfrm>
            <a:off x="711200" y="2082800"/>
            <a:ext cx="14833600" cy="4127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600" b="0">
                <a:solidFill>
                  <a:srgbClr val="162F3B"/>
                </a:solidFill>
                <a:latin typeface="DejaVu Sans"/>
              </a:rPr>
              <a:t>Teach a fact → test it now → teach more facts → retest earlier facts and paraphrases.</a:t>
            </a:r>
          </a:p>
        </p:txBody>
      </p:sp>
      <p:sp>
        <p:nvSpPr>
          <p:cNvPr id="11" name="rect 11"/>
          <p:cNvSpPr/>
          <p:nvPr/>
        </p:nvSpPr>
        <p:spPr>
          <a:xfrm>
            <a:off x="711200" y="3467100"/>
            <a:ext cx="6299200" cy="812800"/>
          </a:xfrm>
          <a:prstGeom prst="rect">
            <a:avLst/>
          </a:prstGeom>
          <a:solidFill>
            <a:srgbClr val="162F3B"/>
          </a:solidFill>
          <a:ln>
            <a:noFill/>
          </a:ln>
        </p:spPr>
      </p:sp>
      <p:sp>
        <p:nvSpPr>
          <p:cNvPr id="12" name="text 12"/>
          <p:cNvSpPr/>
          <p:nvPr/>
        </p:nvSpPr>
        <p:spPr>
          <a:xfrm>
            <a:off x="876300" y="3714750"/>
            <a:ext cx="3543300" cy="317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000" b="1">
                <a:solidFill>
                  <a:srgbClr val="FFFFFF"/>
                </a:solidFill>
                <a:latin typeface="DejaVu Sans"/>
              </a:rPr>
              <a:t>Main-study dataset</a:t>
            </a:r>
          </a:p>
        </p:txBody>
      </p:sp>
      <p:sp>
        <p:nvSpPr>
          <p:cNvPr id="13" name="text 13"/>
          <p:cNvSpPr/>
          <p:nvPr/>
        </p:nvSpPr>
        <p:spPr>
          <a:xfrm>
            <a:off x="4749800" y="3556000"/>
            <a:ext cx="2095500" cy="317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000" b="1">
                <a:solidFill>
                  <a:srgbClr val="FFFFFF"/>
                </a:solidFill>
                <a:latin typeface="DejaVu Sans"/>
              </a:rPr>
              <a:t>Edits per</a:t>
            </a:r>
          </a:p>
        </p:txBody>
      </p:sp>
      <p:sp>
        <p:nvSpPr>
          <p:cNvPr id="14" name="text 14"/>
          <p:cNvSpPr/>
          <p:nvPr/>
        </p:nvSpPr>
        <p:spPr>
          <a:xfrm>
            <a:off x="4749800" y="3873500"/>
            <a:ext cx="2095500" cy="317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000" b="1">
                <a:solidFill>
                  <a:srgbClr val="FFFFFF"/>
                </a:solidFill>
                <a:latin typeface="DejaVu Sans"/>
              </a:rPr>
              <a:t>stream</a:t>
            </a:r>
          </a:p>
        </p:txBody>
      </p:sp>
      <p:sp>
        <p:nvSpPr>
          <p:cNvPr id="15" name="rect 15"/>
          <p:cNvSpPr/>
          <p:nvPr/>
        </p:nvSpPr>
        <p:spPr>
          <a:xfrm>
            <a:off x="711200" y="4279900"/>
            <a:ext cx="6299200" cy="762000"/>
          </a:xfrm>
          <a:prstGeom prst="rect">
            <a:avLst/>
          </a:prstGeom>
          <a:solidFill>
            <a:srgbClr val="FFFFFF"/>
          </a:solidFill>
          <a:ln>
            <a:noFill/>
          </a:ln>
        </p:spPr>
      </p:sp>
      <p:sp>
        <p:nvSpPr>
          <p:cNvPr id="16" name="path 16"/>
          <p:cNvSpPr/>
          <p:nvPr/>
        </p:nvSpPr>
        <p:spPr>
          <a:xfrm>
            <a:off x="711200" y="5041900"/>
            <a:ext cx="6299200" cy="127"/>
          </a:xfrm>
          <a:custGeom>
            <a:avLst/>
            <a:gdLst/>
            <a:ahLst/>
            <a:cxnLst/>
            <a:rect l="0" t="0" r="r" b="b"/>
            <a:pathLst>
              <a:path w="6299200" h="127" fill="none">
                <a:moveTo>
                  <a:pt x="0" y="0"/>
                </a:moveTo>
                <a:lnTo>
                  <a:pt x="6299200" y="0"/>
                </a:lnTo>
              </a:path>
            </a:pathLst>
          </a:custGeom>
          <a:noFill/>
          <a:ln w="8890">
            <a:solidFill>
              <a:srgbClr val="D8E1E2"/>
            </a:solidFill>
            <a:prstDash val="solid"/>
          </a:ln>
        </p:spPr>
      </p:sp>
      <p:sp>
        <p:nvSpPr>
          <p:cNvPr id="17" name="text 17"/>
          <p:cNvSpPr/>
          <p:nvPr/>
        </p:nvSpPr>
        <p:spPr>
          <a:xfrm>
            <a:off x="876300" y="4462462"/>
            <a:ext cx="35433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zsRE</a:t>
            </a:r>
          </a:p>
        </p:txBody>
      </p:sp>
      <p:sp>
        <p:nvSpPr>
          <p:cNvPr id="18" name="text 18"/>
          <p:cNvSpPr/>
          <p:nvPr/>
        </p:nvSpPr>
        <p:spPr>
          <a:xfrm>
            <a:off x="4749800" y="4462462"/>
            <a:ext cx="20955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1,000</a:t>
            </a:r>
          </a:p>
        </p:txBody>
      </p:sp>
      <p:sp>
        <p:nvSpPr>
          <p:cNvPr id="19" name="rect 19"/>
          <p:cNvSpPr/>
          <p:nvPr/>
        </p:nvSpPr>
        <p:spPr>
          <a:xfrm>
            <a:off x="711200" y="5041900"/>
            <a:ext cx="6299200" cy="762000"/>
          </a:xfrm>
          <a:prstGeom prst="rect">
            <a:avLst/>
          </a:prstGeom>
          <a:solidFill>
            <a:srgbClr val="EEF3F3"/>
          </a:solidFill>
          <a:ln>
            <a:noFill/>
          </a:ln>
        </p:spPr>
      </p:sp>
      <p:sp>
        <p:nvSpPr>
          <p:cNvPr id="20" name="path 20"/>
          <p:cNvSpPr/>
          <p:nvPr/>
        </p:nvSpPr>
        <p:spPr>
          <a:xfrm>
            <a:off x="711200" y="5803900"/>
            <a:ext cx="6299200" cy="127"/>
          </a:xfrm>
          <a:custGeom>
            <a:avLst/>
            <a:gdLst/>
            <a:ahLst/>
            <a:cxnLst/>
            <a:rect l="0" t="0" r="r" b="b"/>
            <a:pathLst>
              <a:path w="6299200" h="127" fill="none">
                <a:moveTo>
                  <a:pt x="0" y="0"/>
                </a:moveTo>
                <a:lnTo>
                  <a:pt x="6299200" y="0"/>
                </a:lnTo>
              </a:path>
            </a:pathLst>
          </a:custGeom>
          <a:noFill/>
          <a:ln w="8890">
            <a:solidFill>
              <a:srgbClr val="D8E1E2"/>
            </a:solidFill>
            <a:prstDash val="solid"/>
          </a:ln>
        </p:spPr>
      </p:sp>
      <p:sp>
        <p:nvSpPr>
          <p:cNvPr id="21" name="text 21"/>
          <p:cNvSpPr/>
          <p:nvPr/>
        </p:nvSpPr>
        <p:spPr>
          <a:xfrm>
            <a:off x="876300" y="5224462"/>
            <a:ext cx="35433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CounterFact</a:t>
            </a:r>
          </a:p>
        </p:txBody>
      </p:sp>
      <p:sp>
        <p:nvSpPr>
          <p:cNvPr id="22" name="text 22"/>
          <p:cNvSpPr/>
          <p:nvPr/>
        </p:nvSpPr>
        <p:spPr>
          <a:xfrm>
            <a:off x="4749800" y="5224462"/>
            <a:ext cx="20955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1,000</a:t>
            </a:r>
          </a:p>
        </p:txBody>
      </p:sp>
      <p:sp>
        <p:nvSpPr>
          <p:cNvPr id="23" name="rect 23"/>
          <p:cNvSpPr/>
          <p:nvPr/>
        </p:nvSpPr>
        <p:spPr>
          <a:xfrm>
            <a:off x="711200" y="5803900"/>
            <a:ext cx="6299200" cy="762000"/>
          </a:xfrm>
          <a:prstGeom prst="rect">
            <a:avLst/>
          </a:prstGeom>
          <a:solidFill>
            <a:srgbClr val="FFFFFF"/>
          </a:solidFill>
          <a:ln>
            <a:noFill/>
          </a:ln>
        </p:spPr>
      </p:sp>
      <p:sp>
        <p:nvSpPr>
          <p:cNvPr id="24" name="path 24"/>
          <p:cNvSpPr/>
          <p:nvPr/>
        </p:nvSpPr>
        <p:spPr>
          <a:xfrm>
            <a:off x="711200" y="6565900"/>
            <a:ext cx="6299200" cy="127"/>
          </a:xfrm>
          <a:custGeom>
            <a:avLst/>
            <a:gdLst/>
            <a:ahLst/>
            <a:cxnLst/>
            <a:rect l="0" t="0" r="r" b="b"/>
            <a:pathLst>
              <a:path w="6299200" h="127" fill="none">
                <a:moveTo>
                  <a:pt x="0" y="0"/>
                </a:moveTo>
                <a:lnTo>
                  <a:pt x="6299200" y="0"/>
                </a:lnTo>
              </a:path>
            </a:pathLst>
          </a:custGeom>
          <a:noFill/>
          <a:ln w="8890">
            <a:solidFill>
              <a:srgbClr val="D8E1E2"/>
            </a:solidFill>
            <a:prstDash val="solid"/>
          </a:ln>
        </p:spPr>
      </p:sp>
      <p:sp>
        <p:nvSpPr>
          <p:cNvPr id="25" name="text 25"/>
          <p:cNvSpPr/>
          <p:nvPr/>
        </p:nvSpPr>
        <p:spPr>
          <a:xfrm>
            <a:off x="876300" y="5986462"/>
            <a:ext cx="35433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MQuAKE</a:t>
            </a:r>
          </a:p>
        </p:txBody>
      </p:sp>
      <p:sp>
        <p:nvSpPr>
          <p:cNvPr id="26" name="text 26"/>
          <p:cNvSpPr/>
          <p:nvPr/>
        </p:nvSpPr>
        <p:spPr>
          <a:xfrm>
            <a:off x="4749800" y="5986462"/>
            <a:ext cx="20955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300</a:t>
            </a:r>
          </a:p>
        </p:txBody>
      </p:sp>
      <p:sp>
        <p:nvSpPr>
          <p:cNvPr id="27" name="rect 27"/>
          <p:cNvSpPr/>
          <p:nvPr/>
        </p:nvSpPr>
        <p:spPr>
          <a:xfrm>
            <a:off x="7366000" y="3263900"/>
            <a:ext cx="8178800" cy="1701800"/>
          </a:xfrm>
          <a:prstGeom prst="rect">
            <a:avLst/>
          </a:prstGeom>
          <a:solidFill>
            <a:srgbClr val="FFFFFF"/>
          </a:solidFill>
          <a:ln>
            <a:noFill/>
          </a:ln>
        </p:spPr>
      </p:sp>
      <p:sp>
        <p:nvSpPr>
          <p:cNvPr id="28" name="rect 28"/>
          <p:cNvSpPr/>
          <p:nvPr/>
        </p:nvSpPr>
        <p:spPr>
          <a:xfrm>
            <a:off x="7366000" y="3263900"/>
            <a:ext cx="63500" cy="1701800"/>
          </a:xfrm>
          <a:prstGeom prst="rect">
            <a:avLst/>
          </a:prstGeom>
          <a:solidFill>
            <a:srgbClr val="007E80"/>
          </a:solidFill>
          <a:ln>
            <a:noFill/>
          </a:ln>
        </p:spPr>
      </p:sp>
      <p:sp>
        <p:nvSpPr>
          <p:cNvPr id="29" name="text 29"/>
          <p:cNvSpPr/>
          <p:nvPr/>
        </p:nvSpPr>
        <p:spPr>
          <a:xfrm>
            <a:off x="7658100" y="3517900"/>
            <a:ext cx="75946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1">
                <a:solidFill>
                  <a:srgbClr val="007E80"/>
                </a:solidFill>
                <a:latin typeface="DejaVu Sans"/>
              </a:rPr>
              <a:t>Usefulness</a:t>
            </a:r>
          </a:p>
        </p:txBody>
      </p:sp>
      <p:sp>
        <p:nvSpPr>
          <p:cNvPr id="30" name="text 30"/>
          <p:cNvSpPr/>
          <p:nvPr/>
        </p:nvSpPr>
        <p:spPr>
          <a:xfrm>
            <a:off x="7658100" y="4041775"/>
            <a:ext cx="7594600" cy="3651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300" b="0">
                <a:solidFill>
                  <a:srgbClr val="162F3B"/>
                </a:solidFill>
                <a:latin typeface="DejaVu Sans"/>
              </a:rPr>
              <a:t>Does the original question—and a held-out</a:t>
            </a:r>
          </a:p>
        </p:txBody>
      </p:sp>
      <p:sp>
        <p:nvSpPr>
          <p:cNvPr id="31" name="text 31"/>
          <p:cNvSpPr/>
          <p:nvPr/>
        </p:nvSpPr>
        <p:spPr>
          <a:xfrm>
            <a:off x="7658100" y="4406900"/>
            <a:ext cx="7594600" cy="3651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300" b="0">
                <a:solidFill>
                  <a:srgbClr val="162F3B"/>
                </a:solidFill>
                <a:latin typeface="DejaVu Sans"/>
              </a:rPr>
              <a:t>rewording—still produce the taught answer?</a:t>
            </a:r>
          </a:p>
        </p:txBody>
      </p:sp>
      <p:sp>
        <p:nvSpPr>
          <p:cNvPr id="32" name="rect 32"/>
          <p:cNvSpPr/>
          <p:nvPr/>
        </p:nvSpPr>
        <p:spPr>
          <a:xfrm>
            <a:off x="7366000" y="5181600"/>
            <a:ext cx="8178800" cy="1879600"/>
          </a:xfrm>
          <a:prstGeom prst="rect">
            <a:avLst/>
          </a:prstGeom>
          <a:solidFill>
            <a:srgbClr val="FFFFFF"/>
          </a:solidFill>
          <a:ln>
            <a:noFill/>
          </a:ln>
        </p:spPr>
      </p:sp>
      <p:sp>
        <p:nvSpPr>
          <p:cNvPr id="33" name="rect 33"/>
          <p:cNvSpPr/>
          <p:nvPr/>
        </p:nvSpPr>
        <p:spPr>
          <a:xfrm>
            <a:off x="7366000" y="5181600"/>
            <a:ext cx="63500" cy="1879600"/>
          </a:xfrm>
          <a:prstGeom prst="rect">
            <a:avLst/>
          </a:prstGeom>
          <a:solidFill>
            <a:srgbClr val="675399"/>
          </a:solidFill>
          <a:ln>
            <a:noFill/>
          </a:ln>
        </p:spPr>
      </p:sp>
      <p:sp>
        <p:nvSpPr>
          <p:cNvPr id="34" name="text 34"/>
          <p:cNvSpPr/>
          <p:nvPr/>
        </p:nvSpPr>
        <p:spPr>
          <a:xfrm>
            <a:off x="7658100" y="5435600"/>
            <a:ext cx="75946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1">
                <a:solidFill>
                  <a:srgbClr val="675399"/>
                </a:solidFill>
                <a:latin typeface="DejaVu Sans"/>
              </a:rPr>
              <a:t>Preservation</a:t>
            </a:r>
          </a:p>
        </p:txBody>
      </p:sp>
      <p:sp>
        <p:nvSpPr>
          <p:cNvPr id="35" name="text 35"/>
          <p:cNvSpPr/>
          <p:nvPr/>
        </p:nvSpPr>
        <p:spPr>
          <a:xfrm>
            <a:off x="7658100" y="5959475"/>
            <a:ext cx="7594600" cy="3651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300" b="0">
                <a:solidFill>
                  <a:srgbClr val="162F3B"/>
                </a:solidFill>
                <a:latin typeface="DejaVu Sans"/>
              </a:rPr>
              <a:t>Do unrelated questions retain their answers? How</a:t>
            </a:r>
          </a:p>
        </p:txBody>
      </p:sp>
      <p:sp>
        <p:nvSpPr>
          <p:cNvPr id="36" name="text 36"/>
          <p:cNvSpPr/>
          <p:nvPr/>
        </p:nvSpPr>
        <p:spPr>
          <a:xfrm>
            <a:off x="7658100" y="6324600"/>
            <a:ext cx="7594600" cy="3651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300" b="0">
                <a:solidFill>
                  <a:srgbClr val="162F3B"/>
                </a:solidFill>
                <a:latin typeface="DejaVu Sans"/>
              </a:rPr>
              <a:t>do predictions change on ordinary text?</a:t>
            </a:r>
          </a:p>
        </p:txBody>
      </p:sp>
      <p:sp>
        <p:nvSpPr>
          <p:cNvPr id="37" name="text 37"/>
          <p:cNvSpPr/>
          <p:nvPr/>
        </p:nvSpPr>
        <p:spPr>
          <a:xfrm>
            <a:off x="736600" y="7264400"/>
            <a:ext cx="14808200" cy="2857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800" b="0">
                <a:solidFill>
                  <a:srgbClr val="162F3B"/>
                </a:solidFill>
                <a:latin typeface="DejaVu Sans"/>
              </a:rPr>
              <a:t>Three fact samples, each tested in five orders. Our MQuAKE assay uses single-fact edits.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16256000" cy="9144000"/>
          </a:xfrm>
          <a:prstGeom prst="rect">
            <a:avLst/>
          </a:prstGeom>
          <a:solidFill>
            <a:srgbClr val="FAFAF7"/>
          </a:solidFill>
          <a:ln>
            <a:noFill/>
          </a:ln>
        </p:spPr>
      </p:sp>
      <p:sp>
        <p:nvSpPr>
          <p:cNvPr id="3" name="rect 3"/>
          <p:cNvSpPr/>
          <p:nvPr/>
        </p:nvSpPr>
        <p:spPr>
          <a:xfrm>
            <a:off x="0" y="0"/>
            <a:ext cx="16256000" cy="88900"/>
          </a:xfrm>
          <a:prstGeom prst="rect">
            <a:avLst/>
          </a:prstGeom>
          <a:solidFill>
            <a:srgbClr val="007E80"/>
          </a:solidFill>
          <a:ln>
            <a:noFill/>
          </a:ln>
        </p:spPr>
      </p:sp>
      <p:sp>
        <p:nvSpPr>
          <p:cNvPr id="4" name="text 4"/>
          <p:cNvSpPr/>
          <p:nvPr/>
        </p:nvSpPr>
        <p:spPr>
          <a:xfrm>
            <a:off x="685800" y="355600"/>
            <a:ext cx="14884400" cy="2222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400" b="1">
                <a:solidFill>
                  <a:srgbClr val="007E80"/>
                </a:solidFill>
                <a:latin typeface="DejaVu Sans"/>
              </a:rPr>
              <a:t>Main study · retention at the final checkpoint</a:t>
            </a:r>
          </a:p>
        </p:txBody>
      </p:sp>
      <p:sp>
        <p:nvSpPr>
          <p:cNvPr id="5" name="text 5"/>
          <p:cNvSpPr/>
          <p:nvPr/>
        </p:nvSpPr>
        <p:spPr>
          <a:xfrm>
            <a:off x="685800" y="850900"/>
            <a:ext cx="14884400" cy="555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3500" b="1">
                <a:solidFill>
                  <a:srgbClr val="162F3B"/>
                </a:solidFill>
                <a:latin typeface="DejaVu Sans"/>
              </a:rPr>
              <a:t>Remembering a prompt is not enough</a:t>
            </a:r>
          </a:p>
        </p:txBody>
      </p:sp>
      <p:sp>
        <p:nvSpPr>
          <p:cNvPr id="6" name="rect 6"/>
          <p:cNvSpPr/>
          <p:nvPr/>
        </p:nvSpPr>
        <p:spPr>
          <a:xfrm>
            <a:off x="685800" y="7797800"/>
            <a:ext cx="14884400" cy="762000"/>
          </a:xfrm>
          <a:prstGeom prst="rect">
            <a:avLst/>
          </a:prstGeom>
          <a:solidFill>
            <a:srgbClr val="EAF3F1"/>
          </a:solidFill>
          <a:ln>
            <a:noFill/>
          </a:ln>
        </p:spPr>
      </p:sp>
      <p:sp>
        <p:nvSpPr>
          <p:cNvPr id="7" name="text 7"/>
          <p:cNvSpPr/>
          <p:nvPr/>
        </p:nvSpPr>
        <p:spPr>
          <a:xfrm>
            <a:off x="914400" y="7937500"/>
            <a:ext cx="144272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162F3B"/>
                </a:solidFill>
                <a:latin typeface="DejaVu Sans"/>
              </a:rPr>
              <a:t>Learned retrieval greatly improved access to corrections under new wording.</a:t>
            </a:r>
          </a:p>
        </p:txBody>
      </p:sp>
      <p:sp>
        <p:nvSpPr>
          <p:cNvPr id="8" name="text 8"/>
          <p:cNvSpPr/>
          <p:nvPr/>
        </p:nvSpPr>
        <p:spPr>
          <a:xfrm>
            <a:off x="698500" y="8788400"/>
            <a:ext cx="13716000" cy="166688"/>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050" b="0">
                <a:solidFill>
                  <a:srgbClr val="52666F"/>
                </a:solidFill>
                <a:latin typeface="DejaVu Sans"/>
              </a:rPr>
              <a:t>Source: R1 triplet report; supplemental Option R report.</a:t>
            </a:r>
          </a:p>
        </p:txBody>
      </p:sp>
      <p:sp>
        <p:nvSpPr>
          <p:cNvPr id="9" name="text 9"/>
          <p:cNvSpPr/>
          <p:nvPr/>
        </p:nvSpPr>
        <p:spPr>
          <a:xfrm>
            <a:off x="14541500" y="8788400"/>
            <a:ext cx="1079500" cy="190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200" b="0">
                <a:solidFill>
                  <a:srgbClr val="52666F"/>
                </a:solidFill>
                <a:latin typeface="DejaVu Sans"/>
              </a:rPr>
              <a:t>06 / 15</a:t>
            </a:r>
          </a:p>
        </p:txBody>
      </p:sp>
      <p:sp>
        <p:nvSpPr>
          <p:cNvPr id="10" name="rect 10"/>
          <p:cNvSpPr/>
          <p:nvPr/>
        </p:nvSpPr>
        <p:spPr>
          <a:xfrm>
            <a:off x="711200" y="2286000"/>
            <a:ext cx="14833600" cy="1117600"/>
          </a:xfrm>
          <a:prstGeom prst="rect">
            <a:avLst/>
          </a:prstGeom>
          <a:solidFill>
            <a:srgbClr val="162F3B"/>
          </a:solidFill>
          <a:ln>
            <a:noFill/>
          </a:ln>
        </p:spPr>
      </p:sp>
      <p:sp>
        <p:nvSpPr>
          <p:cNvPr id="11" name="text 11"/>
          <p:cNvSpPr/>
          <p:nvPr/>
        </p:nvSpPr>
        <p:spPr>
          <a:xfrm>
            <a:off x="876300" y="2678112"/>
            <a:ext cx="38100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FFFFFF"/>
                </a:solidFill>
                <a:latin typeface="DejaVu Sans"/>
              </a:rPr>
              <a:t>Dataset</a:t>
            </a:r>
          </a:p>
        </p:txBody>
      </p:sp>
      <p:sp>
        <p:nvSpPr>
          <p:cNvPr id="12" name="text 12"/>
          <p:cNvSpPr/>
          <p:nvPr/>
        </p:nvSpPr>
        <p:spPr>
          <a:xfrm>
            <a:off x="5016500" y="2511425"/>
            <a:ext cx="31877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FFFFFF"/>
                </a:solidFill>
                <a:latin typeface="DejaVu Sans"/>
              </a:rPr>
              <a:t>Stable v0: original</a:t>
            </a:r>
          </a:p>
        </p:txBody>
      </p:sp>
      <p:sp>
        <p:nvSpPr>
          <p:cNvPr id="13" name="text 13"/>
          <p:cNvSpPr/>
          <p:nvPr/>
        </p:nvSpPr>
        <p:spPr>
          <a:xfrm>
            <a:off x="5016500" y="2844800"/>
            <a:ext cx="31877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FFFFFF"/>
                </a:solidFill>
                <a:latin typeface="DejaVu Sans"/>
              </a:rPr>
              <a:t>prompt</a:t>
            </a:r>
          </a:p>
        </p:txBody>
      </p:sp>
      <p:sp>
        <p:nvSpPr>
          <p:cNvPr id="14" name="text 14"/>
          <p:cNvSpPr/>
          <p:nvPr/>
        </p:nvSpPr>
        <p:spPr>
          <a:xfrm>
            <a:off x="8534400" y="2511425"/>
            <a:ext cx="31877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FFFFFF"/>
                </a:solidFill>
                <a:latin typeface="DejaVu Sans"/>
              </a:rPr>
              <a:t>Stable v0:</a:t>
            </a:r>
          </a:p>
        </p:txBody>
      </p:sp>
      <p:sp>
        <p:nvSpPr>
          <p:cNvPr id="15" name="text 15"/>
          <p:cNvSpPr/>
          <p:nvPr/>
        </p:nvSpPr>
        <p:spPr>
          <a:xfrm>
            <a:off x="8534400" y="2844800"/>
            <a:ext cx="31877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FFFFFF"/>
                </a:solidFill>
                <a:latin typeface="DejaVu Sans"/>
              </a:rPr>
              <a:t>paraphrase</a:t>
            </a:r>
          </a:p>
        </p:txBody>
      </p:sp>
      <p:sp>
        <p:nvSpPr>
          <p:cNvPr id="16" name="text 16"/>
          <p:cNvSpPr/>
          <p:nvPr/>
        </p:nvSpPr>
        <p:spPr>
          <a:xfrm>
            <a:off x="12052300" y="2511425"/>
            <a:ext cx="33274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FFFFFF"/>
                </a:solidFill>
                <a:latin typeface="DejaVu Sans"/>
              </a:rPr>
              <a:t>Learned reader:</a:t>
            </a:r>
          </a:p>
        </p:txBody>
      </p:sp>
      <p:sp>
        <p:nvSpPr>
          <p:cNvPr id="17" name="text 17"/>
          <p:cNvSpPr/>
          <p:nvPr/>
        </p:nvSpPr>
        <p:spPr>
          <a:xfrm>
            <a:off x="12052300" y="2844800"/>
            <a:ext cx="33274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FFFFFF"/>
                </a:solidFill>
                <a:latin typeface="DejaVu Sans"/>
              </a:rPr>
              <a:t>paraphrase</a:t>
            </a:r>
          </a:p>
        </p:txBody>
      </p:sp>
      <p:sp>
        <p:nvSpPr>
          <p:cNvPr id="18" name="rect 18"/>
          <p:cNvSpPr/>
          <p:nvPr/>
        </p:nvSpPr>
        <p:spPr>
          <a:xfrm>
            <a:off x="711200" y="3403600"/>
            <a:ext cx="14833600" cy="965200"/>
          </a:xfrm>
          <a:prstGeom prst="rect">
            <a:avLst/>
          </a:prstGeom>
          <a:solidFill>
            <a:srgbClr val="FFFFFF"/>
          </a:solidFill>
          <a:ln>
            <a:noFill/>
          </a:ln>
        </p:spPr>
      </p:sp>
      <p:sp>
        <p:nvSpPr>
          <p:cNvPr id="19" name="path 19"/>
          <p:cNvSpPr/>
          <p:nvPr/>
        </p:nvSpPr>
        <p:spPr>
          <a:xfrm>
            <a:off x="711200" y="4368800"/>
            <a:ext cx="14833600" cy="127"/>
          </a:xfrm>
          <a:custGeom>
            <a:avLst/>
            <a:gdLst/>
            <a:ahLst/>
            <a:cxnLst/>
            <a:rect l="0" t="0" r="r" b="b"/>
            <a:pathLst>
              <a:path w="14833600" h="127" fill="none">
                <a:moveTo>
                  <a:pt x="0" y="0"/>
                </a:moveTo>
                <a:lnTo>
                  <a:pt x="14833600" y="0"/>
                </a:lnTo>
              </a:path>
            </a:pathLst>
          </a:custGeom>
          <a:noFill/>
          <a:ln w="8890">
            <a:solidFill>
              <a:srgbClr val="D8E1E2"/>
            </a:solidFill>
            <a:prstDash val="solid"/>
          </a:ln>
        </p:spPr>
      </p:sp>
      <p:sp>
        <p:nvSpPr>
          <p:cNvPr id="20" name="text 20"/>
          <p:cNvSpPr/>
          <p:nvPr/>
        </p:nvSpPr>
        <p:spPr>
          <a:xfrm>
            <a:off x="876300" y="3671888"/>
            <a:ext cx="3810000" cy="428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700" b="0">
                <a:solidFill>
                  <a:srgbClr val="162F3B"/>
                </a:solidFill>
                <a:latin typeface="DejaVu Sans"/>
              </a:rPr>
              <a:t>zsRE · 1,000 edits</a:t>
            </a:r>
          </a:p>
        </p:txBody>
      </p:sp>
      <p:sp>
        <p:nvSpPr>
          <p:cNvPr id="21" name="text 21"/>
          <p:cNvSpPr/>
          <p:nvPr/>
        </p:nvSpPr>
        <p:spPr>
          <a:xfrm>
            <a:off x="5016500" y="3671888"/>
            <a:ext cx="3187700" cy="428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700" b="0">
                <a:solidFill>
                  <a:srgbClr val="162F3B"/>
                </a:solidFill>
                <a:latin typeface="DejaVu Sans"/>
              </a:rPr>
              <a:t>66.68%</a:t>
            </a:r>
          </a:p>
        </p:txBody>
      </p:sp>
      <p:sp>
        <p:nvSpPr>
          <p:cNvPr id="22" name="text 22"/>
          <p:cNvSpPr/>
          <p:nvPr/>
        </p:nvSpPr>
        <p:spPr>
          <a:xfrm>
            <a:off x="8534400" y="3671888"/>
            <a:ext cx="3187700" cy="428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700" b="0">
                <a:solidFill>
                  <a:srgbClr val="162F3B"/>
                </a:solidFill>
                <a:latin typeface="DejaVu Sans"/>
              </a:rPr>
              <a:t>18.56%</a:t>
            </a:r>
          </a:p>
        </p:txBody>
      </p:sp>
      <p:sp>
        <p:nvSpPr>
          <p:cNvPr id="23" name="text 23"/>
          <p:cNvSpPr/>
          <p:nvPr/>
        </p:nvSpPr>
        <p:spPr>
          <a:xfrm>
            <a:off x="12052300" y="3671888"/>
            <a:ext cx="3327400" cy="428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700" b="1">
                <a:solidFill>
                  <a:srgbClr val="007E80"/>
                </a:solidFill>
                <a:latin typeface="DejaVu Sans"/>
              </a:rPr>
              <a:t>96.03%</a:t>
            </a:r>
          </a:p>
        </p:txBody>
      </p:sp>
      <p:sp>
        <p:nvSpPr>
          <p:cNvPr id="24" name="rect 24"/>
          <p:cNvSpPr/>
          <p:nvPr/>
        </p:nvSpPr>
        <p:spPr>
          <a:xfrm>
            <a:off x="711200" y="4368800"/>
            <a:ext cx="14833600" cy="965200"/>
          </a:xfrm>
          <a:prstGeom prst="rect">
            <a:avLst/>
          </a:prstGeom>
          <a:solidFill>
            <a:srgbClr val="EEF3F3"/>
          </a:solidFill>
          <a:ln>
            <a:noFill/>
          </a:ln>
        </p:spPr>
      </p:sp>
      <p:sp>
        <p:nvSpPr>
          <p:cNvPr id="25" name="path 25"/>
          <p:cNvSpPr/>
          <p:nvPr/>
        </p:nvSpPr>
        <p:spPr>
          <a:xfrm>
            <a:off x="711200" y="5334000"/>
            <a:ext cx="14833600" cy="127"/>
          </a:xfrm>
          <a:custGeom>
            <a:avLst/>
            <a:gdLst/>
            <a:ahLst/>
            <a:cxnLst/>
            <a:rect l="0" t="0" r="r" b="b"/>
            <a:pathLst>
              <a:path w="14833600" h="127" fill="none">
                <a:moveTo>
                  <a:pt x="0" y="0"/>
                </a:moveTo>
                <a:lnTo>
                  <a:pt x="14833600" y="0"/>
                </a:lnTo>
              </a:path>
            </a:pathLst>
          </a:custGeom>
          <a:noFill/>
          <a:ln w="8890">
            <a:solidFill>
              <a:srgbClr val="D8E1E2"/>
            </a:solidFill>
            <a:prstDash val="solid"/>
          </a:ln>
        </p:spPr>
      </p:sp>
      <p:sp>
        <p:nvSpPr>
          <p:cNvPr id="26" name="text 26"/>
          <p:cNvSpPr/>
          <p:nvPr/>
        </p:nvSpPr>
        <p:spPr>
          <a:xfrm>
            <a:off x="876300" y="4422775"/>
            <a:ext cx="3810000" cy="428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700" b="0">
                <a:solidFill>
                  <a:srgbClr val="162F3B"/>
                </a:solidFill>
                <a:latin typeface="DejaVu Sans"/>
              </a:rPr>
              <a:t>CounterFact · 1,000</a:t>
            </a:r>
          </a:p>
        </p:txBody>
      </p:sp>
      <p:sp>
        <p:nvSpPr>
          <p:cNvPr id="27" name="text 27"/>
          <p:cNvSpPr/>
          <p:nvPr/>
        </p:nvSpPr>
        <p:spPr>
          <a:xfrm>
            <a:off x="876300" y="4851400"/>
            <a:ext cx="3810000" cy="428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700" b="0">
                <a:solidFill>
                  <a:srgbClr val="162F3B"/>
                </a:solidFill>
                <a:latin typeface="DejaVu Sans"/>
              </a:rPr>
              <a:t>edits</a:t>
            </a:r>
          </a:p>
        </p:txBody>
      </p:sp>
      <p:sp>
        <p:nvSpPr>
          <p:cNvPr id="28" name="text 28"/>
          <p:cNvSpPr/>
          <p:nvPr/>
        </p:nvSpPr>
        <p:spPr>
          <a:xfrm>
            <a:off x="5016500" y="4637088"/>
            <a:ext cx="3187700" cy="428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700" b="0">
                <a:solidFill>
                  <a:srgbClr val="162F3B"/>
                </a:solidFill>
                <a:latin typeface="DejaVu Sans"/>
              </a:rPr>
              <a:t>100%</a:t>
            </a:r>
          </a:p>
        </p:txBody>
      </p:sp>
      <p:sp>
        <p:nvSpPr>
          <p:cNvPr id="29" name="text 29"/>
          <p:cNvSpPr/>
          <p:nvPr/>
        </p:nvSpPr>
        <p:spPr>
          <a:xfrm>
            <a:off x="8534400" y="4637088"/>
            <a:ext cx="3187700" cy="428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700" b="0">
                <a:solidFill>
                  <a:srgbClr val="162F3B"/>
                </a:solidFill>
                <a:latin typeface="DejaVu Sans"/>
              </a:rPr>
              <a:t>0%</a:t>
            </a:r>
          </a:p>
        </p:txBody>
      </p:sp>
      <p:sp>
        <p:nvSpPr>
          <p:cNvPr id="30" name="text 30"/>
          <p:cNvSpPr/>
          <p:nvPr/>
        </p:nvSpPr>
        <p:spPr>
          <a:xfrm>
            <a:off x="12052300" y="4637088"/>
            <a:ext cx="3327400" cy="428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700" b="1">
                <a:solidFill>
                  <a:srgbClr val="007E80"/>
                </a:solidFill>
                <a:latin typeface="DejaVu Sans"/>
              </a:rPr>
              <a:t>67.80%</a:t>
            </a:r>
          </a:p>
        </p:txBody>
      </p:sp>
      <p:sp>
        <p:nvSpPr>
          <p:cNvPr id="31" name="rect 31"/>
          <p:cNvSpPr/>
          <p:nvPr/>
        </p:nvSpPr>
        <p:spPr>
          <a:xfrm>
            <a:off x="711200" y="5334000"/>
            <a:ext cx="14833600" cy="965200"/>
          </a:xfrm>
          <a:prstGeom prst="rect">
            <a:avLst/>
          </a:prstGeom>
          <a:solidFill>
            <a:srgbClr val="FFFFFF"/>
          </a:solidFill>
          <a:ln>
            <a:noFill/>
          </a:ln>
        </p:spPr>
      </p:sp>
      <p:sp>
        <p:nvSpPr>
          <p:cNvPr id="32" name="path 32"/>
          <p:cNvSpPr/>
          <p:nvPr/>
        </p:nvSpPr>
        <p:spPr>
          <a:xfrm>
            <a:off x="711200" y="6299200"/>
            <a:ext cx="14833600" cy="127"/>
          </a:xfrm>
          <a:custGeom>
            <a:avLst/>
            <a:gdLst/>
            <a:ahLst/>
            <a:cxnLst/>
            <a:rect l="0" t="0" r="r" b="b"/>
            <a:pathLst>
              <a:path w="14833600" h="127" fill="none">
                <a:moveTo>
                  <a:pt x="0" y="0"/>
                </a:moveTo>
                <a:lnTo>
                  <a:pt x="14833600" y="0"/>
                </a:lnTo>
              </a:path>
            </a:pathLst>
          </a:custGeom>
          <a:noFill/>
          <a:ln w="8890">
            <a:solidFill>
              <a:srgbClr val="D8E1E2"/>
            </a:solidFill>
            <a:prstDash val="solid"/>
          </a:ln>
        </p:spPr>
      </p:sp>
      <p:sp>
        <p:nvSpPr>
          <p:cNvPr id="33" name="text 33"/>
          <p:cNvSpPr/>
          <p:nvPr/>
        </p:nvSpPr>
        <p:spPr>
          <a:xfrm>
            <a:off x="876300" y="5602288"/>
            <a:ext cx="3810000" cy="428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700" b="0">
                <a:solidFill>
                  <a:srgbClr val="162F3B"/>
                </a:solidFill>
                <a:latin typeface="DejaVu Sans"/>
              </a:rPr>
              <a:t>MQuAKE · 300 edits</a:t>
            </a:r>
          </a:p>
        </p:txBody>
      </p:sp>
      <p:sp>
        <p:nvSpPr>
          <p:cNvPr id="34" name="text 34"/>
          <p:cNvSpPr/>
          <p:nvPr/>
        </p:nvSpPr>
        <p:spPr>
          <a:xfrm>
            <a:off x="5016500" y="5602288"/>
            <a:ext cx="3187700" cy="428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700" b="0">
                <a:solidFill>
                  <a:srgbClr val="162F3B"/>
                </a:solidFill>
                <a:latin typeface="DejaVu Sans"/>
              </a:rPr>
              <a:t>100%</a:t>
            </a:r>
          </a:p>
        </p:txBody>
      </p:sp>
      <p:sp>
        <p:nvSpPr>
          <p:cNvPr id="35" name="text 35"/>
          <p:cNvSpPr/>
          <p:nvPr/>
        </p:nvSpPr>
        <p:spPr>
          <a:xfrm>
            <a:off x="8534400" y="5602288"/>
            <a:ext cx="3187700" cy="428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700" b="0">
                <a:solidFill>
                  <a:srgbClr val="162F3B"/>
                </a:solidFill>
                <a:latin typeface="DejaVu Sans"/>
              </a:rPr>
              <a:t>0%</a:t>
            </a:r>
          </a:p>
        </p:txBody>
      </p:sp>
      <p:sp>
        <p:nvSpPr>
          <p:cNvPr id="36" name="text 36"/>
          <p:cNvSpPr/>
          <p:nvPr/>
        </p:nvSpPr>
        <p:spPr>
          <a:xfrm>
            <a:off x="12052300" y="5602288"/>
            <a:ext cx="3327400" cy="428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700" b="1">
                <a:solidFill>
                  <a:srgbClr val="007E80"/>
                </a:solidFill>
                <a:latin typeface="DejaVu Sans"/>
              </a:rPr>
              <a:t>71.56%</a:t>
            </a:r>
          </a:p>
        </p:txBody>
      </p:sp>
      <p:sp>
        <p:nvSpPr>
          <p:cNvPr id="37" name="text 37"/>
          <p:cNvSpPr/>
          <p:nvPr/>
        </p:nvSpPr>
        <p:spPr>
          <a:xfrm>
            <a:off x="762000" y="6565900"/>
            <a:ext cx="14732000" cy="317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000" b="0">
                <a:solidFill>
                  <a:srgbClr val="162F3B"/>
                </a:solidFill>
                <a:latin typeface="DejaVu Sans"/>
              </a:rPr>
              <a:t>Means across orders within each of three fact samples, then across samples.</a:t>
            </a:r>
          </a:p>
        </p:txBody>
      </p:sp>
      <p:sp>
        <p:nvSpPr>
          <p:cNvPr id="38" name="text 38"/>
          <p:cNvSpPr/>
          <p:nvPr/>
        </p:nvSpPr>
        <p:spPr>
          <a:xfrm>
            <a:off x="762000" y="7061200"/>
            <a:ext cx="147320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0">
                <a:solidFill>
                  <a:srgbClr val="162F3B"/>
                </a:solidFill>
                <a:latin typeface="DejaVu Sans"/>
              </a:rPr>
              <a:t>Four-sample extension: learned versus random reader gained 44.1 points on zsRE and 56.2 on CounterFact in</a:t>
            </a:r>
          </a:p>
        </p:txBody>
      </p:sp>
      <p:sp>
        <p:nvSpPr>
          <p:cNvPr id="39" name="text 39"/>
          <p:cNvSpPr/>
          <p:nvPr/>
        </p:nvSpPr>
        <p:spPr>
          <a:xfrm>
            <a:off x="762000" y="7394575"/>
            <a:ext cx="147320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0">
                <a:solidFill>
                  <a:srgbClr val="162F3B"/>
                </a:solidFill>
                <a:latin typeface="DejaVu Sans"/>
              </a:rPr>
              <a:t>paraphrase retention.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16256000" cy="9144000"/>
          </a:xfrm>
          <a:prstGeom prst="rect">
            <a:avLst/>
          </a:prstGeom>
          <a:solidFill>
            <a:srgbClr val="FAFAF7"/>
          </a:solidFill>
          <a:ln>
            <a:noFill/>
          </a:ln>
        </p:spPr>
      </p:sp>
      <p:sp>
        <p:nvSpPr>
          <p:cNvPr id="3" name="rect 3"/>
          <p:cNvSpPr/>
          <p:nvPr/>
        </p:nvSpPr>
        <p:spPr>
          <a:xfrm>
            <a:off x="0" y="0"/>
            <a:ext cx="16256000" cy="88900"/>
          </a:xfrm>
          <a:prstGeom prst="rect">
            <a:avLst/>
          </a:prstGeom>
          <a:solidFill>
            <a:srgbClr val="007E80"/>
          </a:solidFill>
          <a:ln>
            <a:noFill/>
          </a:ln>
        </p:spPr>
      </p:sp>
      <p:sp>
        <p:nvSpPr>
          <p:cNvPr id="4" name="text 4"/>
          <p:cNvSpPr/>
          <p:nvPr/>
        </p:nvSpPr>
        <p:spPr>
          <a:xfrm>
            <a:off x="685800" y="355600"/>
            <a:ext cx="14884400" cy="2222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400" b="1">
                <a:solidFill>
                  <a:srgbClr val="007E80"/>
                </a:solidFill>
                <a:latin typeface="DejaVu Sans"/>
              </a:rPr>
              <a:t>Keep usefulness and preservation together</a:t>
            </a:r>
          </a:p>
        </p:txBody>
      </p:sp>
      <p:sp>
        <p:nvSpPr>
          <p:cNvPr id="5" name="text 5"/>
          <p:cNvSpPr/>
          <p:nvPr/>
        </p:nvSpPr>
        <p:spPr>
          <a:xfrm>
            <a:off x="685800" y="850900"/>
            <a:ext cx="14884400" cy="555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3500" b="1">
                <a:solidFill>
                  <a:srgbClr val="162F3B"/>
                </a:solidFill>
                <a:latin typeface="DejaVu Sans"/>
              </a:rPr>
              <a:t>Better retrieval did not meet every preservation goal</a:t>
            </a:r>
          </a:p>
        </p:txBody>
      </p:sp>
      <p:sp>
        <p:nvSpPr>
          <p:cNvPr id="6" name="rect 6"/>
          <p:cNvSpPr/>
          <p:nvPr/>
        </p:nvSpPr>
        <p:spPr>
          <a:xfrm>
            <a:off x="685800" y="7797800"/>
            <a:ext cx="14884400" cy="762000"/>
          </a:xfrm>
          <a:prstGeom prst="rect">
            <a:avLst/>
          </a:prstGeom>
          <a:solidFill>
            <a:srgbClr val="EAF3F1"/>
          </a:solidFill>
          <a:ln>
            <a:noFill/>
          </a:ln>
        </p:spPr>
      </p:sp>
      <p:sp>
        <p:nvSpPr>
          <p:cNvPr id="7" name="text 7"/>
          <p:cNvSpPr/>
          <p:nvPr/>
        </p:nvSpPr>
        <p:spPr>
          <a:xfrm>
            <a:off x="914400" y="7937500"/>
            <a:ext cx="144272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162F3B"/>
                </a:solidFill>
                <a:latin typeface="DejaVu Sans"/>
              </a:rPr>
              <a:t>A large paraphrase gain is not a complete preservation success.</a:t>
            </a:r>
          </a:p>
        </p:txBody>
      </p:sp>
      <p:sp>
        <p:nvSpPr>
          <p:cNvPr id="8" name="text 8"/>
          <p:cNvSpPr/>
          <p:nvPr/>
        </p:nvSpPr>
        <p:spPr>
          <a:xfrm>
            <a:off x="698500" y="8788400"/>
            <a:ext cx="13716000" cy="166688"/>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050" b="0">
                <a:solidFill>
                  <a:srgbClr val="52666F"/>
                </a:solidFill>
                <a:latin typeface="DejaVu Sans"/>
              </a:rPr>
              <a:t>Source: Main-study registered classification and fidelity results.</a:t>
            </a:r>
          </a:p>
        </p:txBody>
      </p:sp>
      <p:sp>
        <p:nvSpPr>
          <p:cNvPr id="9" name="text 9"/>
          <p:cNvSpPr/>
          <p:nvPr/>
        </p:nvSpPr>
        <p:spPr>
          <a:xfrm>
            <a:off x="14541500" y="8788400"/>
            <a:ext cx="1079500" cy="190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200" b="0">
                <a:solidFill>
                  <a:srgbClr val="52666F"/>
                </a:solidFill>
                <a:latin typeface="DejaVu Sans"/>
              </a:rPr>
              <a:t>07 / 15</a:t>
            </a:r>
          </a:p>
        </p:txBody>
      </p:sp>
      <p:sp>
        <p:nvSpPr>
          <p:cNvPr id="10" name="rect 10"/>
          <p:cNvSpPr/>
          <p:nvPr/>
        </p:nvSpPr>
        <p:spPr>
          <a:xfrm>
            <a:off x="711200" y="2463800"/>
            <a:ext cx="4749800" cy="3975100"/>
          </a:xfrm>
          <a:prstGeom prst="rect">
            <a:avLst/>
          </a:prstGeom>
          <a:solidFill>
            <a:srgbClr val="FFFFFF"/>
          </a:solidFill>
          <a:ln>
            <a:noFill/>
          </a:ln>
        </p:spPr>
      </p:sp>
      <p:sp>
        <p:nvSpPr>
          <p:cNvPr id="11" name="rect 11"/>
          <p:cNvSpPr/>
          <p:nvPr/>
        </p:nvSpPr>
        <p:spPr>
          <a:xfrm>
            <a:off x="711200" y="2463800"/>
            <a:ext cx="63500" cy="3975100"/>
          </a:xfrm>
          <a:prstGeom prst="rect">
            <a:avLst/>
          </a:prstGeom>
          <a:solidFill>
            <a:srgbClr val="B44D32"/>
          </a:solidFill>
          <a:ln>
            <a:noFill/>
          </a:ln>
        </p:spPr>
      </p:sp>
      <p:sp>
        <p:nvSpPr>
          <p:cNvPr id="12" name="text 12"/>
          <p:cNvSpPr/>
          <p:nvPr/>
        </p:nvSpPr>
        <p:spPr>
          <a:xfrm>
            <a:off x="1003300" y="2717800"/>
            <a:ext cx="41656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1">
                <a:solidFill>
                  <a:srgbClr val="B44D32"/>
                </a:solidFill>
                <a:latin typeface="DejaVu Sans"/>
              </a:rPr>
              <a:t>45 / 45 cells</a:t>
            </a:r>
          </a:p>
        </p:txBody>
      </p:sp>
      <p:sp>
        <p:nvSpPr>
          <p:cNvPr id="13" name="text 13"/>
          <p:cNvSpPr/>
          <p:nvPr/>
        </p:nvSpPr>
        <p:spPr>
          <a:xfrm>
            <a:off x="1003300" y="3241675"/>
            <a:ext cx="41656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The learned reader</a:t>
            </a:r>
          </a:p>
        </p:txBody>
      </p:sp>
      <p:sp>
        <p:nvSpPr>
          <p:cNvPr id="14" name="text 14"/>
          <p:cNvSpPr/>
          <p:nvPr/>
        </p:nvSpPr>
        <p:spPr>
          <a:xfrm>
            <a:off x="1003300" y="3622675"/>
            <a:ext cx="41656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exceeded the registered</a:t>
            </a:r>
          </a:p>
        </p:txBody>
      </p:sp>
      <p:sp>
        <p:nvSpPr>
          <p:cNvPr id="15" name="text 15"/>
          <p:cNvSpPr/>
          <p:nvPr/>
        </p:nvSpPr>
        <p:spPr>
          <a:xfrm>
            <a:off x="1003300" y="4003675"/>
            <a:ext cx="41656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preservation limit: mean</a:t>
            </a:r>
          </a:p>
        </p:txBody>
      </p:sp>
      <p:sp>
        <p:nvSpPr>
          <p:cNvPr id="16" name="text 16"/>
          <p:cNvSpPr/>
          <p:nvPr/>
        </p:nvSpPr>
        <p:spPr>
          <a:xfrm>
            <a:off x="1003300" y="4384675"/>
            <a:ext cx="41656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KL ≤ 0.001 nats per token</a:t>
            </a:r>
          </a:p>
        </p:txBody>
      </p:sp>
      <p:sp>
        <p:nvSpPr>
          <p:cNvPr id="17" name="text 17"/>
          <p:cNvSpPr/>
          <p:nvPr/>
        </p:nvSpPr>
        <p:spPr>
          <a:xfrm>
            <a:off x="1003300" y="4765675"/>
            <a:ext cx="41656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on ordinary text.</a:t>
            </a:r>
          </a:p>
        </p:txBody>
      </p:sp>
      <p:sp>
        <p:nvSpPr>
          <p:cNvPr id="18" name="rect 18"/>
          <p:cNvSpPr/>
          <p:nvPr/>
        </p:nvSpPr>
        <p:spPr>
          <a:xfrm>
            <a:off x="5765800" y="2463800"/>
            <a:ext cx="4749800" cy="3975100"/>
          </a:xfrm>
          <a:prstGeom prst="rect">
            <a:avLst/>
          </a:prstGeom>
          <a:solidFill>
            <a:srgbClr val="FFFFFF"/>
          </a:solidFill>
          <a:ln>
            <a:noFill/>
          </a:ln>
        </p:spPr>
      </p:sp>
      <p:sp>
        <p:nvSpPr>
          <p:cNvPr id="19" name="rect 19"/>
          <p:cNvSpPr/>
          <p:nvPr/>
        </p:nvSpPr>
        <p:spPr>
          <a:xfrm>
            <a:off x="5765800" y="2463800"/>
            <a:ext cx="63500" cy="3975100"/>
          </a:xfrm>
          <a:prstGeom prst="rect">
            <a:avLst/>
          </a:prstGeom>
          <a:solidFill>
            <a:srgbClr val="675399"/>
          </a:solidFill>
          <a:ln>
            <a:noFill/>
          </a:ln>
        </p:spPr>
      </p:sp>
      <p:sp>
        <p:nvSpPr>
          <p:cNvPr id="20" name="text 20"/>
          <p:cNvSpPr/>
          <p:nvPr/>
        </p:nvSpPr>
        <p:spPr>
          <a:xfrm>
            <a:off x="6057900" y="2717800"/>
            <a:ext cx="41656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1">
                <a:solidFill>
                  <a:srgbClr val="675399"/>
                </a:solidFill>
                <a:latin typeface="DejaVu Sans"/>
              </a:rPr>
              <a:t>CounterFact</a:t>
            </a:r>
          </a:p>
        </p:txBody>
      </p:sp>
      <p:sp>
        <p:nvSpPr>
          <p:cNvPr id="21" name="text 21"/>
          <p:cNvSpPr/>
          <p:nvPr/>
        </p:nvSpPr>
        <p:spPr>
          <a:xfrm>
            <a:off x="6057900" y="3241675"/>
            <a:ext cx="41656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The comparison with</a:t>
            </a:r>
          </a:p>
        </p:txBody>
      </p:sp>
      <p:sp>
        <p:nvSpPr>
          <p:cNvPr id="22" name="text 22"/>
          <p:cNvSpPr/>
          <p:nvPr/>
        </p:nvSpPr>
        <p:spPr>
          <a:xfrm>
            <a:off x="6057900" y="3622675"/>
            <a:ext cx="41656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stable v0 remained</a:t>
            </a:r>
          </a:p>
        </p:txBody>
      </p:sp>
      <p:sp>
        <p:nvSpPr>
          <p:cNvPr id="23" name="text 23"/>
          <p:cNvSpPr/>
          <p:nvPr/>
        </p:nvSpPr>
        <p:spPr>
          <a:xfrm>
            <a:off x="6057900" y="4003675"/>
            <a:ext cx="41656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formally inconclusive</a:t>
            </a:r>
          </a:p>
        </p:txBody>
      </p:sp>
      <p:sp>
        <p:nvSpPr>
          <p:cNvPr id="24" name="text 24"/>
          <p:cNvSpPr/>
          <p:nvPr/>
        </p:nvSpPr>
        <p:spPr>
          <a:xfrm>
            <a:off x="6057900" y="4384675"/>
            <a:ext cx="41656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because its locality</a:t>
            </a:r>
          </a:p>
        </p:txBody>
      </p:sp>
      <p:sp>
        <p:nvSpPr>
          <p:cNvPr id="25" name="text 25"/>
          <p:cNvSpPr/>
          <p:nvPr/>
        </p:nvSpPr>
        <p:spPr>
          <a:xfrm>
            <a:off x="6057900" y="4765675"/>
            <a:ext cx="41656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requirement failed.</a:t>
            </a:r>
          </a:p>
        </p:txBody>
      </p:sp>
      <p:sp>
        <p:nvSpPr>
          <p:cNvPr id="26" name="rect 26"/>
          <p:cNvSpPr/>
          <p:nvPr/>
        </p:nvSpPr>
        <p:spPr>
          <a:xfrm>
            <a:off x="10820400" y="2463800"/>
            <a:ext cx="4749800" cy="3975100"/>
          </a:xfrm>
          <a:prstGeom prst="rect">
            <a:avLst/>
          </a:prstGeom>
          <a:solidFill>
            <a:srgbClr val="FFFFFF"/>
          </a:solidFill>
          <a:ln>
            <a:noFill/>
          </a:ln>
        </p:spPr>
      </p:sp>
      <p:sp>
        <p:nvSpPr>
          <p:cNvPr id="27" name="rect 27"/>
          <p:cNvSpPr/>
          <p:nvPr/>
        </p:nvSpPr>
        <p:spPr>
          <a:xfrm>
            <a:off x="10820400" y="2463800"/>
            <a:ext cx="63500" cy="3975100"/>
          </a:xfrm>
          <a:prstGeom prst="rect">
            <a:avLst/>
          </a:prstGeom>
          <a:solidFill>
            <a:srgbClr val="007E80"/>
          </a:solidFill>
          <a:ln>
            <a:noFill/>
          </a:ln>
        </p:spPr>
      </p:sp>
      <p:sp>
        <p:nvSpPr>
          <p:cNvPr id="28" name="text 28"/>
          <p:cNvSpPr/>
          <p:nvPr/>
        </p:nvSpPr>
        <p:spPr>
          <a:xfrm>
            <a:off x="11112500" y="2717800"/>
            <a:ext cx="41656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1">
                <a:solidFill>
                  <a:srgbClr val="007E80"/>
                </a:solidFill>
                <a:latin typeface="DejaVu Sans"/>
              </a:rPr>
              <a:t>MQuAKE</a:t>
            </a:r>
          </a:p>
        </p:txBody>
      </p:sp>
      <p:sp>
        <p:nvSpPr>
          <p:cNvPr id="29" name="text 29"/>
          <p:cNvSpPr/>
          <p:nvPr/>
        </p:nvSpPr>
        <p:spPr>
          <a:xfrm>
            <a:off x="11112500" y="3241675"/>
            <a:ext cx="41656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The shorter 300-edit run</a:t>
            </a:r>
          </a:p>
        </p:txBody>
      </p:sp>
      <p:sp>
        <p:nvSpPr>
          <p:cNvPr id="30" name="text 30"/>
          <p:cNvSpPr/>
          <p:nvPr/>
        </p:nvSpPr>
        <p:spPr>
          <a:xfrm>
            <a:off x="11112500" y="3622675"/>
            <a:ext cx="41656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remains descriptive.</a:t>
            </a:r>
          </a:p>
        </p:txBody>
      </p:sp>
      <p:sp>
        <p:nvSpPr>
          <p:cNvPr id="31" name="text 31"/>
          <p:cNvSpPr/>
          <p:nvPr/>
        </p:nvSpPr>
        <p:spPr>
          <a:xfrm>
            <a:off x="749300" y="6972300"/>
            <a:ext cx="14732000" cy="3651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300" b="0">
                <a:solidFill>
                  <a:srgbClr val="162F3B"/>
                </a:solidFill>
                <a:latin typeface="DejaVu Sans"/>
              </a:rPr>
              <a:t>KL measures change in the full next-token probability distribution.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16256000" cy="9144000"/>
          </a:xfrm>
          <a:prstGeom prst="rect">
            <a:avLst/>
          </a:prstGeom>
          <a:solidFill>
            <a:srgbClr val="FAFAF7"/>
          </a:solidFill>
          <a:ln>
            <a:noFill/>
          </a:ln>
        </p:spPr>
      </p:sp>
      <p:sp>
        <p:nvSpPr>
          <p:cNvPr id="3" name="rect 3"/>
          <p:cNvSpPr/>
          <p:nvPr/>
        </p:nvSpPr>
        <p:spPr>
          <a:xfrm>
            <a:off x="0" y="0"/>
            <a:ext cx="16256000" cy="88900"/>
          </a:xfrm>
          <a:prstGeom prst="rect">
            <a:avLst/>
          </a:prstGeom>
          <a:solidFill>
            <a:srgbClr val="007E80"/>
          </a:solidFill>
          <a:ln>
            <a:noFill/>
          </a:ln>
        </p:spPr>
      </p:sp>
      <p:sp>
        <p:nvSpPr>
          <p:cNvPr id="4" name="text 4"/>
          <p:cNvSpPr/>
          <p:nvPr/>
        </p:nvSpPr>
        <p:spPr>
          <a:xfrm>
            <a:off x="685800" y="355600"/>
            <a:ext cx="14884400" cy="2222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400" b="1">
                <a:solidFill>
                  <a:srgbClr val="007E80"/>
                </a:solidFill>
                <a:latin typeface="DejaVu Sans"/>
              </a:rPr>
              <a:t>Two ways to obtain a learning signal</a:t>
            </a:r>
          </a:p>
        </p:txBody>
      </p:sp>
      <p:sp>
        <p:nvSpPr>
          <p:cNvPr id="5" name="text 5"/>
          <p:cNvSpPr/>
          <p:nvPr/>
        </p:nvSpPr>
        <p:spPr>
          <a:xfrm>
            <a:off x="685800" y="850900"/>
            <a:ext cx="14884400" cy="555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3500" b="1">
                <a:solidFill>
                  <a:srgbClr val="162F3B"/>
                </a:solidFill>
                <a:latin typeface="DejaVu Sans"/>
              </a:rPr>
              <a:t>Where predictive coding enters</a:t>
            </a:r>
          </a:p>
        </p:txBody>
      </p:sp>
      <p:sp>
        <p:nvSpPr>
          <p:cNvPr id="6" name="rect 6"/>
          <p:cNvSpPr/>
          <p:nvPr/>
        </p:nvSpPr>
        <p:spPr>
          <a:xfrm>
            <a:off x="685800" y="7797800"/>
            <a:ext cx="14884400" cy="762000"/>
          </a:xfrm>
          <a:prstGeom prst="rect">
            <a:avLst/>
          </a:prstGeom>
          <a:solidFill>
            <a:srgbClr val="EAF3F1"/>
          </a:solidFill>
          <a:ln>
            <a:noFill/>
          </a:ln>
        </p:spPr>
      </p:sp>
      <p:sp>
        <p:nvSpPr>
          <p:cNvPr id="7" name="text 7"/>
          <p:cNvSpPr/>
          <p:nvPr/>
        </p:nvSpPr>
        <p:spPr>
          <a:xfrm>
            <a:off x="914400" y="7937500"/>
            <a:ext cx="144272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162F3B"/>
                </a:solidFill>
                <a:latin typeface="DejaVu Sans"/>
              </a:rPr>
              <a:t>PC is a tested learning mechanism here; autonomous action selection is still future work.</a:t>
            </a:r>
          </a:p>
        </p:txBody>
      </p:sp>
      <p:sp>
        <p:nvSpPr>
          <p:cNvPr id="8" name="text 8"/>
          <p:cNvSpPr/>
          <p:nvPr/>
        </p:nvSpPr>
        <p:spPr>
          <a:xfrm>
            <a:off x="698500" y="8788400"/>
            <a:ext cx="13716000" cy="166688"/>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050" b="0">
                <a:solidFill>
                  <a:srgbClr val="52666F"/>
                </a:solidFill>
                <a:latin typeface="DejaVu Sans"/>
              </a:rPr>
              <a:t>Source: Corrected ePC solver; PC-v1 and PC-reader specifications.</a:t>
            </a:r>
          </a:p>
        </p:txBody>
      </p:sp>
      <p:sp>
        <p:nvSpPr>
          <p:cNvPr id="9" name="text 9"/>
          <p:cNvSpPr/>
          <p:nvPr/>
        </p:nvSpPr>
        <p:spPr>
          <a:xfrm>
            <a:off x="14541500" y="8788400"/>
            <a:ext cx="1079500" cy="190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200" b="0">
                <a:solidFill>
                  <a:srgbClr val="52666F"/>
                </a:solidFill>
                <a:latin typeface="DejaVu Sans"/>
              </a:rPr>
              <a:t>08 / 15</a:t>
            </a:r>
          </a:p>
        </p:txBody>
      </p:sp>
      <p:sp>
        <p:nvSpPr>
          <p:cNvPr id="10" name="text 10"/>
          <p:cNvSpPr/>
          <p:nvPr/>
        </p:nvSpPr>
        <p:spPr>
          <a:xfrm>
            <a:off x="711200" y="2133600"/>
            <a:ext cx="14795500" cy="4127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600" b="0">
                <a:solidFill>
                  <a:srgbClr val="162F3B"/>
                </a:solidFill>
                <a:latin typeface="DejaVu Sans"/>
              </a:rPr>
              <a:t>Teaching a fact needs a direction for changing its stored correction.</a:t>
            </a:r>
          </a:p>
        </p:txBody>
      </p:sp>
      <p:sp>
        <p:nvSpPr>
          <p:cNvPr id="11" name="rect 11"/>
          <p:cNvSpPr/>
          <p:nvPr/>
        </p:nvSpPr>
        <p:spPr>
          <a:xfrm>
            <a:off x="711200" y="3111500"/>
            <a:ext cx="7188200" cy="3149600"/>
          </a:xfrm>
          <a:prstGeom prst="rect">
            <a:avLst/>
          </a:prstGeom>
          <a:solidFill>
            <a:srgbClr val="FFFFFF"/>
          </a:solidFill>
          <a:ln>
            <a:noFill/>
          </a:ln>
        </p:spPr>
      </p:sp>
      <p:sp>
        <p:nvSpPr>
          <p:cNvPr id="12" name="rect 12"/>
          <p:cNvSpPr/>
          <p:nvPr/>
        </p:nvSpPr>
        <p:spPr>
          <a:xfrm>
            <a:off x="711200" y="3111500"/>
            <a:ext cx="63500" cy="3149600"/>
          </a:xfrm>
          <a:prstGeom prst="rect">
            <a:avLst/>
          </a:prstGeom>
          <a:solidFill>
            <a:srgbClr val="007E80"/>
          </a:solidFill>
          <a:ln>
            <a:noFill/>
          </a:ln>
        </p:spPr>
      </p:sp>
      <p:sp>
        <p:nvSpPr>
          <p:cNvPr id="13" name="text 13"/>
          <p:cNvSpPr/>
          <p:nvPr/>
        </p:nvSpPr>
        <p:spPr>
          <a:xfrm>
            <a:off x="1003300" y="3365500"/>
            <a:ext cx="66040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1">
                <a:solidFill>
                  <a:srgbClr val="007E80"/>
                </a:solidFill>
                <a:latin typeface="DejaVu Sans"/>
              </a:rPr>
              <a:t>Adjoint credit</a:t>
            </a:r>
          </a:p>
        </p:txBody>
      </p:sp>
      <p:sp>
        <p:nvSpPr>
          <p:cNvPr id="14" name="text 14"/>
          <p:cNvSpPr/>
          <p:nvPr/>
        </p:nvSpPr>
        <p:spPr>
          <a:xfrm>
            <a:off x="1003300" y="3889375"/>
            <a:ext cx="66040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Differentiate answer loss through the</a:t>
            </a:r>
          </a:p>
        </p:txBody>
      </p:sp>
      <p:sp>
        <p:nvSpPr>
          <p:cNvPr id="15" name="text 15"/>
          <p:cNvSpPr/>
          <p:nvPr/>
        </p:nvSpPr>
        <p:spPr>
          <a:xfrm>
            <a:off x="1003300" y="4286250"/>
            <a:ext cx="66040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frozen transformer. Use the negative</a:t>
            </a:r>
          </a:p>
        </p:txBody>
      </p:sp>
      <p:sp>
        <p:nvSpPr>
          <p:cNvPr id="16" name="text 16"/>
          <p:cNvSpPr/>
          <p:nvPr/>
        </p:nvSpPr>
        <p:spPr>
          <a:xfrm>
            <a:off x="1003300" y="4683125"/>
            <a:ext cx="66040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normalized gradient.</a:t>
            </a:r>
          </a:p>
        </p:txBody>
      </p:sp>
      <p:sp>
        <p:nvSpPr>
          <p:cNvPr id="17" name="rect 17"/>
          <p:cNvSpPr/>
          <p:nvPr/>
        </p:nvSpPr>
        <p:spPr>
          <a:xfrm>
            <a:off x="8216900" y="3111500"/>
            <a:ext cx="7327900" cy="3149600"/>
          </a:xfrm>
          <a:prstGeom prst="rect">
            <a:avLst/>
          </a:prstGeom>
          <a:solidFill>
            <a:srgbClr val="FFFFFF"/>
          </a:solidFill>
          <a:ln>
            <a:noFill/>
          </a:ln>
        </p:spPr>
      </p:sp>
      <p:sp>
        <p:nvSpPr>
          <p:cNvPr id="18" name="rect 18"/>
          <p:cNvSpPr/>
          <p:nvPr/>
        </p:nvSpPr>
        <p:spPr>
          <a:xfrm>
            <a:off x="8216900" y="3111500"/>
            <a:ext cx="63500" cy="3149600"/>
          </a:xfrm>
          <a:prstGeom prst="rect">
            <a:avLst/>
          </a:prstGeom>
          <a:solidFill>
            <a:srgbClr val="675399"/>
          </a:solidFill>
          <a:ln>
            <a:noFill/>
          </a:ln>
        </p:spPr>
      </p:sp>
      <p:sp>
        <p:nvSpPr>
          <p:cNvPr id="19" name="text 19"/>
          <p:cNvSpPr/>
          <p:nvPr/>
        </p:nvSpPr>
        <p:spPr>
          <a:xfrm>
            <a:off x="8509000" y="3365500"/>
            <a:ext cx="67437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1">
                <a:solidFill>
                  <a:srgbClr val="675399"/>
                </a:solidFill>
                <a:latin typeface="DejaVu Sans"/>
              </a:rPr>
              <a:t>Error-based PC credit</a:t>
            </a:r>
          </a:p>
        </p:txBody>
      </p:sp>
      <p:sp>
        <p:nvSpPr>
          <p:cNvPr id="20" name="text 20"/>
          <p:cNvSpPr/>
          <p:nvPr/>
        </p:nvSpPr>
        <p:spPr>
          <a:xfrm>
            <a:off x="8509000" y="3889375"/>
            <a:ext cx="67437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Relax temporary error variables against</a:t>
            </a:r>
          </a:p>
        </p:txBody>
      </p:sp>
      <p:sp>
        <p:nvSpPr>
          <p:cNvPr id="21" name="text 21"/>
          <p:cNvSpPr/>
          <p:nvPr/>
        </p:nvSpPr>
        <p:spPr>
          <a:xfrm>
            <a:off x="8509000" y="4286250"/>
            <a:ext cx="67437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prediction loss and an error penalty. Use</a:t>
            </a:r>
          </a:p>
        </p:txBody>
      </p:sp>
      <p:sp>
        <p:nvSpPr>
          <p:cNvPr id="22" name="text 22"/>
          <p:cNvSpPr/>
          <p:nvPr/>
        </p:nvSpPr>
        <p:spPr>
          <a:xfrm>
            <a:off x="8509000" y="4683125"/>
            <a:ext cx="67437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the settled site errors to direct the</a:t>
            </a:r>
          </a:p>
        </p:txBody>
      </p:sp>
      <p:sp>
        <p:nvSpPr>
          <p:cNvPr id="23" name="text 23"/>
          <p:cNvSpPr/>
          <p:nvPr/>
        </p:nvSpPr>
        <p:spPr>
          <a:xfrm>
            <a:off x="8509000" y="5080000"/>
            <a:ext cx="67437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correction.</a:t>
            </a:r>
          </a:p>
        </p:txBody>
      </p:sp>
      <p:sp>
        <p:nvSpPr>
          <p:cNvPr id="24" name="text 24"/>
          <p:cNvSpPr/>
          <p:nvPr/>
        </p:nvSpPr>
        <p:spPr>
          <a:xfrm>
            <a:off x="736600" y="6629400"/>
            <a:ext cx="14795500" cy="3492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200" b="0">
                <a:solidFill>
                  <a:srgbClr val="162F3B"/>
                </a:solidFill>
                <a:latin typeface="DejaVu Sans"/>
              </a:rPr>
              <a:t>Our digital solver uses automatic differentiation through the graph.</a:t>
            </a:r>
          </a:p>
        </p:txBody>
      </p:sp>
      <p:sp>
        <p:nvSpPr>
          <p:cNvPr id="25" name="text 25"/>
          <p:cNvSpPr/>
          <p:nvPr/>
        </p:nvSpPr>
        <p:spPr>
          <a:xfrm>
            <a:off x="736600" y="7105650"/>
            <a:ext cx="14795500" cy="3492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200" b="0">
                <a:solidFill>
                  <a:srgbClr val="162F3B"/>
                </a:solidFill>
                <a:latin typeface="DejaVu Sans"/>
              </a:rPr>
              <a:t>We separately tested PC credit for acquiring facts and for training the reader/controller.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16256000" cy="9144000"/>
          </a:xfrm>
          <a:prstGeom prst="rect">
            <a:avLst/>
          </a:prstGeom>
          <a:solidFill>
            <a:srgbClr val="FAFAF7"/>
          </a:solidFill>
          <a:ln>
            <a:noFill/>
          </a:ln>
        </p:spPr>
      </p:sp>
      <p:sp>
        <p:nvSpPr>
          <p:cNvPr id="3" name="rect 3"/>
          <p:cNvSpPr/>
          <p:nvPr/>
        </p:nvSpPr>
        <p:spPr>
          <a:xfrm>
            <a:off x="0" y="0"/>
            <a:ext cx="16256000" cy="88900"/>
          </a:xfrm>
          <a:prstGeom prst="rect">
            <a:avLst/>
          </a:prstGeom>
          <a:solidFill>
            <a:srgbClr val="007E80"/>
          </a:solidFill>
          <a:ln>
            <a:noFill/>
          </a:ln>
        </p:spPr>
      </p:sp>
      <p:sp>
        <p:nvSpPr>
          <p:cNvPr id="4" name="text 4"/>
          <p:cNvSpPr/>
          <p:nvPr/>
        </p:nvSpPr>
        <p:spPr>
          <a:xfrm>
            <a:off x="685800" y="355600"/>
            <a:ext cx="14884400" cy="2222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400" b="1">
                <a:solidFill>
                  <a:srgbClr val="007E80"/>
                </a:solidFill>
                <a:latin typeface="DejaVu Sans"/>
              </a:rPr>
              <a:t>Fixed GPT-2 and selected reader · one exposed fact sample/order · 300 edits</a:t>
            </a:r>
          </a:p>
        </p:txBody>
      </p:sp>
      <p:sp>
        <p:nvSpPr>
          <p:cNvPr id="5" name="text 5"/>
          <p:cNvSpPr/>
          <p:nvPr/>
        </p:nvSpPr>
        <p:spPr>
          <a:xfrm>
            <a:off x="685800" y="850900"/>
            <a:ext cx="14884400" cy="555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3500" b="1">
                <a:solidFill>
                  <a:srgbClr val="162F3B"/>
                </a:solidFill>
                <a:latin typeface="DejaVu Sans"/>
              </a:rPr>
              <a:t>Changing acquisition credit gave little retention gain</a:t>
            </a:r>
          </a:p>
        </p:txBody>
      </p:sp>
      <p:sp>
        <p:nvSpPr>
          <p:cNvPr id="6" name="rect 6"/>
          <p:cNvSpPr/>
          <p:nvPr/>
        </p:nvSpPr>
        <p:spPr>
          <a:xfrm>
            <a:off x="685800" y="7797800"/>
            <a:ext cx="14884400" cy="762000"/>
          </a:xfrm>
          <a:prstGeom prst="rect">
            <a:avLst/>
          </a:prstGeom>
          <a:solidFill>
            <a:srgbClr val="EAF3F1"/>
          </a:solidFill>
          <a:ln>
            <a:noFill/>
          </a:ln>
        </p:spPr>
      </p:sp>
      <p:sp>
        <p:nvSpPr>
          <p:cNvPr id="7" name="text 7"/>
          <p:cNvSpPr/>
          <p:nvPr/>
        </p:nvSpPr>
        <p:spPr>
          <a:xfrm>
            <a:off x="914400" y="7937500"/>
            <a:ext cx="144272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162F3B"/>
                </a:solidFill>
                <a:latin typeface="DejaVu Sans"/>
              </a:rPr>
              <a:t>This changes how facts are acquired; it does not retrain the reader.</a:t>
            </a:r>
          </a:p>
        </p:txBody>
      </p:sp>
      <p:sp>
        <p:nvSpPr>
          <p:cNvPr id="8" name="text 8"/>
          <p:cNvSpPr/>
          <p:nvPr/>
        </p:nvSpPr>
        <p:spPr>
          <a:xfrm>
            <a:off x="698500" y="8788400"/>
            <a:ext cx="13716000" cy="166688"/>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050" b="0">
                <a:solidFill>
                  <a:srgbClr val="52666F"/>
                </a:solidFill>
                <a:latin typeface="DejaVu Sans"/>
              </a:rPr>
              <a:t>Source: PC-v1 completed report; full ordinary-text inventory.</a:t>
            </a:r>
          </a:p>
        </p:txBody>
      </p:sp>
      <p:sp>
        <p:nvSpPr>
          <p:cNvPr id="9" name="text 9"/>
          <p:cNvSpPr/>
          <p:nvPr/>
        </p:nvSpPr>
        <p:spPr>
          <a:xfrm>
            <a:off x="14541500" y="8788400"/>
            <a:ext cx="1079500" cy="190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200" b="0">
                <a:solidFill>
                  <a:srgbClr val="52666F"/>
                </a:solidFill>
                <a:latin typeface="DejaVu Sans"/>
              </a:rPr>
              <a:t>09 / 15</a:t>
            </a:r>
          </a:p>
        </p:txBody>
      </p:sp>
      <p:sp>
        <p:nvSpPr>
          <p:cNvPr id="10" name="rect 10"/>
          <p:cNvSpPr/>
          <p:nvPr/>
        </p:nvSpPr>
        <p:spPr>
          <a:xfrm>
            <a:off x="711200" y="2362200"/>
            <a:ext cx="14833600" cy="939800"/>
          </a:xfrm>
          <a:prstGeom prst="rect">
            <a:avLst/>
          </a:prstGeom>
          <a:solidFill>
            <a:srgbClr val="162F3B"/>
          </a:solidFill>
          <a:ln>
            <a:noFill/>
          </a:ln>
        </p:spPr>
      </p:sp>
      <p:sp>
        <p:nvSpPr>
          <p:cNvPr id="11" name="text 11"/>
          <p:cNvSpPr/>
          <p:nvPr/>
        </p:nvSpPr>
        <p:spPr>
          <a:xfrm>
            <a:off x="876300" y="2673350"/>
            <a:ext cx="2247900" cy="317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000" b="1">
                <a:solidFill>
                  <a:srgbClr val="FFFFFF"/>
                </a:solidFill>
                <a:latin typeface="DejaVu Sans"/>
              </a:rPr>
              <a:t>Dataset</a:t>
            </a:r>
          </a:p>
        </p:txBody>
      </p:sp>
      <p:sp>
        <p:nvSpPr>
          <p:cNvPr id="12" name="text 12"/>
          <p:cNvSpPr/>
          <p:nvPr/>
        </p:nvSpPr>
        <p:spPr>
          <a:xfrm>
            <a:off x="3454400" y="2673350"/>
            <a:ext cx="2565400" cy="317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000" b="1">
                <a:solidFill>
                  <a:srgbClr val="FFFFFF"/>
                </a:solidFill>
                <a:latin typeface="DejaVu Sans"/>
              </a:rPr>
              <a:t>Credit</a:t>
            </a:r>
          </a:p>
        </p:txBody>
      </p:sp>
      <p:sp>
        <p:nvSpPr>
          <p:cNvPr id="13" name="text 13"/>
          <p:cNvSpPr/>
          <p:nvPr/>
        </p:nvSpPr>
        <p:spPr>
          <a:xfrm>
            <a:off x="6350000" y="2514600"/>
            <a:ext cx="2590800" cy="317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000" b="1">
                <a:solidFill>
                  <a:srgbClr val="FFFFFF"/>
                </a:solidFill>
                <a:latin typeface="DejaVu Sans"/>
              </a:rPr>
              <a:t>Paraphrase</a:t>
            </a:r>
          </a:p>
        </p:txBody>
      </p:sp>
      <p:sp>
        <p:nvSpPr>
          <p:cNvPr id="14" name="text 14"/>
          <p:cNvSpPr/>
          <p:nvPr/>
        </p:nvSpPr>
        <p:spPr>
          <a:xfrm>
            <a:off x="6350000" y="2832100"/>
            <a:ext cx="2590800" cy="317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000" b="1">
                <a:solidFill>
                  <a:srgbClr val="FFFFFF"/>
                </a:solidFill>
                <a:latin typeface="DejaVu Sans"/>
              </a:rPr>
              <a:t>retention</a:t>
            </a:r>
          </a:p>
        </p:txBody>
      </p:sp>
      <p:sp>
        <p:nvSpPr>
          <p:cNvPr id="15" name="text 15"/>
          <p:cNvSpPr/>
          <p:nvPr/>
        </p:nvSpPr>
        <p:spPr>
          <a:xfrm>
            <a:off x="9271000" y="2514600"/>
            <a:ext cx="2451100" cy="317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000" b="1">
                <a:solidFill>
                  <a:srgbClr val="FFFFFF"/>
                </a:solidFill>
                <a:latin typeface="DejaVu Sans"/>
              </a:rPr>
              <a:t>Whole-process</a:t>
            </a:r>
          </a:p>
        </p:txBody>
      </p:sp>
      <p:sp>
        <p:nvSpPr>
          <p:cNvPr id="16" name="text 16"/>
          <p:cNvSpPr/>
          <p:nvPr/>
        </p:nvSpPr>
        <p:spPr>
          <a:xfrm>
            <a:off x="9271000" y="2832100"/>
            <a:ext cx="2451100" cy="317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000" b="1">
                <a:solidFill>
                  <a:srgbClr val="FFFFFF"/>
                </a:solidFill>
                <a:latin typeface="DejaVu Sans"/>
              </a:rPr>
              <a:t>time</a:t>
            </a:r>
          </a:p>
        </p:txBody>
      </p:sp>
      <p:sp>
        <p:nvSpPr>
          <p:cNvPr id="17" name="text 17"/>
          <p:cNvSpPr/>
          <p:nvPr/>
        </p:nvSpPr>
        <p:spPr>
          <a:xfrm>
            <a:off x="12052300" y="2514600"/>
            <a:ext cx="3327400" cy="317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000" b="1">
                <a:solidFill>
                  <a:srgbClr val="FFFFFF"/>
                </a:solidFill>
                <a:latin typeface="DejaVu Sans"/>
              </a:rPr>
              <a:t>Max. loss increase vs.</a:t>
            </a:r>
          </a:p>
        </p:txBody>
      </p:sp>
      <p:sp>
        <p:nvSpPr>
          <p:cNvPr id="18" name="text 18"/>
          <p:cNvSpPr/>
          <p:nvPr/>
        </p:nvSpPr>
        <p:spPr>
          <a:xfrm>
            <a:off x="12052300" y="2832100"/>
            <a:ext cx="3327400" cy="317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000" b="1">
                <a:solidFill>
                  <a:srgbClr val="FFFFFF"/>
                </a:solidFill>
                <a:latin typeface="DejaVu Sans"/>
              </a:rPr>
              <a:t>base</a:t>
            </a:r>
          </a:p>
        </p:txBody>
      </p:sp>
      <p:sp>
        <p:nvSpPr>
          <p:cNvPr id="19" name="rect 19"/>
          <p:cNvSpPr/>
          <p:nvPr/>
        </p:nvSpPr>
        <p:spPr>
          <a:xfrm>
            <a:off x="711200" y="3302000"/>
            <a:ext cx="14833600" cy="838200"/>
          </a:xfrm>
          <a:prstGeom prst="rect">
            <a:avLst/>
          </a:prstGeom>
          <a:solidFill>
            <a:srgbClr val="FFFFFF"/>
          </a:solidFill>
          <a:ln>
            <a:noFill/>
          </a:ln>
        </p:spPr>
      </p:sp>
      <p:sp>
        <p:nvSpPr>
          <p:cNvPr id="20" name="path 20"/>
          <p:cNvSpPr/>
          <p:nvPr/>
        </p:nvSpPr>
        <p:spPr>
          <a:xfrm>
            <a:off x="711200" y="4140200"/>
            <a:ext cx="14833600" cy="127"/>
          </a:xfrm>
          <a:custGeom>
            <a:avLst/>
            <a:gdLst/>
            <a:ahLst/>
            <a:cxnLst/>
            <a:rect l="0" t="0" r="r" b="b"/>
            <a:pathLst>
              <a:path w="14833600" h="127" fill="none">
                <a:moveTo>
                  <a:pt x="0" y="0"/>
                </a:moveTo>
                <a:lnTo>
                  <a:pt x="14833600" y="0"/>
                </a:lnTo>
              </a:path>
            </a:pathLst>
          </a:custGeom>
          <a:noFill/>
          <a:ln w="8890">
            <a:solidFill>
              <a:srgbClr val="D8E1E2"/>
            </a:solidFill>
            <a:prstDash val="solid"/>
          </a:ln>
        </p:spPr>
      </p:sp>
      <p:sp>
        <p:nvSpPr>
          <p:cNvPr id="21" name="text 21"/>
          <p:cNvSpPr/>
          <p:nvPr/>
        </p:nvSpPr>
        <p:spPr>
          <a:xfrm>
            <a:off x="876300" y="3522662"/>
            <a:ext cx="22479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zsRE</a:t>
            </a:r>
          </a:p>
        </p:txBody>
      </p:sp>
      <p:sp>
        <p:nvSpPr>
          <p:cNvPr id="22" name="text 22"/>
          <p:cNvSpPr/>
          <p:nvPr/>
        </p:nvSpPr>
        <p:spPr>
          <a:xfrm>
            <a:off x="3454400" y="3522662"/>
            <a:ext cx="25654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Adjoint</a:t>
            </a:r>
          </a:p>
        </p:txBody>
      </p:sp>
      <p:sp>
        <p:nvSpPr>
          <p:cNvPr id="23" name="text 23"/>
          <p:cNvSpPr/>
          <p:nvPr/>
        </p:nvSpPr>
        <p:spPr>
          <a:xfrm>
            <a:off x="6350000" y="3522662"/>
            <a:ext cx="25908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98.3%</a:t>
            </a:r>
          </a:p>
        </p:txBody>
      </p:sp>
      <p:sp>
        <p:nvSpPr>
          <p:cNvPr id="24" name="text 24"/>
          <p:cNvSpPr/>
          <p:nvPr/>
        </p:nvSpPr>
        <p:spPr>
          <a:xfrm>
            <a:off x="9271000" y="3522662"/>
            <a:ext cx="24511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316 s</a:t>
            </a:r>
          </a:p>
        </p:txBody>
      </p:sp>
      <p:sp>
        <p:nvSpPr>
          <p:cNvPr id="25" name="text 25"/>
          <p:cNvSpPr/>
          <p:nvPr/>
        </p:nvSpPr>
        <p:spPr>
          <a:xfrm>
            <a:off x="12052300" y="3522662"/>
            <a:ext cx="33274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9.26 nats</a:t>
            </a:r>
          </a:p>
        </p:txBody>
      </p:sp>
      <p:sp>
        <p:nvSpPr>
          <p:cNvPr id="26" name="rect 26"/>
          <p:cNvSpPr/>
          <p:nvPr/>
        </p:nvSpPr>
        <p:spPr>
          <a:xfrm>
            <a:off x="711200" y="4140200"/>
            <a:ext cx="14833600" cy="838200"/>
          </a:xfrm>
          <a:prstGeom prst="rect">
            <a:avLst/>
          </a:prstGeom>
          <a:solidFill>
            <a:srgbClr val="EEF3F3"/>
          </a:solidFill>
          <a:ln>
            <a:noFill/>
          </a:ln>
        </p:spPr>
      </p:sp>
      <p:sp>
        <p:nvSpPr>
          <p:cNvPr id="27" name="path 27"/>
          <p:cNvSpPr/>
          <p:nvPr/>
        </p:nvSpPr>
        <p:spPr>
          <a:xfrm>
            <a:off x="711200" y="4978400"/>
            <a:ext cx="14833600" cy="127"/>
          </a:xfrm>
          <a:custGeom>
            <a:avLst/>
            <a:gdLst/>
            <a:ahLst/>
            <a:cxnLst/>
            <a:rect l="0" t="0" r="r" b="b"/>
            <a:pathLst>
              <a:path w="14833600" h="127" fill="none">
                <a:moveTo>
                  <a:pt x="0" y="0"/>
                </a:moveTo>
                <a:lnTo>
                  <a:pt x="14833600" y="0"/>
                </a:lnTo>
              </a:path>
            </a:pathLst>
          </a:custGeom>
          <a:noFill/>
          <a:ln w="8890">
            <a:solidFill>
              <a:srgbClr val="D8E1E2"/>
            </a:solidFill>
            <a:prstDash val="solid"/>
          </a:ln>
        </p:spPr>
      </p:sp>
      <p:sp>
        <p:nvSpPr>
          <p:cNvPr id="28" name="text 28"/>
          <p:cNvSpPr/>
          <p:nvPr/>
        </p:nvSpPr>
        <p:spPr>
          <a:xfrm>
            <a:off x="876300" y="4360862"/>
            <a:ext cx="22479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zsRE</a:t>
            </a:r>
          </a:p>
        </p:txBody>
      </p:sp>
      <p:sp>
        <p:nvSpPr>
          <p:cNvPr id="29" name="text 29"/>
          <p:cNvSpPr/>
          <p:nvPr/>
        </p:nvSpPr>
        <p:spPr>
          <a:xfrm>
            <a:off x="3454400" y="4360862"/>
            <a:ext cx="25654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Error inference</a:t>
            </a:r>
          </a:p>
        </p:txBody>
      </p:sp>
      <p:sp>
        <p:nvSpPr>
          <p:cNvPr id="30" name="text 30"/>
          <p:cNvSpPr/>
          <p:nvPr/>
        </p:nvSpPr>
        <p:spPr>
          <a:xfrm>
            <a:off x="6350000" y="4360862"/>
            <a:ext cx="25908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98.3%</a:t>
            </a:r>
          </a:p>
        </p:txBody>
      </p:sp>
      <p:sp>
        <p:nvSpPr>
          <p:cNvPr id="31" name="text 31"/>
          <p:cNvSpPr/>
          <p:nvPr/>
        </p:nvSpPr>
        <p:spPr>
          <a:xfrm>
            <a:off x="9271000" y="4360862"/>
            <a:ext cx="24511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426 s</a:t>
            </a:r>
          </a:p>
        </p:txBody>
      </p:sp>
      <p:sp>
        <p:nvSpPr>
          <p:cNvPr id="32" name="text 32"/>
          <p:cNvSpPr/>
          <p:nvPr/>
        </p:nvSpPr>
        <p:spPr>
          <a:xfrm>
            <a:off x="12052300" y="4360862"/>
            <a:ext cx="33274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12.27 nats</a:t>
            </a:r>
          </a:p>
        </p:txBody>
      </p:sp>
      <p:sp>
        <p:nvSpPr>
          <p:cNvPr id="33" name="rect 33"/>
          <p:cNvSpPr/>
          <p:nvPr/>
        </p:nvSpPr>
        <p:spPr>
          <a:xfrm>
            <a:off x="711200" y="4978400"/>
            <a:ext cx="14833600" cy="838200"/>
          </a:xfrm>
          <a:prstGeom prst="rect">
            <a:avLst/>
          </a:prstGeom>
          <a:solidFill>
            <a:srgbClr val="FFFFFF"/>
          </a:solidFill>
          <a:ln>
            <a:noFill/>
          </a:ln>
        </p:spPr>
      </p:sp>
      <p:sp>
        <p:nvSpPr>
          <p:cNvPr id="34" name="path 34"/>
          <p:cNvSpPr/>
          <p:nvPr/>
        </p:nvSpPr>
        <p:spPr>
          <a:xfrm>
            <a:off x="711200" y="5816600"/>
            <a:ext cx="14833600" cy="127"/>
          </a:xfrm>
          <a:custGeom>
            <a:avLst/>
            <a:gdLst/>
            <a:ahLst/>
            <a:cxnLst/>
            <a:rect l="0" t="0" r="r" b="b"/>
            <a:pathLst>
              <a:path w="14833600" h="127" fill="none">
                <a:moveTo>
                  <a:pt x="0" y="0"/>
                </a:moveTo>
                <a:lnTo>
                  <a:pt x="14833600" y="0"/>
                </a:lnTo>
              </a:path>
            </a:pathLst>
          </a:custGeom>
          <a:noFill/>
          <a:ln w="8890">
            <a:solidFill>
              <a:srgbClr val="D8E1E2"/>
            </a:solidFill>
            <a:prstDash val="solid"/>
          </a:ln>
        </p:spPr>
      </p:sp>
      <p:sp>
        <p:nvSpPr>
          <p:cNvPr id="35" name="text 35"/>
          <p:cNvSpPr/>
          <p:nvPr/>
        </p:nvSpPr>
        <p:spPr>
          <a:xfrm>
            <a:off x="876300" y="5199062"/>
            <a:ext cx="22479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CounterFact</a:t>
            </a:r>
          </a:p>
        </p:txBody>
      </p:sp>
      <p:sp>
        <p:nvSpPr>
          <p:cNvPr id="36" name="text 36"/>
          <p:cNvSpPr/>
          <p:nvPr/>
        </p:nvSpPr>
        <p:spPr>
          <a:xfrm>
            <a:off x="3454400" y="5199062"/>
            <a:ext cx="25654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Adjoint</a:t>
            </a:r>
          </a:p>
        </p:txBody>
      </p:sp>
      <p:sp>
        <p:nvSpPr>
          <p:cNvPr id="37" name="text 37"/>
          <p:cNvSpPr/>
          <p:nvPr/>
        </p:nvSpPr>
        <p:spPr>
          <a:xfrm>
            <a:off x="6350000" y="5199062"/>
            <a:ext cx="25908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80.7%</a:t>
            </a:r>
          </a:p>
        </p:txBody>
      </p:sp>
      <p:sp>
        <p:nvSpPr>
          <p:cNvPr id="38" name="text 38"/>
          <p:cNvSpPr/>
          <p:nvPr/>
        </p:nvSpPr>
        <p:spPr>
          <a:xfrm>
            <a:off x="9271000" y="5199062"/>
            <a:ext cx="24511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297 s</a:t>
            </a:r>
          </a:p>
        </p:txBody>
      </p:sp>
      <p:sp>
        <p:nvSpPr>
          <p:cNvPr id="39" name="text 39"/>
          <p:cNvSpPr/>
          <p:nvPr/>
        </p:nvSpPr>
        <p:spPr>
          <a:xfrm>
            <a:off x="12052300" y="5199062"/>
            <a:ext cx="33274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11.74 nats</a:t>
            </a:r>
          </a:p>
        </p:txBody>
      </p:sp>
      <p:sp>
        <p:nvSpPr>
          <p:cNvPr id="40" name="rect 40"/>
          <p:cNvSpPr/>
          <p:nvPr/>
        </p:nvSpPr>
        <p:spPr>
          <a:xfrm>
            <a:off x="711200" y="5816600"/>
            <a:ext cx="14833600" cy="838200"/>
          </a:xfrm>
          <a:prstGeom prst="rect">
            <a:avLst/>
          </a:prstGeom>
          <a:solidFill>
            <a:srgbClr val="EEF3F3"/>
          </a:solidFill>
          <a:ln>
            <a:noFill/>
          </a:ln>
        </p:spPr>
      </p:sp>
      <p:sp>
        <p:nvSpPr>
          <p:cNvPr id="41" name="path 41"/>
          <p:cNvSpPr/>
          <p:nvPr/>
        </p:nvSpPr>
        <p:spPr>
          <a:xfrm>
            <a:off x="711200" y="6654800"/>
            <a:ext cx="14833600" cy="127"/>
          </a:xfrm>
          <a:custGeom>
            <a:avLst/>
            <a:gdLst/>
            <a:ahLst/>
            <a:cxnLst/>
            <a:rect l="0" t="0" r="r" b="b"/>
            <a:pathLst>
              <a:path w="14833600" h="127" fill="none">
                <a:moveTo>
                  <a:pt x="0" y="0"/>
                </a:moveTo>
                <a:lnTo>
                  <a:pt x="14833600" y="0"/>
                </a:lnTo>
              </a:path>
            </a:pathLst>
          </a:custGeom>
          <a:noFill/>
          <a:ln w="8890">
            <a:solidFill>
              <a:srgbClr val="D8E1E2"/>
            </a:solidFill>
            <a:prstDash val="solid"/>
          </a:ln>
        </p:spPr>
      </p:sp>
      <p:sp>
        <p:nvSpPr>
          <p:cNvPr id="42" name="text 42"/>
          <p:cNvSpPr/>
          <p:nvPr/>
        </p:nvSpPr>
        <p:spPr>
          <a:xfrm>
            <a:off x="876300" y="6037262"/>
            <a:ext cx="22479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CounterFact</a:t>
            </a:r>
          </a:p>
        </p:txBody>
      </p:sp>
      <p:sp>
        <p:nvSpPr>
          <p:cNvPr id="43" name="text 43"/>
          <p:cNvSpPr/>
          <p:nvPr/>
        </p:nvSpPr>
        <p:spPr>
          <a:xfrm>
            <a:off x="3454400" y="6037262"/>
            <a:ext cx="25654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Error inference</a:t>
            </a:r>
          </a:p>
        </p:txBody>
      </p:sp>
      <p:sp>
        <p:nvSpPr>
          <p:cNvPr id="44" name="text 44"/>
          <p:cNvSpPr/>
          <p:nvPr/>
        </p:nvSpPr>
        <p:spPr>
          <a:xfrm>
            <a:off x="6350000" y="6037262"/>
            <a:ext cx="25908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80.3%</a:t>
            </a:r>
          </a:p>
        </p:txBody>
      </p:sp>
      <p:sp>
        <p:nvSpPr>
          <p:cNvPr id="45" name="text 45"/>
          <p:cNvSpPr/>
          <p:nvPr/>
        </p:nvSpPr>
        <p:spPr>
          <a:xfrm>
            <a:off x="9271000" y="6037262"/>
            <a:ext cx="24511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359 s</a:t>
            </a:r>
          </a:p>
        </p:txBody>
      </p:sp>
      <p:sp>
        <p:nvSpPr>
          <p:cNvPr id="46" name="text 46"/>
          <p:cNvSpPr/>
          <p:nvPr/>
        </p:nvSpPr>
        <p:spPr>
          <a:xfrm>
            <a:off x="12052300" y="6037262"/>
            <a:ext cx="33274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12.23 nats</a:t>
            </a:r>
          </a:p>
        </p:txBody>
      </p:sp>
      <p:sp>
        <p:nvSpPr>
          <p:cNvPr id="47" name="text 47"/>
          <p:cNvSpPr/>
          <p:nvPr/>
        </p:nvSpPr>
        <p:spPr>
          <a:xfrm>
            <a:off x="749300" y="6972300"/>
            <a:ext cx="14732000" cy="3492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200" b="0">
                <a:solidFill>
                  <a:srgbClr val="162F3B"/>
                </a:solidFill>
                <a:latin typeface="DejaVu Sans"/>
              </a:rPr>
              <a:t>Mean harm moved in different directions across the two datasets. Small endpoint differences do not</a:t>
            </a:r>
          </a:p>
        </p:txBody>
      </p:sp>
      <p:sp>
        <p:nvSpPr>
          <p:cNvPr id="48" name="text 48"/>
          <p:cNvSpPr/>
          <p:nvPr/>
        </p:nvSpPr>
        <p:spPr>
          <a:xfrm>
            <a:off x="749300" y="7321550"/>
            <a:ext cx="14732000" cy="3492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200" b="0">
                <a:solidFill>
                  <a:srgbClr val="162F3B"/>
                </a:solidFill>
                <a:latin typeface="DejaVu Sans"/>
              </a:rPr>
              <a:t>prove equivalence.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16256000" cy="9144000"/>
          </a:xfrm>
          <a:prstGeom prst="rect">
            <a:avLst/>
          </a:prstGeom>
          <a:solidFill>
            <a:srgbClr val="FAFAF7"/>
          </a:solidFill>
          <a:ln>
            <a:noFill/>
          </a:ln>
        </p:spPr>
      </p:sp>
      <p:sp>
        <p:nvSpPr>
          <p:cNvPr id="3" name="rect 3"/>
          <p:cNvSpPr/>
          <p:nvPr/>
        </p:nvSpPr>
        <p:spPr>
          <a:xfrm>
            <a:off x="0" y="0"/>
            <a:ext cx="16256000" cy="88900"/>
          </a:xfrm>
          <a:prstGeom prst="rect">
            <a:avLst/>
          </a:prstGeom>
          <a:solidFill>
            <a:srgbClr val="007E80"/>
          </a:solidFill>
          <a:ln>
            <a:noFill/>
          </a:ln>
        </p:spPr>
      </p:sp>
      <p:sp>
        <p:nvSpPr>
          <p:cNvPr id="4" name="text 4"/>
          <p:cNvSpPr/>
          <p:nvPr/>
        </p:nvSpPr>
        <p:spPr>
          <a:xfrm>
            <a:off x="685800" y="355600"/>
            <a:ext cx="14884400" cy="2222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400" b="1">
                <a:solidFill>
                  <a:srgbClr val="007E80"/>
                </a:solidFill>
                <a:latin typeface="DejaVu Sans"/>
              </a:rPr>
              <a:t>Three paired training seeds · same exposed fact sample/order · 300 edits</a:t>
            </a:r>
          </a:p>
        </p:txBody>
      </p:sp>
      <p:sp>
        <p:nvSpPr>
          <p:cNvPr id="5" name="text 5"/>
          <p:cNvSpPr/>
          <p:nvPr/>
        </p:nvSpPr>
        <p:spPr>
          <a:xfrm>
            <a:off x="685800" y="850900"/>
            <a:ext cx="14884400" cy="555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3500" b="1">
                <a:solidFill>
                  <a:srgbClr val="162F3B"/>
                </a:solidFill>
                <a:latin typeface="DejaVu Sans"/>
              </a:rPr>
              <a:t>PC training reduced paraphrase retention in 5 of 6 pairs</a:t>
            </a:r>
          </a:p>
        </p:txBody>
      </p:sp>
      <p:sp>
        <p:nvSpPr>
          <p:cNvPr id="6" name="rect 6"/>
          <p:cNvSpPr/>
          <p:nvPr/>
        </p:nvSpPr>
        <p:spPr>
          <a:xfrm>
            <a:off x="685800" y="7797800"/>
            <a:ext cx="14884400" cy="762000"/>
          </a:xfrm>
          <a:prstGeom prst="rect">
            <a:avLst/>
          </a:prstGeom>
          <a:solidFill>
            <a:srgbClr val="EAF3F1"/>
          </a:solidFill>
          <a:ln>
            <a:noFill/>
          </a:ln>
        </p:spPr>
      </p:sp>
      <p:sp>
        <p:nvSpPr>
          <p:cNvPr id="7" name="text 7"/>
          <p:cNvSpPr/>
          <p:nvPr/>
        </p:nvSpPr>
        <p:spPr>
          <a:xfrm>
            <a:off x="914400" y="7937500"/>
            <a:ext cx="144272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162F3B"/>
                </a:solidFill>
                <a:latin typeface="DejaVu Sans"/>
              </a:rPr>
              <a:t>Some harm measures improved, but PC was much more costly in this configuration.</a:t>
            </a:r>
          </a:p>
        </p:txBody>
      </p:sp>
      <p:sp>
        <p:nvSpPr>
          <p:cNvPr id="8" name="text 8"/>
          <p:cNvSpPr/>
          <p:nvPr/>
        </p:nvSpPr>
        <p:spPr>
          <a:xfrm>
            <a:off x="698500" y="8788400"/>
            <a:ext cx="13716000" cy="166688"/>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050" b="0">
                <a:solidFill>
                  <a:srgbClr val="52666F"/>
                </a:solidFill>
                <a:latin typeface="DejaVu Sans"/>
              </a:rPr>
              <a:t>Source: Completed PC-reader report. Training seeds are not new fact samples.</a:t>
            </a:r>
          </a:p>
        </p:txBody>
      </p:sp>
      <p:sp>
        <p:nvSpPr>
          <p:cNvPr id="9" name="text 9"/>
          <p:cNvSpPr/>
          <p:nvPr/>
        </p:nvSpPr>
        <p:spPr>
          <a:xfrm>
            <a:off x="14541500" y="8788400"/>
            <a:ext cx="1079500" cy="190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200" b="0">
                <a:solidFill>
                  <a:srgbClr val="52666F"/>
                </a:solidFill>
                <a:latin typeface="DejaVu Sans"/>
              </a:rPr>
              <a:t>10 / 15</a:t>
            </a:r>
          </a:p>
        </p:txBody>
      </p:sp>
      <p:sp>
        <p:nvSpPr>
          <p:cNvPr id="10" name="rect 10"/>
          <p:cNvSpPr/>
          <p:nvPr/>
        </p:nvSpPr>
        <p:spPr>
          <a:xfrm>
            <a:off x="711200" y="2362200"/>
            <a:ext cx="8229600" cy="736600"/>
          </a:xfrm>
          <a:prstGeom prst="rect">
            <a:avLst/>
          </a:prstGeom>
          <a:solidFill>
            <a:srgbClr val="162F3B"/>
          </a:solidFill>
          <a:ln>
            <a:noFill/>
          </a:ln>
        </p:spPr>
      </p:sp>
      <p:sp>
        <p:nvSpPr>
          <p:cNvPr id="11" name="text 11"/>
          <p:cNvSpPr/>
          <p:nvPr/>
        </p:nvSpPr>
        <p:spPr>
          <a:xfrm>
            <a:off x="876300" y="2563812"/>
            <a:ext cx="30734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FFFFFF"/>
                </a:solidFill>
                <a:latin typeface="DejaVu Sans"/>
              </a:rPr>
              <a:t>Dataset and seed</a:t>
            </a:r>
          </a:p>
        </p:txBody>
      </p:sp>
      <p:sp>
        <p:nvSpPr>
          <p:cNvPr id="12" name="text 12"/>
          <p:cNvSpPr/>
          <p:nvPr/>
        </p:nvSpPr>
        <p:spPr>
          <a:xfrm>
            <a:off x="4279900" y="2563812"/>
            <a:ext cx="20828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FFFFFF"/>
                </a:solidFill>
                <a:latin typeface="DejaVu Sans"/>
              </a:rPr>
              <a:t>BP retention</a:t>
            </a:r>
          </a:p>
        </p:txBody>
      </p:sp>
      <p:sp>
        <p:nvSpPr>
          <p:cNvPr id="13" name="text 13"/>
          <p:cNvSpPr/>
          <p:nvPr/>
        </p:nvSpPr>
        <p:spPr>
          <a:xfrm>
            <a:off x="6692900" y="2563812"/>
            <a:ext cx="20828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FFFFFF"/>
                </a:solidFill>
                <a:latin typeface="DejaVu Sans"/>
              </a:rPr>
              <a:t>ePC retention</a:t>
            </a:r>
          </a:p>
        </p:txBody>
      </p:sp>
      <p:sp>
        <p:nvSpPr>
          <p:cNvPr id="14" name="rect 14"/>
          <p:cNvSpPr/>
          <p:nvPr/>
        </p:nvSpPr>
        <p:spPr>
          <a:xfrm>
            <a:off x="711200" y="3098800"/>
            <a:ext cx="8229600" cy="698500"/>
          </a:xfrm>
          <a:prstGeom prst="rect">
            <a:avLst/>
          </a:prstGeom>
          <a:solidFill>
            <a:srgbClr val="FFFFFF"/>
          </a:solidFill>
          <a:ln>
            <a:noFill/>
          </a:ln>
        </p:spPr>
      </p:sp>
      <p:sp>
        <p:nvSpPr>
          <p:cNvPr id="15" name="path 15"/>
          <p:cNvSpPr/>
          <p:nvPr/>
        </p:nvSpPr>
        <p:spPr>
          <a:xfrm>
            <a:off x="711200" y="3797300"/>
            <a:ext cx="8229600" cy="127"/>
          </a:xfrm>
          <a:custGeom>
            <a:avLst/>
            <a:gdLst/>
            <a:ahLst/>
            <a:cxnLst/>
            <a:rect l="0" t="0" r="r" b="b"/>
            <a:pathLst>
              <a:path w="8229600" h="127" fill="none">
                <a:moveTo>
                  <a:pt x="0" y="0"/>
                </a:moveTo>
                <a:lnTo>
                  <a:pt x="8229600" y="0"/>
                </a:lnTo>
              </a:path>
            </a:pathLst>
          </a:custGeom>
          <a:noFill/>
          <a:ln w="8890">
            <a:solidFill>
              <a:srgbClr val="D8E1E2"/>
            </a:solidFill>
            <a:prstDash val="solid"/>
          </a:ln>
        </p:spPr>
      </p:sp>
      <p:sp>
        <p:nvSpPr>
          <p:cNvPr id="16" name="text 16"/>
          <p:cNvSpPr/>
          <p:nvPr/>
        </p:nvSpPr>
        <p:spPr>
          <a:xfrm>
            <a:off x="876300" y="3257550"/>
            <a:ext cx="30734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zsRE · 0</a:t>
            </a:r>
          </a:p>
        </p:txBody>
      </p:sp>
      <p:sp>
        <p:nvSpPr>
          <p:cNvPr id="17" name="text 17"/>
          <p:cNvSpPr/>
          <p:nvPr/>
        </p:nvSpPr>
        <p:spPr>
          <a:xfrm>
            <a:off x="4279900" y="3257550"/>
            <a:ext cx="20828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97.3%</a:t>
            </a:r>
          </a:p>
        </p:txBody>
      </p:sp>
      <p:sp>
        <p:nvSpPr>
          <p:cNvPr id="18" name="text 18"/>
          <p:cNvSpPr/>
          <p:nvPr/>
        </p:nvSpPr>
        <p:spPr>
          <a:xfrm>
            <a:off x="6692900" y="3257550"/>
            <a:ext cx="20828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1">
                <a:solidFill>
                  <a:srgbClr val="007E80"/>
                </a:solidFill>
                <a:latin typeface="DejaVu Sans"/>
              </a:rPr>
              <a:t>94.7%</a:t>
            </a:r>
          </a:p>
        </p:txBody>
      </p:sp>
      <p:sp>
        <p:nvSpPr>
          <p:cNvPr id="19" name="rect 19"/>
          <p:cNvSpPr/>
          <p:nvPr/>
        </p:nvSpPr>
        <p:spPr>
          <a:xfrm>
            <a:off x="711200" y="3797300"/>
            <a:ext cx="8229600" cy="698500"/>
          </a:xfrm>
          <a:prstGeom prst="rect">
            <a:avLst/>
          </a:prstGeom>
          <a:solidFill>
            <a:srgbClr val="EEF3F3"/>
          </a:solidFill>
          <a:ln>
            <a:noFill/>
          </a:ln>
        </p:spPr>
      </p:sp>
      <p:sp>
        <p:nvSpPr>
          <p:cNvPr id="20" name="path 20"/>
          <p:cNvSpPr/>
          <p:nvPr/>
        </p:nvSpPr>
        <p:spPr>
          <a:xfrm>
            <a:off x="711200" y="4495800"/>
            <a:ext cx="8229600" cy="127"/>
          </a:xfrm>
          <a:custGeom>
            <a:avLst/>
            <a:gdLst/>
            <a:ahLst/>
            <a:cxnLst/>
            <a:rect l="0" t="0" r="r" b="b"/>
            <a:pathLst>
              <a:path w="8229600" h="127" fill="none">
                <a:moveTo>
                  <a:pt x="0" y="0"/>
                </a:moveTo>
                <a:lnTo>
                  <a:pt x="8229600" y="0"/>
                </a:lnTo>
              </a:path>
            </a:pathLst>
          </a:custGeom>
          <a:noFill/>
          <a:ln w="8890">
            <a:solidFill>
              <a:srgbClr val="D8E1E2"/>
            </a:solidFill>
            <a:prstDash val="solid"/>
          </a:ln>
        </p:spPr>
      </p:sp>
      <p:sp>
        <p:nvSpPr>
          <p:cNvPr id="21" name="text 21"/>
          <p:cNvSpPr/>
          <p:nvPr/>
        </p:nvSpPr>
        <p:spPr>
          <a:xfrm>
            <a:off x="876300" y="3956050"/>
            <a:ext cx="30734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zsRE · 1</a:t>
            </a:r>
          </a:p>
        </p:txBody>
      </p:sp>
      <p:sp>
        <p:nvSpPr>
          <p:cNvPr id="22" name="text 22"/>
          <p:cNvSpPr/>
          <p:nvPr/>
        </p:nvSpPr>
        <p:spPr>
          <a:xfrm>
            <a:off x="4279900" y="3956050"/>
            <a:ext cx="20828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99.0%</a:t>
            </a:r>
          </a:p>
        </p:txBody>
      </p:sp>
      <p:sp>
        <p:nvSpPr>
          <p:cNvPr id="23" name="text 23"/>
          <p:cNvSpPr/>
          <p:nvPr/>
        </p:nvSpPr>
        <p:spPr>
          <a:xfrm>
            <a:off x="6692900" y="3956050"/>
            <a:ext cx="20828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1">
                <a:solidFill>
                  <a:srgbClr val="007E80"/>
                </a:solidFill>
                <a:latin typeface="DejaVu Sans"/>
              </a:rPr>
              <a:t>97.0%</a:t>
            </a:r>
          </a:p>
        </p:txBody>
      </p:sp>
      <p:sp>
        <p:nvSpPr>
          <p:cNvPr id="24" name="rect 24"/>
          <p:cNvSpPr/>
          <p:nvPr/>
        </p:nvSpPr>
        <p:spPr>
          <a:xfrm>
            <a:off x="711200" y="4495800"/>
            <a:ext cx="8229600" cy="698500"/>
          </a:xfrm>
          <a:prstGeom prst="rect">
            <a:avLst/>
          </a:prstGeom>
          <a:solidFill>
            <a:srgbClr val="FFFFFF"/>
          </a:solidFill>
          <a:ln>
            <a:noFill/>
          </a:ln>
        </p:spPr>
      </p:sp>
      <p:sp>
        <p:nvSpPr>
          <p:cNvPr id="25" name="path 25"/>
          <p:cNvSpPr/>
          <p:nvPr/>
        </p:nvSpPr>
        <p:spPr>
          <a:xfrm>
            <a:off x="711200" y="5194300"/>
            <a:ext cx="8229600" cy="127"/>
          </a:xfrm>
          <a:custGeom>
            <a:avLst/>
            <a:gdLst/>
            <a:ahLst/>
            <a:cxnLst/>
            <a:rect l="0" t="0" r="r" b="b"/>
            <a:pathLst>
              <a:path w="8229600" h="127" fill="none">
                <a:moveTo>
                  <a:pt x="0" y="0"/>
                </a:moveTo>
                <a:lnTo>
                  <a:pt x="8229600" y="0"/>
                </a:lnTo>
              </a:path>
            </a:pathLst>
          </a:custGeom>
          <a:noFill/>
          <a:ln w="8890">
            <a:solidFill>
              <a:srgbClr val="D8E1E2"/>
            </a:solidFill>
            <a:prstDash val="solid"/>
          </a:ln>
        </p:spPr>
      </p:sp>
      <p:sp>
        <p:nvSpPr>
          <p:cNvPr id="26" name="text 26"/>
          <p:cNvSpPr/>
          <p:nvPr/>
        </p:nvSpPr>
        <p:spPr>
          <a:xfrm>
            <a:off x="876300" y="4654550"/>
            <a:ext cx="30734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zsRE · 2</a:t>
            </a:r>
          </a:p>
        </p:txBody>
      </p:sp>
      <p:sp>
        <p:nvSpPr>
          <p:cNvPr id="27" name="text 27"/>
          <p:cNvSpPr/>
          <p:nvPr/>
        </p:nvSpPr>
        <p:spPr>
          <a:xfrm>
            <a:off x="4279900" y="4654550"/>
            <a:ext cx="20828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97.7%</a:t>
            </a:r>
          </a:p>
        </p:txBody>
      </p:sp>
      <p:sp>
        <p:nvSpPr>
          <p:cNvPr id="28" name="text 28"/>
          <p:cNvSpPr/>
          <p:nvPr/>
        </p:nvSpPr>
        <p:spPr>
          <a:xfrm>
            <a:off x="6692900" y="4654550"/>
            <a:ext cx="20828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1">
                <a:solidFill>
                  <a:srgbClr val="007E80"/>
                </a:solidFill>
                <a:latin typeface="DejaVu Sans"/>
              </a:rPr>
              <a:t>98.0%</a:t>
            </a:r>
          </a:p>
        </p:txBody>
      </p:sp>
      <p:sp>
        <p:nvSpPr>
          <p:cNvPr id="29" name="rect 29"/>
          <p:cNvSpPr/>
          <p:nvPr/>
        </p:nvSpPr>
        <p:spPr>
          <a:xfrm>
            <a:off x="711200" y="5194300"/>
            <a:ext cx="8229600" cy="698500"/>
          </a:xfrm>
          <a:prstGeom prst="rect">
            <a:avLst/>
          </a:prstGeom>
          <a:solidFill>
            <a:srgbClr val="EEF3F3"/>
          </a:solidFill>
          <a:ln>
            <a:noFill/>
          </a:ln>
        </p:spPr>
      </p:sp>
      <p:sp>
        <p:nvSpPr>
          <p:cNvPr id="30" name="path 30"/>
          <p:cNvSpPr/>
          <p:nvPr/>
        </p:nvSpPr>
        <p:spPr>
          <a:xfrm>
            <a:off x="711200" y="5892800"/>
            <a:ext cx="8229600" cy="127"/>
          </a:xfrm>
          <a:custGeom>
            <a:avLst/>
            <a:gdLst/>
            <a:ahLst/>
            <a:cxnLst/>
            <a:rect l="0" t="0" r="r" b="b"/>
            <a:pathLst>
              <a:path w="8229600" h="127" fill="none">
                <a:moveTo>
                  <a:pt x="0" y="0"/>
                </a:moveTo>
                <a:lnTo>
                  <a:pt x="8229600" y="0"/>
                </a:lnTo>
              </a:path>
            </a:pathLst>
          </a:custGeom>
          <a:noFill/>
          <a:ln w="8890">
            <a:solidFill>
              <a:srgbClr val="D8E1E2"/>
            </a:solidFill>
            <a:prstDash val="solid"/>
          </a:ln>
        </p:spPr>
      </p:sp>
      <p:sp>
        <p:nvSpPr>
          <p:cNvPr id="31" name="text 31"/>
          <p:cNvSpPr/>
          <p:nvPr/>
        </p:nvSpPr>
        <p:spPr>
          <a:xfrm>
            <a:off x="876300" y="5353050"/>
            <a:ext cx="30734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CounterFact · 0</a:t>
            </a:r>
          </a:p>
        </p:txBody>
      </p:sp>
      <p:sp>
        <p:nvSpPr>
          <p:cNvPr id="32" name="text 32"/>
          <p:cNvSpPr/>
          <p:nvPr/>
        </p:nvSpPr>
        <p:spPr>
          <a:xfrm>
            <a:off x="4279900" y="5353050"/>
            <a:ext cx="20828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81.0%</a:t>
            </a:r>
          </a:p>
        </p:txBody>
      </p:sp>
      <p:sp>
        <p:nvSpPr>
          <p:cNvPr id="33" name="text 33"/>
          <p:cNvSpPr/>
          <p:nvPr/>
        </p:nvSpPr>
        <p:spPr>
          <a:xfrm>
            <a:off x="6692900" y="5353050"/>
            <a:ext cx="20828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1">
                <a:solidFill>
                  <a:srgbClr val="007E80"/>
                </a:solidFill>
                <a:latin typeface="DejaVu Sans"/>
              </a:rPr>
              <a:t>56.8%</a:t>
            </a:r>
          </a:p>
        </p:txBody>
      </p:sp>
      <p:sp>
        <p:nvSpPr>
          <p:cNvPr id="34" name="rect 34"/>
          <p:cNvSpPr/>
          <p:nvPr/>
        </p:nvSpPr>
        <p:spPr>
          <a:xfrm>
            <a:off x="711200" y="5892800"/>
            <a:ext cx="8229600" cy="698500"/>
          </a:xfrm>
          <a:prstGeom prst="rect">
            <a:avLst/>
          </a:prstGeom>
          <a:solidFill>
            <a:srgbClr val="FFFFFF"/>
          </a:solidFill>
          <a:ln>
            <a:noFill/>
          </a:ln>
        </p:spPr>
      </p:sp>
      <p:sp>
        <p:nvSpPr>
          <p:cNvPr id="35" name="path 35"/>
          <p:cNvSpPr/>
          <p:nvPr/>
        </p:nvSpPr>
        <p:spPr>
          <a:xfrm>
            <a:off x="711200" y="6591300"/>
            <a:ext cx="8229600" cy="127"/>
          </a:xfrm>
          <a:custGeom>
            <a:avLst/>
            <a:gdLst/>
            <a:ahLst/>
            <a:cxnLst/>
            <a:rect l="0" t="0" r="r" b="b"/>
            <a:pathLst>
              <a:path w="8229600" h="127" fill="none">
                <a:moveTo>
                  <a:pt x="0" y="0"/>
                </a:moveTo>
                <a:lnTo>
                  <a:pt x="8229600" y="0"/>
                </a:lnTo>
              </a:path>
            </a:pathLst>
          </a:custGeom>
          <a:noFill/>
          <a:ln w="8890">
            <a:solidFill>
              <a:srgbClr val="D8E1E2"/>
            </a:solidFill>
            <a:prstDash val="solid"/>
          </a:ln>
        </p:spPr>
      </p:sp>
      <p:sp>
        <p:nvSpPr>
          <p:cNvPr id="36" name="text 36"/>
          <p:cNvSpPr/>
          <p:nvPr/>
        </p:nvSpPr>
        <p:spPr>
          <a:xfrm>
            <a:off x="876300" y="6051550"/>
            <a:ext cx="30734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CounterFact · 1</a:t>
            </a:r>
          </a:p>
        </p:txBody>
      </p:sp>
      <p:sp>
        <p:nvSpPr>
          <p:cNvPr id="37" name="text 37"/>
          <p:cNvSpPr/>
          <p:nvPr/>
        </p:nvSpPr>
        <p:spPr>
          <a:xfrm>
            <a:off x="4279900" y="6051550"/>
            <a:ext cx="20828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80.0%</a:t>
            </a:r>
          </a:p>
        </p:txBody>
      </p:sp>
      <p:sp>
        <p:nvSpPr>
          <p:cNvPr id="38" name="text 38"/>
          <p:cNvSpPr/>
          <p:nvPr/>
        </p:nvSpPr>
        <p:spPr>
          <a:xfrm>
            <a:off x="6692900" y="6051550"/>
            <a:ext cx="20828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1">
                <a:solidFill>
                  <a:srgbClr val="007E80"/>
                </a:solidFill>
                <a:latin typeface="DejaVu Sans"/>
              </a:rPr>
              <a:t>77.8%</a:t>
            </a:r>
          </a:p>
        </p:txBody>
      </p:sp>
      <p:sp>
        <p:nvSpPr>
          <p:cNvPr id="39" name="rect 39"/>
          <p:cNvSpPr/>
          <p:nvPr/>
        </p:nvSpPr>
        <p:spPr>
          <a:xfrm>
            <a:off x="711200" y="6591300"/>
            <a:ext cx="8229600" cy="698500"/>
          </a:xfrm>
          <a:prstGeom prst="rect">
            <a:avLst/>
          </a:prstGeom>
          <a:solidFill>
            <a:srgbClr val="EEF3F3"/>
          </a:solidFill>
          <a:ln>
            <a:noFill/>
          </a:ln>
        </p:spPr>
      </p:sp>
      <p:sp>
        <p:nvSpPr>
          <p:cNvPr id="40" name="path 40"/>
          <p:cNvSpPr/>
          <p:nvPr/>
        </p:nvSpPr>
        <p:spPr>
          <a:xfrm>
            <a:off x="711200" y="7289800"/>
            <a:ext cx="8229600" cy="127"/>
          </a:xfrm>
          <a:custGeom>
            <a:avLst/>
            <a:gdLst/>
            <a:ahLst/>
            <a:cxnLst/>
            <a:rect l="0" t="0" r="r" b="b"/>
            <a:pathLst>
              <a:path w="8229600" h="127" fill="none">
                <a:moveTo>
                  <a:pt x="0" y="0"/>
                </a:moveTo>
                <a:lnTo>
                  <a:pt x="8229600" y="0"/>
                </a:lnTo>
              </a:path>
            </a:pathLst>
          </a:custGeom>
          <a:noFill/>
          <a:ln w="8890">
            <a:solidFill>
              <a:srgbClr val="D8E1E2"/>
            </a:solidFill>
            <a:prstDash val="solid"/>
          </a:ln>
        </p:spPr>
      </p:sp>
      <p:sp>
        <p:nvSpPr>
          <p:cNvPr id="41" name="text 41"/>
          <p:cNvSpPr/>
          <p:nvPr/>
        </p:nvSpPr>
        <p:spPr>
          <a:xfrm>
            <a:off x="876300" y="6750050"/>
            <a:ext cx="30734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CounterFact · 2</a:t>
            </a:r>
          </a:p>
        </p:txBody>
      </p:sp>
      <p:sp>
        <p:nvSpPr>
          <p:cNvPr id="42" name="text 42"/>
          <p:cNvSpPr/>
          <p:nvPr/>
        </p:nvSpPr>
        <p:spPr>
          <a:xfrm>
            <a:off x="4279900" y="6750050"/>
            <a:ext cx="20828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83.5%</a:t>
            </a:r>
          </a:p>
        </p:txBody>
      </p:sp>
      <p:sp>
        <p:nvSpPr>
          <p:cNvPr id="43" name="text 43"/>
          <p:cNvSpPr/>
          <p:nvPr/>
        </p:nvSpPr>
        <p:spPr>
          <a:xfrm>
            <a:off x="6692900" y="6750050"/>
            <a:ext cx="20828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1">
                <a:solidFill>
                  <a:srgbClr val="007E80"/>
                </a:solidFill>
                <a:latin typeface="DejaVu Sans"/>
              </a:rPr>
              <a:t>66.0%</a:t>
            </a:r>
          </a:p>
        </p:txBody>
      </p:sp>
      <p:sp>
        <p:nvSpPr>
          <p:cNvPr id="44" name="rect 44"/>
          <p:cNvSpPr/>
          <p:nvPr/>
        </p:nvSpPr>
        <p:spPr>
          <a:xfrm>
            <a:off x="9334500" y="2362200"/>
            <a:ext cx="6210300" cy="2197100"/>
          </a:xfrm>
          <a:prstGeom prst="rect">
            <a:avLst/>
          </a:prstGeom>
          <a:solidFill>
            <a:srgbClr val="FFFFFF"/>
          </a:solidFill>
          <a:ln>
            <a:noFill/>
          </a:ln>
        </p:spPr>
      </p:sp>
      <p:sp>
        <p:nvSpPr>
          <p:cNvPr id="45" name="rect 45"/>
          <p:cNvSpPr/>
          <p:nvPr/>
        </p:nvSpPr>
        <p:spPr>
          <a:xfrm>
            <a:off x="9334500" y="2362200"/>
            <a:ext cx="63500" cy="2197100"/>
          </a:xfrm>
          <a:prstGeom prst="rect">
            <a:avLst/>
          </a:prstGeom>
          <a:solidFill>
            <a:srgbClr val="B44D32"/>
          </a:solidFill>
          <a:ln>
            <a:noFill/>
          </a:ln>
        </p:spPr>
      </p:sp>
      <p:sp>
        <p:nvSpPr>
          <p:cNvPr id="46" name="text 46"/>
          <p:cNvSpPr/>
          <p:nvPr/>
        </p:nvSpPr>
        <p:spPr>
          <a:xfrm>
            <a:off x="9626600" y="2616200"/>
            <a:ext cx="56261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1">
                <a:solidFill>
                  <a:srgbClr val="B44D32"/>
                </a:solidFill>
                <a:latin typeface="DejaVu Sans"/>
              </a:rPr>
              <a:t>96–102× training time</a:t>
            </a:r>
          </a:p>
        </p:txBody>
      </p:sp>
      <p:sp>
        <p:nvSpPr>
          <p:cNvPr id="47" name="text 47"/>
          <p:cNvSpPr/>
          <p:nvPr/>
        </p:nvSpPr>
        <p:spPr>
          <a:xfrm>
            <a:off x="9626600" y="3140075"/>
            <a:ext cx="56261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ePC: 23–25 hours per seed. BP:</a:t>
            </a:r>
          </a:p>
        </p:txBody>
      </p:sp>
      <p:sp>
        <p:nvSpPr>
          <p:cNvPr id="48" name="text 48"/>
          <p:cNvSpPr/>
          <p:nvPr/>
        </p:nvSpPr>
        <p:spPr>
          <a:xfrm>
            <a:off x="9626600" y="3521075"/>
            <a:ext cx="56261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about 15 minutes.</a:t>
            </a:r>
          </a:p>
        </p:txBody>
      </p:sp>
      <p:sp>
        <p:nvSpPr>
          <p:cNvPr id="49" name="rect 49"/>
          <p:cNvSpPr/>
          <p:nvPr/>
        </p:nvSpPr>
        <p:spPr>
          <a:xfrm>
            <a:off x="9334500" y="4851400"/>
            <a:ext cx="6210300" cy="2438400"/>
          </a:xfrm>
          <a:prstGeom prst="rect">
            <a:avLst/>
          </a:prstGeom>
          <a:solidFill>
            <a:srgbClr val="FFFFFF"/>
          </a:solidFill>
          <a:ln>
            <a:noFill/>
          </a:ln>
        </p:spPr>
      </p:sp>
      <p:sp>
        <p:nvSpPr>
          <p:cNvPr id="50" name="rect 50"/>
          <p:cNvSpPr/>
          <p:nvPr/>
        </p:nvSpPr>
        <p:spPr>
          <a:xfrm>
            <a:off x="9334500" y="4851400"/>
            <a:ext cx="63500" cy="2438400"/>
          </a:xfrm>
          <a:prstGeom prst="rect">
            <a:avLst/>
          </a:prstGeom>
          <a:solidFill>
            <a:srgbClr val="675399"/>
          </a:solidFill>
          <a:ln>
            <a:noFill/>
          </a:ln>
        </p:spPr>
      </p:sp>
      <p:sp>
        <p:nvSpPr>
          <p:cNvPr id="51" name="text 51"/>
          <p:cNvSpPr/>
          <p:nvPr/>
        </p:nvSpPr>
        <p:spPr>
          <a:xfrm>
            <a:off x="9626600" y="5105400"/>
            <a:ext cx="56261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1">
                <a:solidFill>
                  <a:srgbClr val="675399"/>
                </a:solidFill>
                <a:latin typeface="DejaVu Sans"/>
              </a:rPr>
              <a:t>Controlled comparison</a:t>
            </a:r>
          </a:p>
        </p:txBody>
      </p:sp>
      <p:sp>
        <p:nvSpPr>
          <p:cNvPr id="52" name="text 52"/>
          <p:cNvSpPr/>
          <p:nvPr/>
        </p:nvSpPr>
        <p:spPr>
          <a:xfrm>
            <a:off x="9626600" y="5629275"/>
            <a:ext cx="5626100" cy="3651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300" b="0">
                <a:solidFill>
                  <a:srgbClr val="162F3B"/>
                </a:solidFill>
                <a:latin typeface="DejaVu Sans"/>
              </a:rPr>
              <a:t>300 updates; 3.35M reader/controller</a:t>
            </a:r>
          </a:p>
        </p:txBody>
      </p:sp>
      <p:sp>
        <p:nvSpPr>
          <p:cNvPr id="53" name="text 53"/>
          <p:cNvSpPr/>
          <p:nvPr/>
        </p:nvSpPr>
        <p:spPr>
          <a:xfrm>
            <a:off x="9626600" y="5994400"/>
            <a:ext cx="5626100" cy="3651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300" b="0">
                <a:solidFill>
                  <a:srgbClr val="162F3B"/>
                </a:solidFill>
                <a:latin typeface="DejaVu Sans"/>
              </a:rPr>
              <a:t>parameters. Every evaluation uses</a:t>
            </a:r>
          </a:p>
        </p:txBody>
      </p:sp>
      <p:sp>
        <p:nvSpPr>
          <p:cNvPr id="54" name="text 54"/>
          <p:cNvSpPr/>
          <p:nvPr/>
        </p:nvSpPr>
        <p:spPr>
          <a:xfrm>
            <a:off x="9626600" y="6359525"/>
            <a:ext cx="5626100" cy="3651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300" b="0">
                <a:solidFill>
                  <a:srgbClr val="162F3B"/>
                </a:solidFill>
                <a:latin typeface="DejaVu Sans"/>
              </a:rPr>
              <a:t>adjoint acquisition.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16256000" cy="9144000"/>
          </a:xfrm>
          <a:prstGeom prst="rect">
            <a:avLst/>
          </a:prstGeom>
          <a:solidFill>
            <a:srgbClr val="FAFAF7"/>
          </a:solidFill>
          <a:ln>
            <a:noFill/>
          </a:ln>
        </p:spPr>
      </p:sp>
      <p:sp>
        <p:nvSpPr>
          <p:cNvPr id="3" name="rect 3"/>
          <p:cNvSpPr/>
          <p:nvPr/>
        </p:nvSpPr>
        <p:spPr>
          <a:xfrm>
            <a:off x="0" y="0"/>
            <a:ext cx="16256000" cy="88900"/>
          </a:xfrm>
          <a:prstGeom prst="rect">
            <a:avLst/>
          </a:prstGeom>
          <a:solidFill>
            <a:srgbClr val="007E80"/>
          </a:solidFill>
          <a:ln>
            <a:noFill/>
          </a:ln>
        </p:spPr>
      </p:sp>
      <p:sp>
        <p:nvSpPr>
          <p:cNvPr id="4" name="text 4"/>
          <p:cNvSpPr/>
          <p:nvPr/>
        </p:nvSpPr>
        <p:spPr>
          <a:xfrm>
            <a:off x="685800" y="355600"/>
            <a:ext cx="14884400" cy="2222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400" b="1">
                <a:solidFill>
                  <a:srgbClr val="007E80"/>
                </a:solidFill>
                <a:latin typeface="DejaVu Sans"/>
              </a:rPr>
              <a:t>Older distilled base and live v0 cap · zsRE · 1,000 edits</a:t>
            </a:r>
          </a:p>
        </p:txBody>
      </p:sp>
      <p:sp>
        <p:nvSpPr>
          <p:cNvPr id="5" name="text 5"/>
          <p:cNvSpPr/>
          <p:nvPr/>
        </p:nvSpPr>
        <p:spPr>
          <a:xfrm>
            <a:off x="685800" y="850900"/>
            <a:ext cx="14884400" cy="555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3500" b="1">
                <a:solidFill>
                  <a:srgbClr val="162F3B"/>
                </a:solidFill>
                <a:latin typeface="DejaVu Sans"/>
              </a:rPr>
              <a:t>More settling improved original-prompt retention</a:t>
            </a:r>
          </a:p>
        </p:txBody>
      </p:sp>
      <p:sp>
        <p:nvSpPr>
          <p:cNvPr id="6" name="rect 6"/>
          <p:cNvSpPr/>
          <p:nvPr/>
        </p:nvSpPr>
        <p:spPr>
          <a:xfrm>
            <a:off x="685800" y="7797800"/>
            <a:ext cx="14884400" cy="762000"/>
          </a:xfrm>
          <a:prstGeom prst="rect">
            <a:avLst/>
          </a:prstGeom>
          <a:solidFill>
            <a:srgbClr val="EAF3F1"/>
          </a:solidFill>
          <a:ln>
            <a:noFill/>
          </a:ln>
        </p:spPr>
      </p:sp>
      <p:sp>
        <p:nvSpPr>
          <p:cNvPr id="7" name="text 7"/>
          <p:cNvSpPr/>
          <p:nvPr/>
        </p:nvSpPr>
        <p:spPr>
          <a:xfrm>
            <a:off x="914400" y="7937500"/>
            <a:ext cx="144272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162F3B"/>
                </a:solidFill>
                <a:latin typeface="DejaVu Sans"/>
              </a:rPr>
              <a:t>The original-prompt gain did not extend to paraphrases, and cost more time and harm.</a:t>
            </a:r>
          </a:p>
        </p:txBody>
      </p:sp>
      <p:sp>
        <p:nvSpPr>
          <p:cNvPr id="8" name="text 8"/>
          <p:cNvSpPr/>
          <p:nvPr/>
        </p:nvSpPr>
        <p:spPr>
          <a:xfrm>
            <a:off x="698500" y="8788400"/>
            <a:ext cx="13716000" cy="166688"/>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050" b="0">
                <a:solidFill>
                  <a:srgbClr val="52666F"/>
                </a:solidFill>
                <a:latin typeface="DejaVu Sans"/>
              </a:rPr>
              <a:t>Source: PC-v0 settling-depth controls. Learning time is a subset of total process time.</a:t>
            </a:r>
          </a:p>
        </p:txBody>
      </p:sp>
      <p:sp>
        <p:nvSpPr>
          <p:cNvPr id="9" name="text 9"/>
          <p:cNvSpPr/>
          <p:nvPr/>
        </p:nvSpPr>
        <p:spPr>
          <a:xfrm>
            <a:off x="14541500" y="8788400"/>
            <a:ext cx="1079500" cy="190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200" b="0">
                <a:solidFill>
                  <a:srgbClr val="52666F"/>
                </a:solidFill>
                <a:latin typeface="DejaVu Sans"/>
              </a:rPr>
              <a:t>11 / 15</a:t>
            </a:r>
          </a:p>
        </p:txBody>
      </p:sp>
      <p:sp>
        <p:nvSpPr>
          <p:cNvPr id="10" name="rect 10"/>
          <p:cNvSpPr/>
          <p:nvPr/>
        </p:nvSpPr>
        <p:spPr>
          <a:xfrm>
            <a:off x="711200" y="2222500"/>
            <a:ext cx="14833600" cy="774700"/>
          </a:xfrm>
          <a:prstGeom prst="rect">
            <a:avLst/>
          </a:prstGeom>
          <a:solidFill>
            <a:srgbClr val="162F3B"/>
          </a:solidFill>
          <a:ln>
            <a:noFill/>
          </a:ln>
        </p:spPr>
      </p:sp>
      <p:sp>
        <p:nvSpPr>
          <p:cNvPr id="11" name="text 11"/>
          <p:cNvSpPr/>
          <p:nvPr/>
        </p:nvSpPr>
        <p:spPr>
          <a:xfrm>
            <a:off x="876300" y="2435225"/>
            <a:ext cx="4622800" cy="3492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200" b="1">
                <a:solidFill>
                  <a:srgbClr val="FFFFFF"/>
                </a:solidFill>
                <a:latin typeface="DejaVu Sans"/>
              </a:rPr>
              <a:t>Credit / settling steps</a:t>
            </a:r>
          </a:p>
        </p:txBody>
      </p:sp>
      <p:sp>
        <p:nvSpPr>
          <p:cNvPr id="12" name="text 12"/>
          <p:cNvSpPr/>
          <p:nvPr/>
        </p:nvSpPr>
        <p:spPr>
          <a:xfrm>
            <a:off x="5829300" y="2435225"/>
            <a:ext cx="2971800" cy="3492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200" b="1">
                <a:solidFill>
                  <a:srgbClr val="FFFFFF"/>
                </a:solidFill>
                <a:latin typeface="DejaVu Sans"/>
              </a:rPr>
              <a:t>Original prompt</a:t>
            </a:r>
          </a:p>
        </p:txBody>
      </p:sp>
      <p:sp>
        <p:nvSpPr>
          <p:cNvPr id="13" name="text 13"/>
          <p:cNvSpPr/>
          <p:nvPr/>
        </p:nvSpPr>
        <p:spPr>
          <a:xfrm>
            <a:off x="9131300" y="2435225"/>
            <a:ext cx="2971800" cy="3492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200" b="1">
                <a:solidFill>
                  <a:srgbClr val="FFFFFF"/>
                </a:solidFill>
                <a:latin typeface="DejaVu Sans"/>
              </a:rPr>
              <a:t>Paraphrase</a:t>
            </a:r>
          </a:p>
        </p:txBody>
      </p:sp>
      <p:sp>
        <p:nvSpPr>
          <p:cNvPr id="14" name="text 14"/>
          <p:cNvSpPr/>
          <p:nvPr/>
        </p:nvSpPr>
        <p:spPr>
          <a:xfrm>
            <a:off x="12433300" y="2435225"/>
            <a:ext cx="2946400" cy="3492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200" b="1">
                <a:solidFill>
                  <a:srgbClr val="FFFFFF"/>
                </a:solidFill>
                <a:latin typeface="DejaVu Sans"/>
              </a:rPr>
              <a:t>Learning time</a:t>
            </a:r>
          </a:p>
        </p:txBody>
      </p:sp>
      <p:sp>
        <p:nvSpPr>
          <p:cNvPr id="15" name="rect 15"/>
          <p:cNvSpPr/>
          <p:nvPr/>
        </p:nvSpPr>
        <p:spPr>
          <a:xfrm>
            <a:off x="711200" y="2997200"/>
            <a:ext cx="14833600" cy="749300"/>
          </a:xfrm>
          <a:prstGeom prst="rect">
            <a:avLst/>
          </a:prstGeom>
          <a:solidFill>
            <a:srgbClr val="FFFFFF"/>
          </a:solidFill>
          <a:ln>
            <a:noFill/>
          </a:ln>
        </p:spPr>
      </p:sp>
      <p:sp>
        <p:nvSpPr>
          <p:cNvPr id="16" name="path 16"/>
          <p:cNvSpPr/>
          <p:nvPr/>
        </p:nvSpPr>
        <p:spPr>
          <a:xfrm>
            <a:off x="711200" y="3746500"/>
            <a:ext cx="14833600" cy="127"/>
          </a:xfrm>
          <a:custGeom>
            <a:avLst/>
            <a:gdLst/>
            <a:ahLst/>
            <a:cxnLst/>
            <a:rect l="0" t="0" r="r" b="b"/>
            <a:pathLst>
              <a:path w="14833600" h="127" fill="none">
                <a:moveTo>
                  <a:pt x="0" y="0"/>
                </a:moveTo>
                <a:lnTo>
                  <a:pt x="14833600" y="0"/>
                </a:lnTo>
              </a:path>
            </a:pathLst>
          </a:custGeom>
          <a:noFill/>
          <a:ln w="8890">
            <a:solidFill>
              <a:srgbClr val="D8E1E2"/>
            </a:solidFill>
            <a:prstDash val="solid"/>
          </a:ln>
        </p:spPr>
      </p:sp>
      <p:sp>
        <p:nvSpPr>
          <p:cNvPr id="17" name="text 17"/>
          <p:cNvSpPr/>
          <p:nvPr/>
        </p:nvSpPr>
        <p:spPr>
          <a:xfrm>
            <a:off x="876300" y="3173412"/>
            <a:ext cx="46228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Adjoint reference</a:t>
            </a:r>
          </a:p>
        </p:txBody>
      </p:sp>
      <p:sp>
        <p:nvSpPr>
          <p:cNvPr id="18" name="text 18"/>
          <p:cNvSpPr/>
          <p:nvPr/>
        </p:nvSpPr>
        <p:spPr>
          <a:xfrm>
            <a:off x="5829300" y="3173412"/>
            <a:ext cx="29718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51.5%</a:t>
            </a:r>
          </a:p>
        </p:txBody>
      </p:sp>
      <p:sp>
        <p:nvSpPr>
          <p:cNvPr id="19" name="text 19"/>
          <p:cNvSpPr/>
          <p:nvPr/>
        </p:nvSpPr>
        <p:spPr>
          <a:xfrm>
            <a:off x="9131300" y="3173412"/>
            <a:ext cx="29718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13.1%</a:t>
            </a:r>
          </a:p>
        </p:txBody>
      </p:sp>
      <p:sp>
        <p:nvSpPr>
          <p:cNvPr id="20" name="text 20"/>
          <p:cNvSpPr/>
          <p:nvPr/>
        </p:nvSpPr>
        <p:spPr>
          <a:xfrm>
            <a:off x="12433300" y="3173412"/>
            <a:ext cx="29464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4.6 min</a:t>
            </a:r>
          </a:p>
        </p:txBody>
      </p:sp>
      <p:sp>
        <p:nvSpPr>
          <p:cNvPr id="21" name="rect 21"/>
          <p:cNvSpPr/>
          <p:nvPr/>
        </p:nvSpPr>
        <p:spPr>
          <a:xfrm>
            <a:off x="711200" y="3746500"/>
            <a:ext cx="14833600" cy="749300"/>
          </a:xfrm>
          <a:prstGeom prst="rect">
            <a:avLst/>
          </a:prstGeom>
          <a:solidFill>
            <a:srgbClr val="EEF3F3"/>
          </a:solidFill>
          <a:ln>
            <a:noFill/>
          </a:ln>
        </p:spPr>
      </p:sp>
      <p:sp>
        <p:nvSpPr>
          <p:cNvPr id="22" name="path 22"/>
          <p:cNvSpPr/>
          <p:nvPr/>
        </p:nvSpPr>
        <p:spPr>
          <a:xfrm>
            <a:off x="711200" y="4495800"/>
            <a:ext cx="14833600" cy="127"/>
          </a:xfrm>
          <a:custGeom>
            <a:avLst/>
            <a:gdLst/>
            <a:ahLst/>
            <a:cxnLst/>
            <a:rect l="0" t="0" r="r" b="b"/>
            <a:pathLst>
              <a:path w="14833600" h="127" fill="none">
                <a:moveTo>
                  <a:pt x="0" y="0"/>
                </a:moveTo>
                <a:lnTo>
                  <a:pt x="14833600" y="0"/>
                </a:lnTo>
              </a:path>
            </a:pathLst>
          </a:custGeom>
          <a:noFill/>
          <a:ln w="8890">
            <a:solidFill>
              <a:srgbClr val="D8E1E2"/>
            </a:solidFill>
            <a:prstDash val="solid"/>
          </a:ln>
        </p:spPr>
      </p:sp>
      <p:sp>
        <p:nvSpPr>
          <p:cNvPr id="23" name="text 23"/>
          <p:cNvSpPr/>
          <p:nvPr/>
        </p:nvSpPr>
        <p:spPr>
          <a:xfrm>
            <a:off x="876300" y="3922712"/>
            <a:ext cx="46228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Error inference · 1</a:t>
            </a:r>
          </a:p>
        </p:txBody>
      </p:sp>
      <p:sp>
        <p:nvSpPr>
          <p:cNvPr id="24" name="text 24"/>
          <p:cNvSpPr/>
          <p:nvPr/>
        </p:nvSpPr>
        <p:spPr>
          <a:xfrm>
            <a:off x="5829300" y="3922712"/>
            <a:ext cx="29718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51.5%</a:t>
            </a:r>
          </a:p>
        </p:txBody>
      </p:sp>
      <p:sp>
        <p:nvSpPr>
          <p:cNvPr id="25" name="text 25"/>
          <p:cNvSpPr/>
          <p:nvPr/>
        </p:nvSpPr>
        <p:spPr>
          <a:xfrm>
            <a:off x="9131300" y="3922712"/>
            <a:ext cx="29718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13.1%</a:t>
            </a:r>
          </a:p>
        </p:txBody>
      </p:sp>
      <p:sp>
        <p:nvSpPr>
          <p:cNvPr id="26" name="text 26"/>
          <p:cNvSpPr/>
          <p:nvPr/>
        </p:nvSpPr>
        <p:spPr>
          <a:xfrm>
            <a:off x="12433300" y="3922712"/>
            <a:ext cx="29464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5.7 min</a:t>
            </a:r>
          </a:p>
        </p:txBody>
      </p:sp>
      <p:sp>
        <p:nvSpPr>
          <p:cNvPr id="27" name="rect 27"/>
          <p:cNvSpPr/>
          <p:nvPr/>
        </p:nvSpPr>
        <p:spPr>
          <a:xfrm>
            <a:off x="711200" y="4495800"/>
            <a:ext cx="14833600" cy="749300"/>
          </a:xfrm>
          <a:prstGeom prst="rect">
            <a:avLst/>
          </a:prstGeom>
          <a:solidFill>
            <a:srgbClr val="FFFFFF"/>
          </a:solidFill>
          <a:ln>
            <a:noFill/>
          </a:ln>
        </p:spPr>
      </p:sp>
      <p:sp>
        <p:nvSpPr>
          <p:cNvPr id="28" name="path 28"/>
          <p:cNvSpPr/>
          <p:nvPr/>
        </p:nvSpPr>
        <p:spPr>
          <a:xfrm>
            <a:off x="711200" y="5245100"/>
            <a:ext cx="14833600" cy="127"/>
          </a:xfrm>
          <a:custGeom>
            <a:avLst/>
            <a:gdLst/>
            <a:ahLst/>
            <a:cxnLst/>
            <a:rect l="0" t="0" r="r" b="b"/>
            <a:pathLst>
              <a:path w="14833600" h="127" fill="none">
                <a:moveTo>
                  <a:pt x="0" y="0"/>
                </a:moveTo>
                <a:lnTo>
                  <a:pt x="14833600" y="0"/>
                </a:lnTo>
              </a:path>
            </a:pathLst>
          </a:custGeom>
          <a:noFill/>
          <a:ln w="8890">
            <a:solidFill>
              <a:srgbClr val="D8E1E2"/>
            </a:solidFill>
            <a:prstDash val="solid"/>
          </a:ln>
        </p:spPr>
      </p:sp>
      <p:sp>
        <p:nvSpPr>
          <p:cNvPr id="29" name="text 29"/>
          <p:cNvSpPr/>
          <p:nvPr/>
        </p:nvSpPr>
        <p:spPr>
          <a:xfrm>
            <a:off x="876300" y="4672012"/>
            <a:ext cx="46228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Error inference · 8</a:t>
            </a:r>
          </a:p>
        </p:txBody>
      </p:sp>
      <p:sp>
        <p:nvSpPr>
          <p:cNvPr id="30" name="text 30"/>
          <p:cNvSpPr/>
          <p:nvPr/>
        </p:nvSpPr>
        <p:spPr>
          <a:xfrm>
            <a:off x="5829300" y="4672012"/>
            <a:ext cx="29718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53.4%</a:t>
            </a:r>
          </a:p>
        </p:txBody>
      </p:sp>
      <p:sp>
        <p:nvSpPr>
          <p:cNvPr id="31" name="text 31"/>
          <p:cNvSpPr/>
          <p:nvPr/>
        </p:nvSpPr>
        <p:spPr>
          <a:xfrm>
            <a:off x="9131300" y="4672012"/>
            <a:ext cx="29718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13.1%</a:t>
            </a:r>
          </a:p>
        </p:txBody>
      </p:sp>
      <p:sp>
        <p:nvSpPr>
          <p:cNvPr id="32" name="text 32"/>
          <p:cNvSpPr/>
          <p:nvPr/>
        </p:nvSpPr>
        <p:spPr>
          <a:xfrm>
            <a:off x="12433300" y="4672012"/>
            <a:ext cx="29464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10.2 min</a:t>
            </a:r>
          </a:p>
        </p:txBody>
      </p:sp>
      <p:sp>
        <p:nvSpPr>
          <p:cNvPr id="33" name="rect 33"/>
          <p:cNvSpPr/>
          <p:nvPr/>
        </p:nvSpPr>
        <p:spPr>
          <a:xfrm>
            <a:off x="711200" y="5245100"/>
            <a:ext cx="14833600" cy="749300"/>
          </a:xfrm>
          <a:prstGeom prst="rect">
            <a:avLst/>
          </a:prstGeom>
          <a:solidFill>
            <a:srgbClr val="EEF3F3"/>
          </a:solidFill>
          <a:ln>
            <a:noFill/>
          </a:ln>
        </p:spPr>
      </p:sp>
      <p:sp>
        <p:nvSpPr>
          <p:cNvPr id="34" name="path 34"/>
          <p:cNvSpPr/>
          <p:nvPr/>
        </p:nvSpPr>
        <p:spPr>
          <a:xfrm>
            <a:off x="711200" y="5994400"/>
            <a:ext cx="14833600" cy="127"/>
          </a:xfrm>
          <a:custGeom>
            <a:avLst/>
            <a:gdLst/>
            <a:ahLst/>
            <a:cxnLst/>
            <a:rect l="0" t="0" r="r" b="b"/>
            <a:pathLst>
              <a:path w="14833600" h="127" fill="none">
                <a:moveTo>
                  <a:pt x="0" y="0"/>
                </a:moveTo>
                <a:lnTo>
                  <a:pt x="14833600" y="0"/>
                </a:lnTo>
              </a:path>
            </a:pathLst>
          </a:custGeom>
          <a:noFill/>
          <a:ln w="8890">
            <a:solidFill>
              <a:srgbClr val="D8E1E2"/>
            </a:solidFill>
            <a:prstDash val="solid"/>
          </a:ln>
        </p:spPr>
      </p:sp>
      <p:sp>
        <p:nvSpPr>
          <p:cNvPr id="35" name="text 35"/>
          <p:cNvSpPr/>
          <p:nvPr/>
        </p:nvSpPr>
        <p:spPr>
          <a:xfrm>
            <a:off x="876300" y="5421312"/>
            <a:ext cx="46228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Error inference · 32</a:t>
            </a:r>
          </a:p>
        </p:txBody>
      </p:sp>
      <p:sp>
        <p:nvSpPr>
          <p:cNvPr id="36" name="text 36"/>
          <p:cNvSpPr/>
          <p:nvPr/>
        </p:nvSpPr>
        <p:spPr>
          <a:xfrm>
            <a:off x="5829300" y="5421312"/>
            <a:ext cx="29718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56.5%</a:t>
            </a:r>
          </a:p>
        </p:txBody>
      </p:sp>
      <p:sp>
        <p:nvSpPr>
          <p:cNvPr id="37" name="text 37"/>
          <p:cNvSpPr/>
          <p:nvPr/>
        </p:nvSpPr>
        <p:spPr>
          <a:xfrm>
            <a:off x="9131300" y="5421312"/>
            <a:ext cx="29718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12.2%</a:t>
            </a:r>
          </a:p>
        </p:txBody>
      </p:sp>
      <p:sp>
        <p:nvSpPr>
          <p:cNvPr id="38" name="text 38"/>
          <p:cNvSpPr/>
          <p:nvPr/>
        </p:nvSpPr>
        <p:spPr>
          <a:xfrm>
            <a:off x="12433300" y="5421312"/>
            <a:ext cx="29464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0">
                <a:solidFill>
                  <a:srgbClr val="162F3B"/>
                </a:solidFill>
                <a:latin typeface="DejaVu Sans"/>
              </a:rPr>
              <a:t>25.4 min</a:t>
            </a:r>
          </a:p>
        </p:txBody>
      </p:sp>
      <p:sp>
        <p:nvSpPr>
          <p:cNvPr id="39" name="text 39"/>
          <p:cNvSpPr/>
          <p:nvPr/>
        </p:nvSpPr>
        <p:spPr>
          <a:xfrm>
            <a:off x="749300" y="6261100"/>
            <a:ext cx="147320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0">
                <a:solidFill>
                  <a:srgbClr val="162F3B"/>
                </a:solidFill>
                <a:latin typeface="DejaVu Sans"/>
              </a:rPr>
              <a:t>Mean ordinary-text loss increase rose from 0.00145 to 0.00221 nats between 1 and 32 steps.</a:t>
            </a:r>
          </a:p>
        </p:txBody>
      </p:sp>
      <p:sp>
        <p:nvSpPr>
          <p:cNvPr id="40" name="text 40"/>
          <p:cNvSpPr/>
          <p:nvPr/>
        </p:nvSpPr>
        <p:spPr>
          <a:xfrm>
            <a:off x="749300" y="6883400"/>
            <a:ext cx="14732000" cy="317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000" b="0">
                <a:solidFill>
                  <a:srgbClr val="162F3B"/>
                </a:solidFill>
                <a:latin typeface="DejaVu Sans"/>
              </a:rPr>
              <a:t>124M-parameter base distilled over 50M training tokens. Three exposed fact samples, one order; a separate</a:t>
            </a:r>
          </a:p>
        </p:txBody>
      </p:sp>
      <p:sp>
        <p:nvSpPr>
          <p:cNvPr id="41" name="text 41"/>
          <p:cNvSpPr/>
          <p:nvPr/>
        </p:nvSpPr>
        <p:spPr>
          <a:xfrm>
            <a:off x="749300" y="7200900"/>
            <a:ext cx="14732000" cy="317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000" b="0">
                <a:solidFill>
                  <a:srgbClr val="162F3B"/>
                </a:solidFill>
                <a:latin typeface="DejaVu Sans"/>
              </a:rPr>
              <a:t>comparison from the main study.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16256000" cy="9144000"/>
          </a:xfrm>
          <a:prstGeom prst="rect">
            <a:avLst/>
          </a:prstGeom>
          <a:solidFill>
            <a:srgbClr val="FAFAF7"/>
          </a:solidFill>
          <a:ln>
            <a:noFill/>
          </a:ln>
        </p:spPr>
      </p:sp>
      <p:sp>
        <p:nvSpPr>
          <p:cNvPr id="3" name="rect 3"/>
          <p:cNvSpPr/>
          <p:nvPr/>
        </p:nvSpPr>
        <p:spPr>
          <a:xfrm>
            <a:off x="0" y="0"/>
            <a:ext cx="16256000" cy="88900"/>
          </a:xfrm>
          <a:prstGeom prst="rect">
            <a:avLst/>
          </a:prstGeom>
          <a:solidFill>
            <a:srgbClr val="007E80"/>
          </a:solidFill>
          <a:ln>
            <a:noFill/>
          </a:ln>
        </p:spPr>
      </p:sp>
      <p:sp>
        <p:nvSpPr>
          <p:cNvPr id="4" name="text 4"/>
          <p:cNvSpPr/>
          <p:nvPr/>
        </p:nvSpPr>
        <p:spPr>
          <a:xfrm>
            <a:off x="685800" y="355600"/>
            <a:ext cx="14884400" cy="2222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400" b="1">
                <a:solidFill>
                  <a:srgbClr val="007E80"/>
                </a:solidFill>
                <a:latin typeface="DejaVu Sans"/>
              </a:rPr>
              <a:t>Why averages are insufficient</a:t>
            </a:r>
          </a:p>
        </p:txBody>
      </p:sp>
      <p:sp>
        <p:nvSpPr>
          <p:cNvPr id="5" name="text 5"/>
          <p:cNvSpPr/>
          <p:nvPr/>
        </p:nvSpPr>
        <p:spPr>
          <a:xfrm>
            <a:off x="685800" y="850900"/>
            <a:ext cx="14884400" cy="555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3500" b="1">
                <a:solidFill>
                  <a:srgbClr val="162F3B"/>
                </a:solidFill>
                <a:latin typeface="DejaVu Sans"/>
              </a:rPr>
              <a:t>Extreme losses have different observed tails</a:t>
            </a:r>
          </a:p>
        </p:txBody>
      </p:sp>
      <p:sp>
        <p:nvSpPr>
          <p:cNvPr id="6" name="rect 6"/>
          <p:cNvSpPr/>
          <p:nvPr/>
        </p:nvSpPr>
        <p:spPr>
          <a:xfrm>
            <a:off x="685800" y="7797800"/>
            <a:ext cx="14884400" cy="762000"/>
          </a:xfrm>
          <a:prstGeom prst="rect">
            <a:avLst/>
          </a:prstGeom>
          <a:solidFill>
            <a:srgbClr val="EAF3F1"/>
          </a:solidFill>
          <a:ln>
            <a:noFill/>
          </a:ln>
        </p:spPr>
      </p:sp>
      <p:sp>
        <p:nvSpPr>
          <p:cNvPr id="7" name="text 7"/>
          <p:cNvSpPr/>
          <p:nvPr/>
        </p:nvSpPr>
        <p:spPr>
          <a:xfrm>
            <a:off x="914400" y="7937500"/>
            <a:ext cx="144272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162F3B"/>
                </a:solidFill>
                <a:latin typeface="DejaVu Sans"/>
              </a:rPr>
              <a:t>Stable v0 has the more pronounced tail here. A power-law family is not established.</a:t>
            </a:r>
          </a:p>
        </p:txBody>
      </p:sp>
      <p:sp>
        <p:nvSpPr>
          <p:cNvPr id="8" name="text 8"/>
          <p:cNvSpPr/>
          <p:nvPr/>
        </p:nvSpPr>
        <p:spPr>
          <a:xfrm>
            <a:off x="698500" y="8788400"/>
            <a:ext cx="13716000" cy="166688"/>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050" b="0">
                <a:solidFill>
                  <a:srgbClr val="52666F"/>
                </a:solidFill>
                <a:latin typeface="DejaVu Sans"/>
              </a:rPr>
              <a:t>Source: HT-17; fact sample 0/order 100; 1,000 edits; 245,237 shared text positions.</a:t>
            </a:r>
          </a:p>
        </p:txBody>
      </p:sp>
      <p:sp>
        <p:nvSpPr>
          <p:cNvPr id="9" name="text 9"/>
          <p:cNvSpPr/>
          <p:nvPr/>
        </p:nvSpPr>
        <p:spPr>
          <a:xfrm>
            <a:off x="14541500" y="8788400"/>
            <a:ext cx="1079500" cy="190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200" b="0">
                <a:solidFill>
                  <a:srgbClr val="52666F"/>
                </a:solidFill>
                <a:latin typeface="DejaVu Sans"/>
              </a:rPr>
              <a:t>12 / 15</a:t>
            </a:r>
          </a:p>
        </p:txBody>
      </p:sp>
      <p:sp>
        <p:nvSpPr>
          <p:cNvPr id="10" name="text 10"/>
          <p:cNvSpPr/>
          <p:nvPr/>
        </p:nvSpPr>
        <p:spPr>
          <a:xfrm>
            <a:off x="711200" y="2006600"/>
            <a:ext cx="14859000" cy="3492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200" b="0">
                <a:solidFill>
                  <a:srgbClr val="162F3B"/>
                </a:solidFill>
                <a:latin typeface="DejaVu Sans"/>
              </a:rPr>
              <a:t>Δ = loss with cap − loss without cap, at the same prefix. Positive Δ means worse prediction.</a:t>
            </a:r>
          </a:p>
        </p:txBody>
      </p:sp>
      <p:sp>
        <p:nvSpPr>
          <p:cNvPr id="11" name="text 11"/>
          <p:cNvSpPr/>
          <p:nvPr/>
        </p:nvSpPr>
        <p:spPr>
          <a:xfrm>
            <a:off x="736600" y="2844800"/>
            <a:ext cx="14605000" cy="2857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800" b="0">
                <a:solidFill>
                  <a:srgbClr val="52666F"/>
                </a:solidFill>
                <a:latin typeface="DejaVu Sans"/>
              </a:rPr>
              <a:t>Positions above threshold (log scale)</a:t>
            </a:r>
          </a:p>
        </p:txBody>
      </p:sp>
      <p:sp>
        <p:nvSpPr>
          <p:cNvPr id="12" name="text 12"/>
          <p:cNvSpPr/>
          <p:nvPr/>
        </p:nvSpPr>
        <p:spPr>
          <a:xfrm>
            <a:off x="1866900" y="3213100"/>
            <a:ext cx="5765800" cy="3651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300" b="1">
                <a:solidFill>
                  <a:srgbClr val="007E80"/>
                </a:solidFill>
                <a:latin typeface="DejaVu Sans"/>
              </a:rPr>
              <a:t>zsRE · learned reader</a:t>
            </a:r>
          </a:p>
        </p:txBody>
      </p:sp>
      <p:sp>
        <p:nvSpPr>
          <p:cNvPr id="13" name="path 13"/>
          <p:cNvSpPr/>
          <p:nvPr/>
        </p:nvSpPr>
        <p:spPr>
          <a:xfrm>
            <a:off x="1866900" y="3644900"/>
            <a:ext cx="127" cy="2527300"/>
          </a:xfrm>
          <a:custGeom>
            <a:avLst/>
            <a:gdLst/>
            <a:ahLst/>
            <a:cxnLst/>
            <a:rect l="0" t="0" r="r" b="b"/>
            <a:pathLst>
              <a:path w="127" h="2527300" fill="none">
                <a:moveTo>
                  <a:pt x="0" y="0"/>
                </a:moveTo>
                <a:lnTo>
                  <a:pt x="0" y="2527300"/>
                </a:lnTo>
              </a:path>
            </a:pathLst>
          </a:custGeom>
          <a:noFill/>
          <a:ln w="10160">
            <a:solidFill>
              <a:srgbClr val="D8E1E2"/>
            </a:solidFill>
            <a:prstDash val="solid"/>
          </a:ln>
        </p:spPr>
      </p:sp>
      <p:sp>
        <p:nvSpPr>
          <p:cNvPr id="14" name="text 14"/>
          <p:cNvSpPr/>
          <p:nvPr/>
        </p:nvSpPr>
        <p:spPr>
          <a:xfrm>
            <a:off x="1651000" y="6286500"/>
            <a:ext cx="965200" cy="269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700" b="0">
                <a:solidFill>
                  <a:srgbClr val="162F3B"/>
                </a:solidFill>
                <a:latin typeface="DejaVu Sans"/>
              </a:rPr>
              <a:t>0.01</a:t>
            </a:r>
          </a:p>
        </p:txBody>
      </p:sp>
      <p:sp>
        <p:nvSpPr>
          <p:cNvPr id="15" name="path 15"/>
          <p:cNvSpPr/>
          <p:nvPr/>
        </p:nvSpPr>
        <p:spPr>
          <a:xfrm>
            <a:off x="3493787" y="3644900"/>
            <a:ext cx="127" cy="2527300"/>
          </a:xfrm>
          <a:custGeom>
            <a:avLst/>
            <a:gdLst/>
            <a:ahLst/>
            <a:cxnLst/>
            <a:rect l="0" t="0" r="r" b="b"/>
            <a:pathLst>
              <a:path w="127" h="2527300" fill="none">
                <a:moveTo>
                  <a:pt x="0" y="0"/>
                </a:moveTo>
                <a:lnTo>
                  <a:pt x="0" y="2527300"/>
                </a:lnTo>
              </a:path>
            </a:pathLst>
          </a:custGeom>
          <a:noFill/>
          <a:ln w="10160">
            <a:solidFill>
              <a:srgbClr val="D8E1E2"/>
            </a:solidFill>
            <a:prstDash val="solid"/>
          </a:ln>
        </p:spPr>
      </p:sp>
      <p:sp>
        <p:nvSpPr>
          <p:cNvPr id="16" name="text 16"/>
          <p:cNvSpPr/>
          <p:nvPr/>
        </p:nvSpPr>
        <p:spPr>
          <a:xfrm>
            <a:off x="3277887" y="6286500"/>
            <a:ext cx="965200" cy="269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700" b="0">
                <a:solidFill>
                  <a:srgbClr val="162F3B"/>
                </a:solidFill>
                <a:latin typeface="DejaVu Sans"/>
              </a:rPr>
              <a:t>0.1</a:t>
            </a:r>
          </a:p>
        </p:txBody>
      </p:sp>
      <p:sp>
        <p:nvSpPr>
          <p:cNvPr id="17" name="path 17"/>
          <p:cNvSpPr/>
          <p:nvPr/>
        </p:nvSpPr>
        <p:spPr>
          <a:xfrm>
            <a:off x="5120675" y="3644900"/>
            <a:ext cx="127" cy="2527300"/>
          </a:xfrm>
          <a:custGeom>
            <a:avLst/>
            <a:gdLst/>
            <a:ahLst/>
            <a:cxnLst/>
            <a:rect l="0" t="0" r="r" b="b"/>
            <a:pathLst>
              <a:path w="127" h="2527300" fill="none">
                <a:moveTo>
                  <a:pt x="0" y="0"/>
                </a:moveTo>
                <a:lnTo>
                  <a:pt x="0" y="2527300"/>
                </a:lnTo>
              </a:path>
            </a:pathLst>
          </a:custGeom>
          <a:noFill/>
          <a:ln w="10160">
            <a:solidFill>
              <a:srgbClr val="D8E1E2"/>
            </a:solidFill>
            <a:prstDash val="solid"/>
          </a:ln>
        </p:spPr>
      </p:sp>
      <p:sp>
        <p:nvSpPr>
          <p:cNvPr id="18" name="text 18"/>
          <p:cNvSpPr/>
          <p:nvPr/>
        </p:nvSpPr>
        <p:spPr>
          <a:xfrm>
            <a:off x="4904775" y="6286500"/>
            <a:ext cx="965200" cy="269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700" b="0">
                <a:solidFill>
                  <a:srgbClr val="162F3B"/>
                </a:solidFill>
                <a:latin typeface="DejaVu Sans"/>
              </a:rPr>
              <a:t>1</a:t>
            </a:r>
          </a:p>
        </p:txBody>
      </p:sp>
      <p:sp>
        <p:nvSpPr>
          <p:cNvPr id="19" name="path 19"/>
          <p:cNvSpPr/>
          <p:nvPr/>
        </p:nvSpPr>
        <p:spPr>
          <a:xfrm>
            <a:off x="6747562" y="3644900"/>
            <a:ext cx="127" cy="2527300"/>
          </a:xfrm>
          <a:custGeom>
            <a:avLst/>
            <a:gdLst/>
            <a:ahLst/>
            <a:cxnLst/>
            <a:rect l="0" t="0" r="r" b="b"/>
            <a:pathLst>
              <a:path w="127" h="2527300" fill="none">
                <a:moveTo>
                  <a:pt x="0" y="0"/>
                </a:moveTo>
                <a:lnTo>
                  <a:pt x="0" y="2527300"/>
                </a:lnTo>
              </a:path>
            </a:pathLst>
          </a:custGeom>
          <a:noFill/>
          <a:ln w="10160">
            <a:solidFill>
              <a:srgbClr val="D8E1E2"/>
            </a:solidFill>
            <a:prstDash val="solid"/>
          </a:ln>
        </p:spPr>
      </p:sp>
      <p:sp>
        <p:nvSpPr>
          <p:cNvPr id="20" name="text 20"/>
          <p:cNvSpPr/>
          <p:nvPr/>
        </p:nvSpPr>
        <p:spPr>
          <a:xfrm>
            <a:off x="6531662" y="6286500"/>
            <a:ext cx="965200" cy="269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700" b="0">
                <a:solidFill>
                  <a:srgbClr val="162F3B"/>
                </a:solidFill>
                <a:latin typeface="DejaVu Sans"/>
              </a:rPr>
              <a:t>10</a:t>
            </a:r>
          </a:p>
        </p:txBody>
      </p:sp>
      <p:sp>
        <p:nvSpPr>
          <p:cNvPr id="21" name="path 21"/>
          <p:cNvSpPr/>
          <p:nvPr/>
        </p:nvSpPr>
        <p:spPr>
          <a:xfrm>
            <a:off x="1866900" y="4131817"/>
            <a:ext cx="5765800" cy="127"/>
          </a:xfrm>
          <a:custGeom>
            <a:avLst/>
            <a:gdLst/>
            <a:ahLst/>
            <a:cxnLst/>
            <a:rect l="0" t="0" r="r" b="b"/>
            <a:pathLst>
              <a:path w="5765800" h="127" fill="none">
                <a:moveTo>
                  <a:pt x="0" y="0"/>
                </a:moveTo>
                <a:lnTo>
                  <a:pt x="5765800" y="0"/>
                </a:lnTo>
              </a:path>
            </a:pathLst>
          </a:custGeom>
          <a:noFill/>
          <a:ln w="10160">
            <a:solidFill>
              <a:srgbClr val="D8E1E2"/>
            </a:solidFill>
            <a:prstDash val="solid"/>
          </a:ln>
        </p:spPr>
      </p:sp>
      <p:sp>
        <p:nvSpPr>
          <p:cNvPr id="22" name="text 22"/>
          <p:cNvSpPr/>
          <p:nvPr/>
        </p:nvSpPr>
        <p:spPr>
          <a:xfrm>
            <a:off x="825500" y="4017517"/>
            <a:ext cx="1016000" cy="269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700" b="0">
                <a:solidFill>
                  <a:srgbClr val="162F3B"/>
                </a:solidFill>
                <a:latin typeface="DejaVu Sans"/>
              </a:rPr>
              <a:t>0.1%</a:t>
            </a:r>
          </a:p>
        </p:txBody>
      </p:sp>
      <p:sp>
        <p:nvSpPr>
          <p:cNvPr id="23" name="path 23"/>
          <p:cNvSpPr/>
          <p:nvPr/>
        </p:nvSpPr>
        <p:spPr>
          <a:xfrm>
            <a:off x="1866900" y="4940569"/>
            <a:ext cx="5765800" cy="127"/>
          </a:xfrm>
          <a:custGeom>
            <a:avLst/>
            <a:gdLst/>
            <a:ahLst/>
            <a:cxnLst/>
            <a:rect l="0" t="0" r="r" b="b"/>
            <a:pathLst>
              <a:path w="5765800" h="127" fill="none">
                <a:moveTo>
                  <a:pt x="0" y="0"/>
                </a:moveTo>
                <a:lnTo>
                  <a:pt x="5765800" y="0"/>
                </a:lnTo>
              </a:path>
            </a:pathLst>
          </a:custGeom>
          <a:noFill/>
          <a:ln w="10160">
            <a:solidFill>
              <a:srgbClr val="D8E1E2"/>
            </a:solidFill>
            <a:prstDash val="solid"/>
          </a:ln>
        </p:spPr>
      </p:sp>
      <p:sp>
        <p:nvSpPr>
          <p:cNvPr id="24" name="text 24"/>
          <p:cNvSpPr/>
          <p:nvPr/>
        </p:nvSpPr>
        <p:spPr>
          <a:xfrm>
            <a:off x="825500" y="4826269"/>
            <a:ext cx="1016000" cy="269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700" b="0">
                <a:solidFill>
                  <a:srgbClr val="162F3B"/>
                </a:solidFill>
                <a:latin typeface="DejaVu Sans"/>
              </a:rPr>
              <a:t>0.01%</a:t>
            </a:r>
          </a:p>
        </p:txBody>
      </p:sp>
      <p:sp>
        <p:nvSpPr>
          <p:cNvPr id="25" name="path 25"/>
          <p:cNvSpPr/>
          <p:nvPr/>
        </p:nvSpPr>
        <p:spPr>
          <a:xfrm>
            <a:off x="1866900" y="5749321"/>
            <a:ext cx="5765800" cy="127"/>
          </a:xfrm>
          <a:custGeom>
            <a:avLst/>
            <a:gdLst/>
            <a:ahLst/>
            <a:cxnLst/>
            <a:rect l="0" t="0" r="r" b="b"/>
            <a:pathLst>
              <a:path w="5765800" h="127" fill="none">
                <a:moveTo>
                  <a:pt x="0" y="0"/>
                </a:moveTo>
                <a:lnTo>
                  <a:pt x="5765800" y="0"/>
                </a:lnTo>
              </a:path>
            </a:pathLst>
          </a:custGeom>
          <a:noFill/>
          <a:ln w="10160">
            <a:solidFill>
              <a:srgbClr val="D8E1E2"/>
            </a:solidFill>
            <a:prstDash val="solid"/>
          </a:ln>
        </p:spPr>
      </p:sp>
      <p:sp>
        <p:nvSpPr>
          <p:cNvPr id="26" name="text 26"/>
          <p:cNvSpPr/>
          <p:nvPr/>
        </p:nvSpPr>
        <p:spPr>
          <a:xfrm>
            <a:off x="825500" y="5635021"/>
            <a:ext cx="1016000" cy="269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700" b="0">
                <a:solidFill>
                  <a:srgbClr val="162F3B"/>
                </a:solidFill>
                <a:latin typeface="DejaVu Sans"/>
              </a:rPr>
              <a:t>0.001%</a:t>
            </a:r>
          </a:p>
        </p:txBody>
      </p:sp>
      <p:sp>
        <p:nvSpPr>
          <p:cNvPr id="27" name="path 27"/>
          <p:cNvSpPr/>
          <p:nvPr/>
        </p:nvSpPr>
        <p:spPr>
          <a:xfrm>
            <a:off x="1866900" y="3964397"/>
            <a:ext cx="4826515" cy="2207803"/>
          </a:xfrm>
          <a:custGeom>
            <a:avLst/>
            <a:gdLst/>
            <a:ahLst/>
            <a:cxnLst/>
            <a:rect l="0" t="0" r="r" b="b"/>
            <a:pathLst>
              <a:path w="4826515" h="2207803" fill="none">
                <a:moveTo>
                  <a:pt x="0" y="0"/>
                </a:moveTo>
                <a:lnTo>
                  <a:pt x="88572" y="0"/>
                </a:lnTo>
                <a:lnTo>
                  <a:pt x="88572" y="890"/>
                </a:lnTo>
                <a:lnTo>
                  <a:pt x="191430" y="890"/>
                </a:lnTo>
                <a:lnTo>
                  <a:pt x="191430" y="1783"/>
                </a:lnTo>
                <a:lnTo>
                  <a:pt x="308284" y="1783"/>
                </a:lnTo>
                <a:lnTo>
                  <a:pt x="308284" y="2678"/>
                </a:lnTo>
                <a:lnTo>
                  <a:pt x="315895" y="2678"/>
                </a:lnTo>
                <a:lnTo>
                  <a:pt x="315895" y="3575"/>
                </a:lnTo>
                <a:lnTo>
                  <a:pt x="570389" y="3575"/>
                </a:lnTo>
                <a:lnTo>
                  <a:pt x="570389" y="4474"/>
                </a:lnTo>
                <a:lnTo>
                  <a:pt x="581225" y="4474"/>
                </a:lnTo>
                <a:lnTo>
                  <a:pt x="581225" y="5376"/>
                </a:lnTo>
                <a:lnTo>
                  <a:pt x="1066310" y="5376"/>
                </a:lnTo>
                <a:lnTo>
                  <a:pt x="1066310" y="6280"/>
                </a:lnTo>
                <a:lnTo>
                  <a:pt x="1140734" y="6280"/>
                </a:lnTo>
                <a:lnTo>
                  <a:pt x="1140734" y="7187"/>
                </a:lnTo>
                <a:lnTo>
                  <a:pt x="1142272" y="7187"/>
                </a:lnTo>
                <a:lnTo>
                  <a:pt x="1142272" y="8095"/>
                </a:lnTo>
                <a:lnTo>
                  <a:pt x="1145235" y="8095"/>
                </a:lnTo>
                <a:lnTo>
                  <a:pt x="1145235" y="9007"/>
                </a:lnTo>
                <a:lnTo>
                  <a:pt x="1169152" y="9007"/>
                </a:lnTo>
                <a:lnTo>
                  <a:pt x="1169152" y="9920"/>
                </a:lnTo>
                <a:lnTo>
                  <a:pt x="1220078" y="9920"/>
                </a:lnTo>
                <a:lnTo>
                  <a:pt x="1220078" y="10836"/>
                </a:lnTo>
                <a:lnTo>
                  <a:pt x="1276840" y="10836"/>
                </a:lnTo>
                <a:lnTo>
                  <a:pt x="1276840" y="11754"/>
                </a:lnTo>
                <a:lnTo>
                  <a:pt x="1315760" y="11754"/>
                </a:lnTo>
                <a:lnTo>
                  <a:pt x="1315760" y="12675"/>
                </a:lnTo>
                <a:lnTo>
                  <a:pt x="1341811" y="12675"/>
                </a:lnTo>
                <a:lnTo>
                  <a:pt x="1341811" y="13598"/>
                </a:lnTo>
                <a:lnTo>
                  <a:pt x="1429155" y="13598"/>
                </a:lnTo>
                <a:lnTo>
                  <a:pt x="1429155" y="14523"/>
                </a:lnTo>
                <a:lnTo>
                  <a:pt x="1441164" y="14523"/>
                </a:lnTo>
                <a:lnTo>
                  <a:pt x="1441164" y="15451"/>
                </a:lnTo>
                <a:lnTo>
                  <a:pt x="1521862" y="15451"/>
                </a:lnTo>
                <a:lnTo>
                  <a:pt x="1521862" y="16382"/>
                </a:lnTo>
                <a:lnTo>
                  <a:pt x="1574868" y="16382"/>
                </a:lnTo>
                <a:lnTo>
                  <a:pt x="1574868" y="17315"/>
                </a:lnTo>
                <a:lnTo>
                  <a:pt x="1594089" y="17315"/>
                </a:lnTo>
                <a:lnTo>
                  <a:pt x="1594089" y="18250"/>
                </a:lnTo>
                <a:lnTo>
                  <a:pt x="1608878" y="18250"/>
                </a:lnTo>
                <a:lnTo>
                  <a:pt x="1608878" y="19188"/>
                </a:lnTo>
                <a:lnTo>
                  <a:pt x="1650637" y="19188"/>
                </a:lnTo>
                <a:lnTo>
                  <a:pt x="1650637" y="20128"/>
                </a:lnTo>
                <a:lnTo>
                  <a:pt x="1654434" y="20128"/>
                </a:lnTo>
                <a:lnTo>
                  <a:pt x="1654434" y="21071"/>
                </a:lnTo>
                <a:lnTo>
                  <a:pt x="1666062" y="21071"/>
                </a:lnTo>
                <a:lnTo>
                  <a:pt x="1666062" y="22017"/>
                </a:lnTo>
                <a:lnTo>
                  <a:pt x="1691429" y="22017"/>
                </a:lnTo>
                <a:lnTo>
                  <a:pt x="1691429" y="22965"/>
                </a:lnTo>
                <a:lnTo>
                  <a:pt x="1702872" y="22965"/>
                </a:lnTo>
                <a:lnTo>
                  <a:pt x="1702872" y="23915"/>
                </a:lnTo>
                <a:lnTo>
                  <a:pt x="1711745" y="23915"/>
                </a:lnTo>
                <a:lnTo>
                  <a:pt x="1711745" y="24869"/>
                </a:lnTo>
                <a:lnTo>
                  <a:pt x="1750296" y="24869"/>
                </a:lnTo>
                <a:lnTo>
                  <a:pt x="1750296" y="25824"/>
                </a:lnTo>
                <a:lnTo>
                  <a:pt x="1756381" y="25824"/>
                </a:lnTo>
                <a:lnTo>
                  <a:pt x="1756381" y="26783"/>
                </a:lnTo>
                <a:lnTo>
                  <a:pt x="1784082" y="26783"/>
                </a:lnTo>
                <a:lnTo>
                  <a:pt x="1784082" y="27744"/>
                </a:lnTo>
                <a:lnTo>
                  <a:pt x="1797156" y="27744"/>
                </a:lnTo>
                <a:lnTo>
                  <a:pt x="1797156" y="28707"/>
                </a:lnTo>
                <a:lnTo>
                  <a:pt x="1825480" y="28707"/>
                </a:lnTo>
                <a:lnTo>
                  <a:pt x="1825480" y="29673"/>
                </a:lnTo>
                <a:lnTo>
                  <a:pt x="1826713" y="29673"/>
                </a:lnTo>
                <a:lnTo>
                  <a:pt x="1826713" y="30642"/>
                </a:lnTo>
                <a:lnTo>
                  <a:pt x="1877885" y="30642"/>
                </a:lnTo>
                <a:lnTo>
                  <a:pt x="1877885" y="31614"/>
                </a:lnTo>
                <a:lnTo>
                  <a:pt x="1903428" y="31614"/>
                </a:lnTo>
                <a:lnTo>
                  <a:pt x="1903428" y="32588"/>
                </a:lnTo>
                <a:lnTo>
                  <a:pt x="1910138" y="32588"/>
                </a:lnTo>
                <a:lnTo>
                  <a:pt x="1910138" y="33565"/>
                </a:lnTo>
                <a:lnTo>
                  <a:pt x="1910331" y="33565"/>
                </a:lnTo>
                <a:lnTo>
                  <a:pt x="1910331" y="34545"/>
                </a:lnTo>
                <a:lnTo>
                  <a:pt x="1938252" y="34545"/>
                </a:lnTo>
                <a:lnTo>
                  <a:pt x="1938252" y="35528"/>
                </a:lnTo>
                <a:lnTo>
                  <a:pt x="1999347" y="35528"/>
                </a:lnTo>
                <a:lnTo>
                  <a:pt x="1999347" y="36513"/>
                </a:lnTo>
                <a:lnTo>
                  <a:pt x="2023457" y="36513"/>
                </a:lnTo>
                <a:lnTo>
                  <a:pt x="2023457" y="37501"/>
                </a:lnTo>
                <a:lnTo>
                  <a:pt x="2026733" y="37501"/>
                </a:lnTo>
                <a:lnTo>
                  <a:pt x="2026733" y="38492"/>
                </a:lnTo>
                <a:lnTo>
                  <a:pt x="2043815" y="38492"/>
                </a:lnTo>
                <a:lnTo>
                  <a:pt x="2043815" y="39485"/>
                </a:lnTo>
                <a:lnTo>
                  <a:pt x="2050450" y="39485"/>
                </a:lnTo>
                <a:lnTo>
                  <a:pt x="2050450" y="40482"/>
                </a:lnTo>
                <a:lnTo>
                  <a:pt x="2053752" y="40482"/>
                </a:lnTo>
                <a:lnTo>
                  <a:pt x="2053752" y="41481"/>
                </a:lnTo>
                <a:lnTo>
                  <a:pt x="2053957" y="41481"/>
                </a:lnTo>
                <a:lnTo>
                  <a:pt x="2053957" y="42483"/>
                </a:lnTo>
                <a:lnTo>
                  <a:pt x="2055603" y="42483"/>
                </a:lnTo>
                <a:lnTo>
                  <a:pt x="2055603" y="43488"/>
                </a:lnTo>
                <a:lnTo>
                  <a:pt x="2123151" y="43488"/>
                </a:lnTo>
                <a:lnTo>
                  <a:pt x="2123151" y="44496"/>
                </a:lnTo>
                <a:lnTo>
                  <a:pt x="2135102" y="44496"/>
                </a:lnTo>
                <a:lnTo>
                  <a:pt x="2135102" y="45507"/>
                </a:lnTo>
                <a:lnTo>
                  <a:pt x="2144808" y="45507"/>
                </a:lnTo>
                <a:lnTo>
                  <a:pt x="2144808" y="46520"/>
                </a:lnTo>
                <a:lnTo>
                  <a:pt x="2181303" y="46520"/>
                </a:lnTo>
                <a:lnTo>
                  <a:pt x="2181303" y="47537"/>
                </a:lnTo>
                <a:lnTo>
                  <a:pt x="2198121" y="47537"/>
                </a:lnTo>
                <a:lnTo>
                  <a:pt x="2198121" y="48556"/>
                </a:lnTo>
                <a:lnTo>
                  <a:pt x="2225218" y="48556"/>
                </a:lnTo>
                <a:lnTo>
                  <a:pt x="2225218" y="49579"/>
                </a:lnTo>
                <a:lnTo>
                  <a:pt x="2233881" y="49579"/>
                </a:lnTo>
                <a:lnTo>
                  <a:pt x="2233881" y="50604"/>
                </a:lnTo>
                <a:lnTo>
                  <a:pt x="2241689" y="50604"/>
                </a:lnTo>
                <a:lnTo>
                  <a:pt x="2241689" y="51633"/>
                </a:lnTo>
                <a:lnTo>
                  <a:pt x="2244760" y="51633"/>
                </a:lnTo>
                <a:lnTo>
                  <a:pt x="2244760" y="52664"/>
                </a:lnTo>
                <a:lnTo>
                  <a:pt x="2260075" y="52664"/>
                </a:lnTo>
                <a:lnTo>
                  <a:pt x="2260075" y="53699"/>
                </a:lnTo>
                <a:lnTo>
                  <a:pt x="2279836" y="53699"/>
                </a:lnTo>
                <a:lnTo>
                  <a:pt x="2279836" y="54737"/>
                </a:lnTo>
                <a:lnTo>
                  <a:pt x="2282073" y="54737"/>
                </a:lnTo>
                <a:lnTo>
                  <a:pt x="2282073" y="55777"/>
                </a:lnTo>
                <a:lnTo>
                  <a:pt x="2283218" y="55777"/>
                </a:lnTo>
                <a:lnTo>
                  <a:pt x="2283218" y="56821"/>
                </a:lnTo>
                <a:lnTo>
                  <a:pt x="2286966" y="56821"/>
                </a:lnTo>
                <a:lnTo>
                  <a:pt x="2286966" y="57868"/>
                </a:lnTo>
                <a:lnTo>
                  <a:pt x="2300024" y="57868"/>
                </a:lnTo>
                <a:lnTo>
                  <a:pt x="2300024" y="58918"/>
                </a:lnTo>
                <a:lnTo>
                  <a:pt x="2321223" y="58918"/>
                </a:lnTo>
                <a:lnTo>
                  <a:pt x="2321223" y="59971"/>
                </a:lnTo>
                <a:lnTo>
                  <a:pt x="2322849" y="59971"/>
                </a:lnTo>
                <a:lnTo>
                  <a:pt x="2322849" y="61028"/>
                </a:lnTo>
                <a:lnTo>
                  <a:pt x="2333271" y="61028"/>
                </a:lnTo>
                <a:lnTo>
                  <a:pt x="2333271" y="62087"/>
                </a:lnTo>
                <a:lnTo>
                  <a:pt x="2358315" y="62087"/>
                </a:lnTo>
                <a:lnTo>
                  <a:pt x="2358315" y="63150"/>
                </a:lnTo>
                <a:lnTo>
                  <a:pt x="2397641" y="63150"/>
                </a:lnTo>
                <a:lnTo>
                  <a:pt x="2397641" y="64216"/>
                </a:lnTo>
                <a:lnTo>
                  <a:pt x="2398998" y="64216"/>
                </a:lnTo>
                <a:lnTo>
                  <a:pt x="2398998" y="65285"/>
                </a:lnTo>
                <a:lnTo>
                  <a:pt x="2411877" y="65285"/>
                </a:lnTo>
                <a:lnTo>
                  <a:pt x="2411877" y="66358"/>
                </a:lnTo>
                <a:lnTo>
                  <a:pt x="2415263" y="66358"/>
                </a:lnTo>
                <a:lnTo>
                  <a:pt x="2415263" y="67433"/>
                </a:lnTo>
                <a:lnTo>
                  <a:pt x="2419858" y="67433"/>
                </a:lnTo>
                <a:lnTo>
                  <a:pt x="2419858" y="68512"/>
                </a:lnTo>
                <a:lnTo>
                  <a:pt x="2439253" y="68512"/>
                </a:lnTo>
                <a:lnTo>
                  <a:pt x="2439253" y="69595"/>
                </a:lnTo>
                <a:lnTo>
                  <a:pt x="2446159" y="69595"/>
                </a:lnTo>
                <a:lnTo>
                  <a:pt x="2446159" y="70681"/>
                </a:lnTo>
                <a:lnTo>
                  <a:pt x="2476599" y="70681"/>
                </a:lnTo>
                <a:lnTo>
                  <a:pt x="2476599" y="71770"/>
                </a:lnTo>
                <a:lnTo>
                  <a:pt x="2484571" y="71770"/>
                </a:lnTo>
                <a:lnTo>
                  <a:pt x="2484571" y="72862"/>
                </a:lnTo>
                <a:lnTo>
                  <a:pt x="2487055" y="72862"/>
                </a:lnTo>
                <a:lnTo>
                  <a:pt x="2487055" y="73958"/>
                </a:lnTo>
                <a:lnTo>
                  <a:pt x="2488055" y="73958"/>
                </a:lnTo>
                <a:lnTo>
                  <a:pt x="2488055" y="75057"/>
                </a:lnTo>
                <a:lnTo>
                  <a:pt x="2498434" y="75057"/>
                </a:lnTo>
                <a:lnTo>
                  <a:pt x="2498434" y="76160"/>
                </a:lnTo>
                <a:lnTo>
                  <a:pt x="2500785" y="76160"/>
                </a:lnTo>
                <a:lnTo>
                  <a:pt x="2500785" y="77266"/>
                </a:lnTo>
                <a:lnTo>
                  <a:pt x="2503568" y="77266"/>
                </a:lnTo>
                <a:lnTo>
                  <a:pt x="2503568" y="78376"/>
                </a:lnTo>
                <a:lnTo>
                  <a:pt x="2504043" y="78376"/>
                </a:lnTo>
                <a:lnTo>
                  <a:pt x="2504043" y="79489"/>
                </a:lnTo>
                <a:lnTo>
                  <a:pt x="2516240" y="79489"/>
                </a:lnTo>
                <a:lnTo>
                  <a:pt x="2516240" y="80606"/>
                </a:lnTo>
                <a:lnTo>
                  <a:pt x="2545805" y="80606"/>
                </a:lnTo>
                <a:lnTo>
                  <a:pt x="2545805" y="81727"/>
                </a:lnTo>
                <a:lnTo>
                  <a:pt x="2560929" y="81727"/>
                </a:lnTo>
                <a:lnTo>
                  <a:pt x="2560929" y="82851"/>
                </a:lnTo>
                <a:lnTo>
                  <a:pt x="2561039" y="82851"/>
                </a:lnTo>
                <a:lnTo>
                  <a:pt x="2561039" y="83978"/>
                </a:lnTo>
                <a:lnTo>
                  <a:pt x="2561827" y="83978"/>
                </a:lnTo>
                <a:lnTo>
                  <a:pt x="2561827" y="85109"/>
                </a:lnTo>
                <a:lnTo>
                  <a:pt x="2565348" y="85109"/>
                </a:lnTo>
                <a:lnTo>
                  <a:pt x="2565348" y="86244"/>
                </a:lnTo>
                <a:lnTo>
                  <a:pt x="2569402" y="86244"/>
                </a:lnTo>
                <a:lnTo>
                  <a:pt x="2569402" y="87383"/>
                </a:lnTo>
                <a:lnTo>
                  <a:pt x="2586508" y="87383"/>
                </a:lnTo>
                <a:lnTo>
                  <a:pt x="2586508" y="88525"/>
                </a:lnTo>
                <a:lnTo>
                  <a:pt x="2598238" y="88525"/>
                </a:lnTo>
                <a:lnTo>
                  <a:pt x="2598238" y="89671"/>
                </a:lnTo>
                <a:lnTo>
                  <a:pt x="2605488" y="89671"/>
                </a:lnTo>
                <a:lnTo>
                  <a:pt x="2605488" y="90821"/>
                </a:lnTo>
                <a:lnTo>
                  <a:pt x="2608891" y="90821"/>
                </a:lnTo>
                <a:lnTo>
                  <a:pt x="2608891" y="91974"/>
                </a:lnTo>
                <a:lnTo>
                  <a:pt x="2610278" y="91974"/>
                </a:lnTo>
                <a:lnTo>
                  <a:pt x="2610278" y="93131"/>
                </a:lnTo>
                <a:lnTo>
                  <a:pt x="2615810" y="93131"/>
                </a:lnTo>
                <a:lnTo>
                  <a:pt x="2615810" y="94293"/>
                </a:lnTo>
                <a:lnTo>
                  <a:pt x="2620880" y="94293"/>
                </a:lnTo>
                <a:lnTo>
                  <a:pt x="2620880" y="95457"/>
                </a:lnTo>
                <a:lnTo>
                  <a:pt x="2643095" y="95457"/>
                </a:lnTo>
                <a:lnTo>
                  <a:pt x="2643095" y="96626"/>
                </a:lnTo>
                <a:lnTo>
                  <a:pt x="2647271" y="96626"/>
                </a:lnTo>
                <a:lnTo>
                  <a:pt x="2647271" y="97799"/>
                </a:lnTo>
                <a:lnTo>
                  <a:pt x="2653137" y="97799"/>
                </a:lnTo>
                <a:lnTo>
                  <a:pt x="2653137" y="98976"/>
                </a:lnTo>
                <a:lnTo>
                  <a:pt x="2678228" y="98976"/>
                </a:lnTo>
                <a:lnTo>
                  <a:pt x="2678228" y="100156"/>
                </a:lnTo>
                <a:lnTo>
                  <a:pt x="2680498" y="100156"/>
                </a:lnTo>
                <a:lnTo>
                  <a:pt x="2680498" y="101341"/>
                </a:lnTo>
                <a:lnTo>
                  <a:pt x="2685102" y="101341"/>
                </a:lnTo>
                <a:lnTo>
                  <a:pt x="2685102" y="102530"/>
                </a:lnTo>
                <a:lnTo>
                  <a:pt x="2689119" y="102530"/>
                </a:lnTo>
                <a:lnTo>
                  <a:pt x="2689119" y="103722"/>
                </a:lnTo>
                <a:lnTo>
                  <a:pt x="2690007" y="103722"/>
                </a:lnTo>
                <a:lnTo>
                  <a:pt x="2690007" y="104919"/>
                </a:lnTo>
                <a:lnTo>
                  <a:pt x="2696862" y="104919"/>
                </a:lnTo>
                <a:lnTo>
                  <a:pt x="2696862" y="106120"/>
                </a:lnTo>
                <a:lnTo>
                  <a:pt x="2701053" y="106120"/>
                </a:lnTo>
                <a:lnTo>
                  <a:pt x="2701053" y="107325"/>
                </a:lnTo>
                <a:lnTo>
                  <a:pt x="2702595" y="107325"/>
                </a:lnTo>
                <a:lnTo>
                  <a:pt x="2702595" y="108534"/>
                </a:lnTo>
                <a:lnTo>
                  <a:pt x="2703807" y="108534"/>
                </a:lnTo>
                <a:lnTo>
                  <a:pt x="2703807" y="109747"/>
                </a:lnTo>
                <a:lnTo>
                  <a:pt x="2705110" y="109747"/>
                </a:lnTo>
                <a:lnTo>
                  <a:pt x="2705110" y="110964"/>
                </a:lnTo>
                <a:lnTo>
                  <a:pt x="2713370" y="110964"/>
                </a:lnTo>
                <a:lnTo>
                  <a:pt x="2713370" y="112186"/>
                </a:lnTo>
                <a:lnTo>
                  <a:pt x="2734519" y="112186"/>
                </a:lnTo>
                <a:lnTo>
                  <a:pt x="2734519" y="113412"/>
                </a:lnTo>
                <a:lnTo>
                  <a:pt x="2737066" y="113412"/>
                </a:lnTo>
                <a:lnTo>
                  <a:pt x="2737066" y="114642"/>
                </a:lnTo>
                <a:lnTo>
                  <a:pt x="2746020" y="114642"/>
                </a:lnTo>
                <a:lnTo>
                  <a:pt x="2746020" y="115877"/>
                </a:lnTo>
                <a:lnTo>
                  <a:pt x="2757104" y="115877"/>
                </a:lnTo>
                <a:lnTo>
                  <a:pt x="2757104" y="117116"/>
                </a:lnTo>
                <a:lnTo>
                  <a:pt x="2760576" y="117116"/>
                </a:lnTo>
                <a:lnTo>
                  <a:pt x="2760576" y="118359"/>
                </a:lnTo>
                <a:lnTo>
                  <a:pt x="2760866" y="118359"/>
                </a:lnTo>
                <a:lnTo>
                  <a:pt x="2760866" y="119607"/>
                </a:lnTo>
                <a:lnTo>
                  <a:pt x="2761325" y="119607"/>
                </a:lnTo>
                <a:lnTo>
                  <a:pt x="2761325" y="120859"/>
                </a:lnTo>
                <a:lnTo>
                  <a:pt x="2800832" y="120859"/>
                </a:lnTo>
                <a:lnTo>
                  <a:pt x="2800832" y="122116"/>
                </a:lnTo>
                <a:lnTo>
                  <a:pt x="2809213" y="122116"/>
                </a:lnTo>
                <a:lnTo>
                  <a:pt x="2809213" y="123377"/>
                </a:lnTo>
                <a:lnTo>
                  <a:pt x="2813714" y="123377"/>
                </a:lnTo>
                <a:lnTo>
                  <a:pt x="2813714" y="124643"/>
                </a:lnTo>
                <a:lnTo>
                  <a:pt x="2814372" y="124643"/>
                </a:lnTo>
                <a:lnTo>
                  <a:pt x="2814372" y="125913"/>
                </a:lnTo>
                <a:lnTo>
                  <a:pt x="2818684" y="125913"/>
                </a:lnTo>
                <a:lnTo>
                  <a:pt x="2818684" y="127188"/>
                </a:lnTo>
                <a:lnTo>
                  <a:pt x="2822350" y="127188"/>
                </a:lnTo>
                <a:lnTo>
                  <a:pt x="2822350" y="128467"/>
                </a:lnTo>
                <a:lnTo>
                  <a:pt x="2841123" y="128467"/>
                </a:lnTo>
                <a:lnTo>
                  <a:pt x="2841123" y="129752"/>
                </a:lnTo>
                <a:lnTo>
                  <a:pt x="2843597" y="129752"/>
                </a:lnTo>
                <a:lnTo>
                  <a:pt x="2843597" y="131041"/>
                </a:lnTo>
                <a:lnTo>
                  <a:pt x="2865655" y="131041"/>
                </a:lnTo>
                <a:lnTo>
                  <a:pt x="2865655" y="132334"/>
                </a:lnTo>
                <a:lnTo>
                  <a:pt x="2875028" y="132334"/>
                </a:lnTo>
                <a:lnTo>
                  <a:pt x="2875028" y="133633"/>
                </a:lnTo>
                <a:lnTo>
                  <a:pt x="2875590" y="133633"/>
                </a:lnTo>
                <a:lnTo>
                  <a:pt x="2875590" y="134936"/>
                </a:lnTo>
                <a:lnTo>
                  <a:pt x="2875718" y="134936"/>
                </a:lnTo>
                <a:lnTo>
                  <a:pt x="2875718" y="136244"/>
                </a:lnTo>
                <a:lnTo>
                  <a:pt x="2877048" y="136244"/>
                </a:lnTo>
                <a:lnTo>
                  <a:pt x="2877048" y="137557"/>
                </a:lnTo>
                <a:lnTo>
                  <a:pt x="2879504" y="137557"/>
                </a:lnTo>
                <a:lnTo>
                  <a:pt x="2879504" y="138875"/>
                </a:lnTo>
                <a:lnTo>
                  <a:pt x="2884917" y="138875"/>
                </a:lnTo>
                <a:lnTo>
                  <a:pt x="2884917" y="140198"/>
                </a:lnTo>
                <a:lnTo>
                  <a:pt x="2897754" y="140198"/>
                </a:lnTo>
                <a:lnTo>
                  <a:pt x="2897754" y="141526"/>
                </a:lnTo>
                <a:lnTo>
                  <a:pt x="2899516" y="141526"/>
                </a:lnTo>
                <a:lnTo>
                  <a:pt x="2899516" y="142859"/>
                </a:lnTo>
                <a:lnTo>
                  <a:pt x="2901634" y="142859"/>
                </a:lnTo>
                <a:lnTo>
                  <a:pt x="2901634" y="144197"/>
                </a:lnTo>
                <a:lnTo>
                  <a:pt x="2921126" y="144197"/>
                </a:lnTo>
                <a:lnTo>
                  <a:pt x="2921126" y="145540"/>
                </a:lnTo>
                <a:lnTo>
                  <a:pt x="2921300" y="145540"/>
                </a:lnTo>
                <a:lnTo>
                  <a:pt x="2921300" y="146889"/>
                </a:lnTo>
                <a:lnTo>
                  <a:pt x="2923257" y="146889"/>
                </a:lnTo>
                <a:lnTo>
                  <a:pt x="2923257" y="148242"/>
                </a:lnTo>
                <a:lnTo>
                  <a:pt x="2924653" y="148242"/>
                </a:lnTo>
                <a:lnTo>
                  <a:pt x="2924653" y="149601"/>
                </a:lnTo>
                <a:lnTo>
                  <a:pt x="2924736" y="149601"/>
                </a:lnTo>
                <a:lnTo>
                  <a:pt x="2924736" y="150965"/>
                </a:lnTo>
                <a:lnTo>
                  <a:pt x="2925499" y="150965"/>
                </a:lnTo>
                <a:lnTo>
                  <a:pt x="2925499" y="152334"/>
                </a:lnTo>
                <a:lnTo>
                  <a:pt x="2926327" y="152334"/>
                </a:lnTo>
                <a:lnTo>
                  <a:pt x="2926327" y="153709"/>
                </a:lnTo>
                <a:lnTo>
                  <a:pt x="2929329" y="153709"/>
                </a:lnTo>
                <a:lnTo>
                  <a:pt x="2929329" y="155089"/>
                </a:lnTo>
                <a:lnTo>
                  <a:pt x="2932454" y="155089"/>
                </a:lnTo>
                <a:lnTo>
                  <a:pt x="2932454" y="156475"/>
                </a:lnTo>
                <a:lnTo>
                  <a:pt x="2933738" y="156475"/>
                </a:lnTo>
                <a:lnTo>
                  <a:pt x="2933738" y="157866"/>
                </a:lnTo>
                <a:lnTo>
                  <a:pt x="2936658" y="157866"/>
                </a:lnTo>
                <a:lnTo>
                  <a:pt x="2936658" y="159262"/>
                </a:lnTo>
                <a:lnTo>
                  <a:pt x="2939257" y="159262"/>
                </a:lnTo>
                <a:lnTo>
                  <a:pt x="2939257" y="160664"/>
                </a:lnTo>
                <a:lnTo>
                  <a:pt x="2944497" y="160664"/>
                </a:lnTo>
                <a:lnTo>
                  <a:pt x="2944497" y="162072"/>
                </a:lnTo>
                <a:lnTo>
                  <a:pt x="2954275" y="162072"/>
                </a:lnTo>
                <a:lnTo>
                  <a:pt x="2954275" y="163485"/>
                </a:lnTo>
                <a:lnTo>
                  <a:pt x="2972144" y="163485"/>
                </a:lnTo>
                <a:lnTo>
                  <a:pt x="2972144" y="164905"/>
                </a:lnTo>
                <a:lnTo>
                  <a:pt x="2987432" y="164905"/>
                </a:lnTo>
                <a:lnTo>
                  <a:pt x="2987432" y="166330"/>
                </a:lnTo>
                <a:lnTo>
                  <a:pt x="2992123" y="166330"/>
                </a:lnTo>
                <a:lnTo>
                  <a:pt x="2992123" y="167760"/>
                </a:lnTo>
                <a:lnTo>
                  <a:pt x="3016087" y="167760"/>
                </a:lnTo>
                <a:lnTo>
                  <a:pt x="3016087" y="169197"/>
                </a:lnTo>
                <a:lnTo>
                  <a:pt x="3020602" y="169197"/>
                </a:lnTo>
                <a:lnTo>
                  <a:pt x="3020602" y="170639"/>
                </a:lnTo>
                <a:lnTo>
                  <a:pt x="3022848" y="170639"/>
                </a:lnTo>
                <a:lnTo>
                  <a:pt x="3022848" y="172088"/>
                </a:lnTo>
                <a:lnTo>
                  <a:pt x="3030429" y="172088"/>
                </a:lnTo>
                <a:lnTo>
                  <a:pt x="3030429" y="173542"/>
                </a:lnTo>
                <a:lnTo>
                  <a:pt x="3032790" y="173542"/>
                </a:lnTo>
                <a:lnTo>
                  <a:pt x="3032790" y="175002"/>
                </a:lnTo>
                <a:lnTo>
                  <a:pt x="3037403" y="175002"/>
                </a:lnTo>
                <a:lnTo>
                  <a:pt x="3037403" y="176469"/>
                </a:lnTo>
                <a:lnTo>
                  <a:pt x="3043680" y="176469"/>
                </a:lnTo>
                <a:lnTo>
                  <a:pt x="3043680" y="177942"/>
                </a:lnTo>
                <a:lnTo>
                  <a:pt x="3049065" y="177942"/>
                </a:lnTo>
                <a:lnTo>
                  <a:pt x="3049065" y="179421"/>
                </a:lnTo>
                <a:lnTo>
                  <a:pt x="3065178" y="179421"/>
                </a:lnTo>
                <a:lnTo>
                  <a:pt x="3065178" y="180906"/>
                </a:lnTo>
                <a:lnTo>
                  <a:pt x="3065861" y="180906"/>
                </a:lnTo>
                <a:lnTo>
                  <a:pt x="3065861" y="182397"/>
                </a:lnTo>
                <a:lnTo>
                  <a:pt x="3074075" y="182397"/>
                </a:lnTo>
                <a:lnTo>
                  <a:pt x="3074075" y="183895"/>
                </a:lnTo>
                <a:lnTo>
                  <a:pt x="3081823" y="183895"/>
                </a:lnTo>
                <a:lnTo>
                  <a:pt x="3081823" y="185399"/>
                </a:lnTo>
                <a:lnTo>
                  <a:pt x="3084510" y="185399"/>
                </a:lnTo>
                <a:lnTo>
                  <a:pt x="3084510" y="186910"/>
                </a:lnTo>
                <a:lnTo>
                  <a:pt x="3089939" y="186910"/>
                </a:lnTo>
                <a:lnTo>
                  <a:pt x="3089939" y="188427"/>
                </a:lnTo>
                <a:lnTo>
                  <a:pt x="3095113" y="188427"/>
                </a:lnTo>
                <a:lnTo>
                  <a:pt x="3095113" y="189951"/>
                </a:lnTo>
                <a:lnTo>
                  <a:pt x="3100409" y="189951"/>
                </a:lnTo>
                <a:lnTo>
                  <a:pt x="3100409" y="191481"/>
                </a:lnTo>
                <a:lnTo>
                  <a:pt x="3105208" y="191481"/>
                </a:lnTo>
                <a:lnTo>
                  <a:pt x="3105208" y="193019"/>
                </a:lnTo>
                <a:lnTo>
                  <a:pt x="3119989" y="193019"/>
                </a:lnTo>
                <a:lnTo>
                  <a:pt x="3119989" y="194562"/>
                </a:lnTo>
                <a:lnTo>
                  <a:pt x="3121433" y="194562"/>
                </a:lnTo>
                <a:lnTo>
                  <a:pt x="3121433" y="196113"/>
                </a:lnTo>
                <a:lnTo>
                  <a:pt x="3123865" y="196113"/>
                </a:lnTo>
                <a:lnTo>
                  <a:pt x="3123865" y="197671"/>
                </a:lnTo>
                <a:lnTo>
                  <a:pt x="3134935" y="197671"/>
                </a:lnTo>
                <a:lnTo>
                  <a:pt x="3134935" y="199235"/>
                </a:lnTo>
                <a:lnTo>
                  <a:pt x="3135226" y="199235"/>
                </a:lnTo>
                <a:lnTo>
                  <a:pt x="3135226" y="200807"/>
                </a:lnTo>
                <a:lnTo>
                  <a:pt x="3136287" y="200807"/>
                </a:lnTo>
                <a:lnTo>
                  <a:pt x="3136287" y="202385"/>
                </a:lnTo>
                <a:lnTo>
                  <a:pt x="3137228" y="202385"/>
                </a:lnTo>
                <a:lnTo>
                  <a:pt x="3137228" y="203971"/>
                </a:lnTo>
                <a:lnTo>
                  <a:pt x="3141217" y="203971"/>
                </a:lnTo>
                <a:lnTo>
                  <a:pt x="3141217" y="205564"/>
                </a:lnTo>
                <a:lnTo>
                  <a:pt x="3151972" y="205564"/>
                </a:lnTo>
                <a:lnTo>
                  <a:pt x="3151972" y="207164"/>
                </a:lnTo>
                <a:lnTo>
                  <a:pt x="3160945" y="207164"/>
                </a:lnTo>
                <a:lnTo>
                  <a:pt x="3160945" y="208772"/>
                </a:lnTo>
                <a:lnTo>
                  <a:pt x="3163301" y="208772"/>
                </a:lnTo>
                <a:lnTo>
                  <a:pt x="3163301" y="210387"/>
                </a:lnTo>
                <a:lnTo>
                  <a:pt x="3163904" y="210387"/>
                </a:lnTo>
                <a:lnTo>
                  <a:pt x="3163904" y="212009"/>
                </a:lnTo>
                <a:lnTo>
                  <a:pt x="3168064" y="212009"/>
                </a:lnTo>
                <a:lnTo>
                  <a:pt x="3168064" y="213639"/>
                </a:lnTo>
                <a:lnTo>
                  <a:pt x="3169950" y="213639"/>
                </a:lnTo>
                <a:lnTo>
                  <a:pt x="3169950" y="215276"/>
                </a:lnTo>
                <a:lnTo>
                  <a:pt x="3177578" y="215276"/>
                </a:lnTo>
                <a:lnTo>
                  <a:pt x="3177578" y="216921"/>
                </a:lnTo>
                <a:lnTo>
                  <a:pt x="3181699" y="216921"/>
                </a:lnTo>
                <a:lnTo>
                  <a:pt x="3181699" y="218574"/>
                </a:lnTo>
                <a:lnTo>
                  <a:pt x="3191343" y="218574"/>
                </a:lnTo>
                <a:lnTo>
                  <a:pt x="3191343" y="220235"/>
                </a:lnTo>
                <a:lnTo>
                  <a:pt x="3194257" y="220235"/>
                </a:lnTo>
                <a:lnTo>
                  <a:pt x="3194257" y="221904"/>
                </a:lnTo>
                <a:lnTo>
                  <a:pt x="3202217" y="221904"/>
                </a:lnTo>
                <a:lnTo>
                  <a:pt x="3202217" y="223580"/>
                </a:lnTo>
                <a:lnTo>
                  <a:pt x="3202401" y="223580"/>
                </a:lnTo>
                <a:lnTo>
                  <a:pt x="3202401" y="225265"/>
                </a:lnTo>
                <a:lnTo>
                  <a:pt x="3202605" y="225265"/>
                </a:lnTo>
                <a:lnTo>
                  <a:pt x="3202605" y="226957"/>
                </a:lnTo>
                <a:lnTo>
                  <a:pt x="3203766" y="226957"/>
                </a:lnTo>
                <a:lnTo>
                  <a:pt x="3203766" y="228658"/>
                </a:lnTo>
                <a:lnTo>
                  <a:pt x="3209529" y="228658"/>
                </a:lnTo>
                <a:lnTo>
                  <a:pt x="3209529" y="230367"/>
                </a:lnTo>
                <a:lnTo>
                  <a:pt x="3211536" y="230367"/>
                </a:lnTo>
                <a:lnTo>
                  <a:pt x="3211536" y="232085"/>
                </a:lnTo>
                <a:lnTo>
                  <a:pt x="3215339" y="232085"/>
                </a:lnTo>
                <a:lnTo>
                  <a:pt x="3215339" y="233811"/>
                </a:lnTo>
                <a:lnTo>
                  <a:pt x="3216884" y="233811"/>
                </a:lnTo>
                <a:lnTo>
                  <a:pt x="3216884" y="235546"/>
                </a:lnTo>
                <a:lnTo>
                  <a:pt x="3228169" y="235546"/>
                </a:lnTo>
                <a:lnTo>
                  <a:pt x="3228169" y="237289"/>
                </a:lnTo>
                <a:lnTo>
                  <a:pt x="3228432" y="237289"/>
                </a:lnTo>
                <a:lnTo>
                  <a:pt x="3228432" y="239040"/>
                </a:lnTo>
                <a:lnTo>
                  <a:pt x="3233474" y="239040"/>
                </a:lnTo>
                <a:lnTo>
                  <a:pt x="3233474" y="240801"/>
                </a:lnTo>
                <a:lnTo>
                  <a:pt x="3236403" y="240801"/>
                </a:lnTo>
                <a:lnTo>
                  <a:pt x="3236403" y="242570"/>
                </a:lnTo>
                <a:lnTo>
                  <a:pt x="3237860" y="242570"/>
                </a:lnTo>
                <a:lnTo>
                  <a:pt x="3237860" y="244349"/>
                </a:lnTo>
                <a:lnTo>
                  <a:pt x="3263013" y="244349"/>
                </a:lnTo>
                <a:lnTo>
                  <a:pt x="3263013" y="246136"/>
                </a:lnTo>
                <a:lnTo>
                  <a:pt x="3275269" y="246136"/>
                </a:lnTo>
                <a:lnTo>
                  <a:pt x="3275269" y="247933"/>
                </a:lnTo>
                <a:lnTo>
                  <a:pt x="3278821" y="247933"/>
                </a:lnTo>
                <a:lnTo>
                  <a:pt x="3278821" y="249739"/>
                </a:lnTo>
                <a:lnTo>
                  <a:pt x="3280320" y="249739"/>
                </a:lnTo>
                <a:lnTo>
                  <a:pt x="3280320" y="251554"/>
                </a:lnTo>
                <a:lnTo>
                  <a:pt x="3282461" y="251554"/>
                </a:lnTo>
                <a:lnTo>
                  <a:pt x="3282461" y="253379"/>
                </a:lnTo>
                <a:lnTo>
                  <a:pt x="3286661" y="253379"/>
                </a:lnTo>
                <a:lnTo>
                  <a:pt x="3286661" y="255213"/>
                </a:lnTo>
                <a:lnTo>
                  <a:pt x="3297433" y="255213"/>
                </a:lnTo>
                <a:lnTo>
                  <a:pt x="3297433" y="257057"/>
                </a:lnTo>
                <a:lnTo>
                  <a:pt x="3305847" y="257057"/>
                </a:lnTo>
                <a:lnTo>
                  <a:pt x="3305847" y="258910"/>
                </a:lnTo>
                <a:lnTo>
                  <a:pt x="3319765" y="258910"/>
                </a:lnTo>
                <a:lnTo>
                  <a:pt x="3319765" y="260773"/>
                </a:lnTo>
                <a:lnTo>
                  <a:pt x="3326632" y="260773"/>
                </a:lnTo>
                <a:lnTo>
                  <a:pt x="3326632" y="262647"/>
                </a:lnTo>
                <a:lnTo>
                  <a:pt x="3336546" y="262647"/>
                </a:lnTo>
                <a:lnTo>
                  <a:pt x="3336546" y="264530"/>
                </a:lnTo>
                <a:lnTo>
                  <a:pt x="3337118" y="264530"/>
                </a:lnTo>
                <a:lnTo>
                  <a:pt x="3337118" y="266423"/>
                </a:lnTo>
                <a:lnTo>
                  <a:pt x="3338049" y="266423"/>
                </a:lnTo>
                <a:lnTo>
                  <a:pt x="3338049" y="268327"/>
                </a:lnTo>
                <a:lnTo>
                  <a:pt x="3360328" y="268327"/>
                </a:lnTo>
                <a:lnTo>
                  <a:pt x="3360328" y="270241"/>
                </a:lnTo>
                <a:lnTo>
                  <a:pt x="3360481" y="270241"/>
                </a:lnTo>
                <a:lnTo>
                  <a:pt x="3360481" y="272166"/>
                </a:lnTo>
                <a:lnTo>
                  <a:pt x="3362535" y="272166"/>
                </a:lnTo>
                <a:lnTo>
                  <a:pt x="3362535" y="274101"/>
                </a:lnTo>
                <a:lnTo>
                  <a:pt x="3381934" y="274101"/>
                </a:lnTo>
                <a:lnTo>
                  <a:pt x="3381934" y="276047"/>
                </a:lnTo>
                <a:lnTo>
                  <a:pt x="3397491" y="276047"/>
                </a:lnTo>
                <a:lnTo>
                  <a:pt x="3397491" y="278004"/>
                </a:lnTo>
                <a:lnTo>
                  <a:pt x="3398542" y="278004"/>
                </a:lnTo>
                <a:lnTo>
                  <a:pt x="3398542" y="279971"/>
                </a:lnTo>
                <a:lnTo>
                  <a:pt x="3399808" y="279971"/>
                </a:lnTo>
                <a:lnTo>
                  <a:pt x="3399808" y="281950"/>
                </a:lnTo>
                <a:lnTo>
                  <a:pt x="3414472" y="281950"/>
                </a:lnTo>
                <a:lnTo>
                  <a:pt x="3414472" y="283940"/>
                </a:lnTo>
                <a:lnTo>
                  <a:pt x="3423466" y="283940"/>
                </a:lnTo>
                <a:lnTo>
                  <a:pt x="3423466" y="285942"/>
                </a:lnTo>
                <a:lnTo>
                  <a:pt x="3434025" y="285942"/>
                </a:lnTo>
                <a:lnTo>
                  <a:pt x="3434025" y="287954"/>
                </a:lnTo>
                <a:lnTo>
                  <a:pt x="3434713" y="287954"/>
                </a:lnTo>
                <a:lnTo>
                  <a:pt x="3434713" y="289979"/>
                </a:lnTo>
                <a:lnTo>
                  <a:pt x="3436525" y="289979"/>
                </a:lnTo>
                <a:lnTo>
                  <a:pt x="3436525" y="292015"/>
                </a:lnTo>
                <a:lnTo>
                  <a:pt x="3438515" y="292015"/>
                </a:lnTo>
                <a:lnTo>
                  <a:pt x="3438515" y="294063"/>
                </a:lnTo>
                <a:lnTo>
                  <a:pt x="3439791" y="294063"/>
                </a:lnTo>
                <a:lnTo>
                  <a:pt x="3439791" y="296123"/>
                </a:lnTo>
                <a:lnTo>
                  <a:pt x="3441471" y="296123"/>
                </a:lnTo>
                <a:lnTo>
                  <a:pt x="3441471" y="298195"/>
                </a:lnTo>
                <a:lnTo>
                  <a:pt x="3442452" y="298195"/>
                </a:lnTo>
                <a:lnTo>
                  <a:pt x="3442452" y="300280"/>
                </a:lnTo>
                <a:lnTo>
                  <a:pt x="3442731" y="300280"/>
                </a:lnTo>
                <a:lnTo>
                  <a:pt x="3442731" y="302377"/>
                </a:lnTo>
                <a:lnTo>
                  <a:pt x="3443452" y="302377"/>
                </a:lnTo>
                <a:lnTo>
                  <a:pt x="3443452" y="304486"/>
                </a:lnTo>
                <a:lnTo>
                  <a:pt x="3444928" y="304486"/>
                </a:lnTo>
                <a:lnTo>
                  <a:pt x="3444928" y="306608"/>
                </a:lnTo>
                <a:lnTo>
                  <a:pt x="3454593" y="306608"/>
                </a:lnTo>
                <a:lnTo>
                  <a:pt x="3454593" y="308744"/>
                </a:lnTo>
                <a:lnTo>
                  <a:pt x="3455123" y="308744"/>
                </a:lnTo>
                <a:lnTo>
                  <a:pt x="3455123" y="310892"/>
                </a:lnTo>
                <a:lnTo>
                  <a:pt x="3462256" y="310892"/>
                </a:lnTo>
                <a:lnTo>
                  <a:pt x="3462256" y="313053"/>
                </a:lnTo>
                <a:lnTo>
                  <a:pt x="3463566" y="313053"/>
                </a:lnTo>
                <a:lnTo>
                  <a:pt x="3463566" y="315228"/>
                </a:lnTo>
                <a:lnTo>
                  <a:pt x="3464231" y="315228"/>
                </a:lnTo>
                <a:lnTo>
                  <a:pt x="3464231" y="317417"/>
                </a:lnTo>
                <a:lnTo>
                  <a:pt x="3466775" y="317417"/>
                </a:lnTo>
                <a:lnTo>
                  <a:pt x="3466775" y="319619"/>
                </a:lnTo>
                <a:lnTo>
                  <a:pt x="3467664" y="319619"/>
                </a:lnTo>
                <a:lnTo>
                  <a:pt x="3467664" y="321835"/>
                </a:lnTo>
                <a:lnTo>
                  <a:pt x="3469056" y="321835"/>
                </a:lnTo>
                <a:lnTo>
                  <a:pt x="3469056" y="324065"/>
                </a:lnTo>
                <a:lnTo>
                  <a:pt x="3471924" y="324065"/>
                </a:lnTo>
                <a:lnTo>
                  <a:pt x="3471924" y="326309"/>
                </a:lnTo>
                <a:lnTo>
                  <a:pt x="3472069" y="326309"/>
                </a:lnTo>
                <a:lnTo>
                  <a:pt x="3472069" y="328568"/>
                </a:lnTo>
                <a:lnTo>
                  <a:pt x="3482071" y="328568"/>
                </a:lnTo>
                <a:lnTo>
                  <a:pt x="3482071" y="330841"/>
                </a:lnTo>
                <a:lnTo>
                  <a:pt x="3483173" y="330841"/>
                </a:lnTo>
                <a:lnTo>
                  <a:pt x="3483173" y="333129"/>
                </a:lnTo>
                <a:lnTo>
                  <a:pt x="3484360" y="333129"/>
                </a:lnTo>
                <a:lnTo>
                  <a:pt x="3484360" y="335433"/>
                </a:lnTo>
                <a:lnTo>
                  <a:pt x="3489255" y="335433"/>
                </a:lnTo>
                <a:lnTo>
                  <a:pt x="3489255" y="337751"/>
                </a:lnTo>
                <a:lnTo>
                  <a:pt x="3491511" y="337751"/>
                </a:lnTo>
                <a:lnTo>
                  <a:pt x="3491511" y="340085"/>
                </a:lnTo>
                <a:lnTo>
                  <a:pt x="3497797" y="340085"/>
                </a:lnTo>
                <a:lnTo>
                  <a:pt x="3497797" y="342434"/>
                </a:lnTo>
                <a:lnTo>
                  <a:pt x="3501860" y="342434"/>
                </a:lnTo>
                <a:lnTo>
                  <a:pt x="3501860" y="344800"/>
                </a:lnTo>
                <a:lnTo>
                  <a:pt x="3502298" y="344800"/>
                </a:lnTo>
                <a:lnTo>
                  <a:pt x="3502298" y="347181"/>
                </a:lnTo>
                <a:lnTo>
                  <a:pt x="3502978" y="347181"/>
                </a:lnTo>
                <a:lnTo>
                  <a:pt x="3502978" y="349578"/>
                </a:lnTo>
                <a:lnTo>
                  <a:pt x="3518918" y="349578"/>
                </a:lnTo>
                <a:lnTo>
                  <a:pt x="3518918" y="351992"/>
                </a:lnTo>
                <a:lnTo>
                  <a:pt x="3558539" y="351992"/>
                </a:lnTo>
                <a:lnTo>
                  <a:pt x="3558539" y="354423"/>
                </a:lnTo>
                <a:lnTo>
                  <a:pt x="3559111" y="354423"/>
                </a:lnTo>
                <a:lnTo>
                  <a:pt x="3559111" y="356871"/>
                </a:lnTo>
                <a:lnTo>
                  <a:pt x="3563179" y="356871"/>
                </a:lnTo>
                <a:lnTo>
                  <a:pt x="3563179" y="359336"/>
                </a:lnTo>
                <a:lnTo>
                  <a:pt x="3572453" y="359336"/>
                </a:lnTo>
                <a:lnTo>
                  <a:pt x="3572453" y="361818"/>
                </a:lnTo>
                <a:lnTo>
                  <a:pt x="3577341" y="361818"/>
                </a:lnTo>
                <a:lnTo>
                  <a:pt x="3577341" y="364318"/>
                </a:lnTo>
                <a:lnTo>
                  <a:pt x="3577632" y="364318"/>
                </a:lnTo>
                <a:lnTo>
                  <a:pt x="3577632" y="366836"/>
                </a:lnTo>
                <a:lnTo>
                  <a:pt x="3580849" y="366836"/>
                </a:lnTo>
                <a:lnTo>
                  <a:pt x="3580849" y="369372"/>
                </a:lnTo>
                <a:lnTo>
                  <a:pt x="3582631" y="369372"/>
                </a:lnTo>
                <a:lnTo>
                  <a:pt x="3582631" y="371926"/>
                </a:lnTo>
                <a:lnTo>
                  <a:pt x="3591056" y="371926"/>
                </a:lnTo>
                <a:lnTo>
                  <a:pt x="3591056" y="374499"/>
                </a:lnTo>
                <a:lnTo>
                  <a:pt x="3595018" y="374499"/>
                </a:lnTo>
                <a:lnTo>
                  <a:pt x="3595018" y="377091"/>
                </a:lnTo>
                <a:lnTo>
                  <a:pt x="3598143" y="377091"/>
                </a:lnTo>
                <a:lnTo>
                  <a:pt x="3598143" y="379703"/>
                </a:lnTo>
                <a:lnTo>
                  <a:pt x="3599603" y="379703"/>
                </a:lnTo>
                <a:lnTo>
                  <a:pt x="3599603" y="382334"/>
                </a:lnTo>
                <a:lnTo>
                  <a:pt x="3620771" y="382334"/>
                </a:lnTo>
                <a:lnTo>
                  <a:pt x="3620771" y="384985"/>
                </a:lnTo>
                <a:lnTo>
                  <a:pt x="3627463" y="384985"/>
                </a:lnTo>
                <a:lnTo>
                  <a:pt x="3627463" y="387656"/>
                </a:lnTo>
                <a:lnTo>
                  <a:pt x="3634234" y="387656"/>
                </a:lnTo>
                <a:lnTo>
                  <a:pt x="3634234" y="390347"/>
                </a:lnTo>
                <a:lnTo>
                  <a:pt x="3638411" y="390347"/>
                </a:lnTo>
                <a:lnTo>
                  <a:pt x="3638411" y="393059"/>
                </a:lnTo>
                <a:lnTo>
                  <a:pt x="3655340" y="393059"/>
                </a:lnTo>
                <a:lnTo>
                  <a:pt x="3655340" y="395793"/>
                </a:lnTo>
                <a:lnTo>
                  <a:pt x="3656880" y="395793"/>
                </a:lnTo>
                <a:lnTo>
                  <a:pt x="3656880" y="398548"/>
                </a:lnTo>
                <a:lnTo>
                  <a:pt x="3659039" y="398548"/>
                </a:lnTo>
                <a:lnTo>
                  <a:pt x="3659039" y="401324"/>
                </a:lnTo>
                <a:lnTo>
                  <a:pt x="3659564" y="401324"/>
                </a:lnTo>
                <a:lnTo>
                  <a:pt x="3659564" y="404123"/>
                </a:lnTo>
                <a:lnTo>
                  <a:pt x="3674964" y="404123"/>
                </a:lnTo>
                <a:lnTo>
                  <a:pt x="3674964" y="406944"/>
                </a:lnTo>
                <a:lnTo>
                  <a:pt x="3676689" y="406944"/>
                </a:lnTo>
                <a:lnTo>
                  <a:pt x="3676689" y="409788"/>
                </a:lnTo>
                <a:lnTo>
                  <a:pt x="3677825" y="409788"/>
                </a:lnTo>
                <a:lnTo>
                  <a:pt x="3677825" y="412655"/>
                </a:lnTo>
                <a:lnTo>
                  <a:pt x="3680792" y="412655"/>
                </a:lnTo>
                <a:lnTo>
                  <a:pt x="3680792" y="415546"/>
                </a:lnTo>
                <a:lnTo>
                  <a:pt x="3688969" y="415546"/>
                </a:lnTo>
                <a:lnTo>
                  <a:pt x="3688969" y="418461"/>
                </a:lnTo>
                <a:lnTo>
                  <a:pt x="3698092" y="418461"/>
                </a:lnTo>
                <a:lnTo>
                  <a:pt x="3698092" y="421400"/>
                </a:lnTo>
                <a:lnTo>
                  <a:pt x="3699114" y="421400"/>
                </a:lnTo>
                <a:lnTo>
                  <a:pt x="3699114" y="424364"/>
                </a:lnTo>
                <a:lnTo>
                  <a:pt x="3702283" y="424364"/>
                </a:lnTo>
                <a:lnTo>
                  <a:pt x="3702283" y="427354"/>
                </a:lnTo>
                <a:lnTo>
                  <a:pt x="3704743" y="427354"/>
                </a:lnTo>
                <a:lnTo>
                  <a:pt x="3704743" y="430368"/>
                </a:lnTo>
                <a:lnTo>
                  <a:pt x="3707816" y="430368"/>
                </a:lnTo>
                <a:lnTo>
                  <a:pt x="3707816" y="433410"/>
                </a:lnTo>
                <a:lnTo>
                  <a:pt x="3717933" y="433410"/>
                </a:lnTo>
                <a:lnTo>
                  <a:pt x="3717933" y="436477"/>
                </a:lnTo>
                <a:lnTo>
                  <a:pt x="3721950" y="436477"/>
                </a:lnTo>
                <a:lnTo>
                  <a:pt x="3721950" y="439572"/>
                </a:lnTo>
                <a:lnTo>
                  <a:pt x="3727480" y="439572"/>
                </a:lnTo>
                <a:lnTo>
                  <a:pt x="3727480" y="442694"/>
                </a:lnTo>
                <a:lnTo>
                  <a:pt x="3730942" y="442694"/>
                </a:lnTo>
                <a:lnTo>
                  <a:pt x="3730942" y="445844"/>
                </a:lnTo>
                <a:lnTo>
                  <a:pt x="3734695" y="445844"/>
                </a:lnTo>
                <a:lnTo>
                  <a:pt x="3734695" y="449023"/>
                </a:lnTo>
                <a:lnTo>
                  <a:pt x="3735407" y="449023"/>
                </a:lnTo>
                <a:lnTo>
                  <a:pt x="3735407" y="452230"/>
                </a:lnTo>
                <a:lnTo>
                  <a:pt x="3745804" y="452230"/>
                </a:lnTo>
                <a:lnTo>
                  <a:pt x="3745804" y="455467"/>
                </a:lnTo>
                <a:lnTo>
                  <a:pt x="3751905" y="455467"/>
                </a:lnTo>
                <a:lnTo>
                  <a:pt x="3751905" y="458735"/>
                </a:lnTo>
                <a:lnTo>
                  <a:pt x="3753746" y="458735"/>
                </a:lnTo>
                <a:lnTo>
                  <a:pt x="3753746" y="462033"/>
                </a:lnTo>
                <a:lnTo>
                  <a:pt x="3760546" y="462033"/>
                </a:lnTo>
                <a:lnTo>
                  <a:pt x="3760546" y="465362"/>
                </a:lnTo>
                <a:lnTo>
                  <a:pt x="3770295" y="465362"/>
                </a:lnTo>
                <a:lnTo>
                  <a:pt x="3770295" y="468723"/>
                </a:lnTo>
                <a:lnTo>
                  <a:pt x="3772949" y="468723"/>
                </a:lnTo>
                <a:lnTo>
                  <a:pt x="3772949" y="472117"/>
                </a:lnTo>
                <a:lnTo>
                  <a:pt x="3774254" y="472117"/>
                </a:lnTo>
                <a:lnTo>
                  <a:pt x="3774254" y="475544"/>
                </a:lnTo>
                <a:lnTo>
                  <a:pt x="3788946" y="475544"/>
                </a:lnTo>
                <a:lnTo>
                  <a:pt x="3788946" y="479004"/>
                </a:lnTo>
                <a:lnTo>
                  <a:pt x="3826373" y="479004"/>
                </a:lnTo>
                <a:lnTo>
                  <a:pt x="3826373" y="482499"/>
                </a:lnTo>
                <a:lnTo>
                  <a:pt x="3829368" y="482499"/>
                </a:lnTo>
                <a:lnTo>
                  <a:pt x="3829368" y="486029"/>
                </a:lnTo>
                <a:lnTo>
                  <a:pt x="3829474" y="486029"/>
                </a:lnTo>
                <a:lnTo>
                  <a:pt x="3829474" y="489595"/>
                </a:lnTo>
                <a:lnTo>
                  <a:pt x="3829641" y="489595"/>
                </a:lnTo>
                <a:lnTo>
                  <a:pt x="3829641" y="493197"/>
                </a:lnTo>
                <a:lnTo>
                  <a:pt x="3835532" y="493197"/>
                </a:lnTo>
                <a:lnTo>
                  <a:pt x="3835532" y="496837"/>
                </a:lnTo>
                <a:lnTo>
                  <a:pt x="3846671" y="496837"/>
                </a:lnTo>
                <a:lnTo>
                  <a:pt x="3846671" y="500515"/>
                </a:lnTo>
                <a:lnTo>
                  <a:pt x="3848112" y="500515"/>
                </a:lnTo>
                <a:lnTo>
                  <a:pt x="3848112" y="504232"/>
                </a:lnTo>
                <a:lnTo>
                  <a:pt x="3850155" y="504232"/>
                </a:lnTo>
                <a:lnTo>
                  <a:pt x="3850155" y="507988"/>
                </a:lnTo>
                <a:lnTo>
                  <a:pt x="3854065" y="507988"/>
                </a:lnTo>
                <a:lnTo>
                  <a:pt x="3854065" y="511786"/>
                </a:lnTo>
                <a:lnTo>
                  <a:pt x="3872068" y="511786"/>
                </a:lnTo>
                <a:lnTo>
                  <a:pt x="3872068" y="515624"/>
                </a:lnTo>
                <a:lnTo>
                  <a:pt x="3881891" y="515624"/>
                </a:lnTo>
                <a:lnTo>
                  <a:pt x="3881891" y="519505"/>
                </a:lnTo>
                <a:lnTo>
                  <a:pt x="3891486" y="519505"/>
                </a:lnTo>
                <a:lnTo>
                  <a:pt x="3891486" y="523430"/>
                </a:lnTo>
                <a:lnTo>
                  <a:pt x="3892964" y="523430"/>
                </a:lnTo>
                <a:lnTo>
                  <a:pt x="3892964" y="527399"/>
                </a:lnTo>
                <a:lnTo>
                  <a:pt x="3903271" y="527399"/>
                </a:lnTo>
                <a:lnTo>
                  <a:pt x="3903271" y="531413"/>
                </a:lnTo>
                <a:lnTo>
                  <a:pt x="3908383" y="531413"/>
                </a:lnTo>
                <a:lnTo>
                  <a:pt x="3908383" y="535474"/>
                </a:lnTo>
                <a:lnTo>
                  <a:pt x="3914543" y="535474"/>
                </a:lnTo>
                <a:lnTo>
                  <a:pt x="3914543" y="539582"/>
                </a:lnTo>
                <a:lnTo>
                  <a:pt x="3915320" y="539582"/>
                </a:lnTo>
                <a:lnTo>
                  <a:pt x="3915320" y="543738"/>
                </a:lnTo>
                <a:lnTo>
                  <a:pt x="3923127" y="543738"/>
                </a:lnTo>
                <a:lnTo>
                  <a:pt x="3923127" y="547945"/>
                </a:lnTo>
                <a:lnTo>
                  <a:pt x="3925783" y="547945"/>
                </a:lnTo>
                <a:lnTo>
                  <a:pt x="3925783" y="552202"/>
                </a:lnTo>
                <a:lnTo>
                  <a:pt x="3930204" y="552202"/>
                </a:lnTo>
                <a:lnTo>
                  <a:pt x="3930204" y="556512"/>
                </a:lnTo>
                <a:lnTo>
                  <a:pt x="3930646" y="556512"/>
                </a:lnTo>
                <a:lnTo>
                  <a:pt x="3930646" y="560875"/>
                </a:lnTo>
                <a:lnTo>
                  <a:pt x="3931719" y="560875"/>
                </a:lnTo>
                <a:lnTo>
                  <a:pt x="3931719" y="565293"/>
                </a:lnTo>
                <a:lnTo>
                  <a:pt x="3936587" y="565293"/>
                </a:lnTo>
                <a:lnTo>
                  <a:pt x="3936587" y="569768"/>
                </a:lnTo>
                <a:lnTo>
                  <a:pt x="3940535" y="569768"/>
                </a:lnTo>
                <a:lnTo>
                  <a:pt x="3940535" y="574300"/>
                </a:lnTo>
                <a:lnTo>
                  <a:pt x="3942772" y="574300"/>
                </a:lnTo>
                <a:lnTo>
                  <a:pt x="3942772" y="578891"/>
                </a:lnTo>
                <a:lnTo>
                  <a:pt x="3946338" y="578891"/>
                </a:lnTo>
                <a:lnTo>
                  <a:pt x="3946338" y="583543"/>
                </a:lnTo>
                <a:lnTo>
                  <a:pt x="3949828" y="583543"/>
                </a:lnTo>
                <a:lnTo>
                  <a:pt x="3949828" y="588258"/>
                </a:lnTo>
                <a:lnTo>
                  <a:pt x="3957969" y="588258"/>
                </a:lnTo>
                <a:lnTo>
                  <a:pt x="3957969" y="593037"/>
                </a:lnTo>
                <a:lnTo>
                  <a:pt x="3963650" y="593037"/>
                </a:lnTo>
                <a:lnTo>
                  <a:pt x="3963650" y="597882"/>
                </a:lnTo>
                <a:lnTo>
                  <a:pt x="3968610" y="597882"/>
                </a:lnTo>
                <a:lnTo>
                  <a:pt x="3968610" y="602794"/>
                </a:lnTo>
                <a:lnTo>
                  <a:pt x="3975630" y="602794"/>
                </a:lnTo>
                <a:lnTo>
                  <a:pt x="3975630" y="607776"/>
                </a:lnTo>
                <a:lnTo>
                  <a:pt x="3984692" y="607776"/>
                </a:lnTo>
                <a:lnTo>
                  <a:pt x="3984692" y="612830"/>
                </a:lnTo>
                <a:lnTo>
                  <a:pt x="3985937" y="612830"/>
                </a:lnTo>
                <a:lnTo>
                  <a:pt x="3985937" y="617958"/>
                </a:lnTo>
                <a:lnTo>
                  <a:pt x="3996542" y="617958"/>
                </a:lnTo>
                <a:lnTo>
                  <a:pt x="3996542" y="623161"/>
                </a:lnTo>
                <a:lnTo>
                  <a:pt x="4013309" y="623161"/>
                </a:lnTo>
                <a:lnTo>
                  <a:pt x="4013309" y="628443"/>
                </a:lnTo>
                <a:lnTo>
                  <a:pt x="4018434" y="628443"/>
                </a:lnTo>
                <a:lnTo>
                  <a:pt x="4018434" y="633806"/>
                </a:lnTo>
                <a:lnTo>
                  <a:pt x="4042701" y="633806"/>
                </a:lnTo>
                <a:lnTo>
                  <a:pt x="4042701" y="639251"/>
                </a:lnTo>
                <a:lnTo>
                  <a:pt x="4054484" y="639251"/>
                </a:lnTo>
                <a:lnTo>
                  <a:pt x="4054484" y="644783"/>
                </a:lnTo>
                <a:lnTo>
                  <a:pt x="4061115" y="644783"/>
                </a:lnTo>
                <a:lnTo>
                  <a:pt x="4061115" y="650403"/>
                </a:lnTo>
                <a:lnTo>
                  <a:pt x="4062341" y="650403"/>
                </a:lnTo>
                <a:lnTo>
                  <a:pt x="4062341" y="656114"/>
                </a:lnTo>
                <a:lnTo>
                  <a:pt x="4076487" y="656114"/>
                </a:lnTo>
                <a:lnTo>
                  <a:pt x="4076487" y="661920"/>
                </a:lnTo>
                <a:lnTo>
                  <a:pt x="4076587" y="661920"/>
                </a:lnTo>
                <a:lnTo>
                  <a:pt x="4076587" y="667823"/>
                </a:lnTo>
                <a:lnTo>
                  <a:pt x="4076899" y="667823"/>
                </a:lnTo>
                <a:lnTo>
                  <a:pt x="4076899" y="673827"/>
                </a:lnTo>
                <a:lnTo>
                  <a:pt x="4092219" y="673827"/>
                </a:lnTo>
                <a:lnTo>
                  <a:pt x="4092219" y="679936"/>
                </a:lnTo>
                <a:lnTo>
                  <a:pt x="4098964" y="679936"/>
                </a:lnTo>
                <a:lnTo>
                  <a:pt x="4098964" y="686152"/>
                </a:lnTo>
                <a:lnTo>
                  <a:pt x="4106255" y="686152"/>
                </a:lnTo>
                <a:lnTo>
                  <a:pt x="4106255" y="692481"/>
                </a:lnTo>
                <a:lnTo>
                  <a:pt x="4111873" y="692481"/>
                </a:lnTo>
                <a:lnTo>
                  <a:pt x="4111873" y="698926"/>
                </a:lnTo>
                <a:lnTo>
                  <a:pt x="4124288" y="698926"/>
                </a:lnTo>
                <a:lnTo>
                  <a:pt x="4124288" y="705491"/>
                </a:lnTo>
                <a:lnTo>
                  <a:pt x="4126920" y="705491"/>
                </a:lnTo>
                <a:lnTo>
                  <a:pt x="4126920" y="712182"/>
                </a:lnTo>
                <a:lnTo>
                  <a:pt x="4151824" y="712182"/>
                </a:lnTo>
                <a:lnTo>
                  <a:pt x="4151824" y="719002"/>
                </a:lnTo>
                <a:lnTo>
                  <a:pt x="4156965" y="719002"/>
                </a:lnTo>
                <a:lnTo>
                  <a:pt x="4156965" y="725958"/>
                </a:lnTo>
                <a:lnTo>
                  <a:pt x="4158404" y="725958"/>
                </a:lnTo>
                <a:lnTo>
                  <a:pt x="4158404" y="733054"/>
                </a:lnTo>
                <a:lnTo>
                  <a:pt x="4158764" y="733054"/>
                </a:lnTo>
                <a:lnTo>
                  <a:pt x="4158764" y="740296"/>
                </a:lnTo>
                <a:lnTo>
                  <a:pt x="4170081" y="740296"/>
                </a:lnTo>
                <a:lnTo>
                  <a:pt x="4170081" y="747690"/>
                </a:lnTo>
                <a:lnTo>
                  <a:pt x="4171734" y="747690"/>
                </a:lnTo>
                <a:lnTo>
                  <a:pt x="4171734" y="755244"/>
                </a:lnTo>
                <a:lnTo>
                  <a:pt x="4184498" y="755244"/>
                </a:lnTo>
                <a:lnTo>
                  <a:pt x="4184498" y="762964"/>
                </a:lnTo>
                <a:lnTo>
                  <a:pt x="4186485" y="762964"/>
                </a:lnTo>
                <a:lnTo>
                  <a:pt x="4186485" y="770857"/>
                </a:lnTo>
                <a:lnTo>
                  <a:pt x="4202142" y="770857"/>
                </a:lnTo>
                <a:lnTo>
                  <a:pt x="4202142" y="778932"/>
                </a:lnTo>
                <a:lnTo>
                  <a:pt x="4202239" y="778932"/>
                </a:lnTo>
                <a:lnTo>
                  <a:pt x="4202239" y="787197"/>
                </a:lnTo>
                <a:lnTo>
                  <a:pt x="4214620" y="787197"/>
                </a:lnTo>
                <a:lnTo>
                  <a:pt x="4214620" y="795661"/>
                </a:lnTo>
                <a:lnTo>
                  <a:pt x="4214995" y="795661"/>
                </a:lnTo>
                <a:lnTo>
                  <a:pt x="4214995" y="804334"/>
                </a:lnTo>
                <a:lnTo>
                  <a:pt x="4220772" y="804334"/>
                </a:lnTo>
                <a:lnTo>
                  <a:pt x="4220772" y="813226"/>
                </a:lnTo>
                <a:lnTo>
                  <a:pt x="4230781" y="813226"/>
                </a:lnTo>
                <a:lnTo>
                  <a:pt x="4230781" y="822350"/>
                </a:lnTo>
                <a:lnTo>
                  <a:pt x="4245770" y="822350"/>
                </a:lnTo>
                <a:lnTo>
                  <a:pt x="4245770" y="831717"/>
                </a:lnTo>
                <a:lnTo>
                  <a:pt x="4257988" y="831717"/>
                </a:lnTo>
                <a:lnTo>
                  <a:pt x="4257988" y="841340"/>
                </a:lnTo>
                <a:lnTo>
                  <a:pt x="4271028" y="841340"/>
                </a:lnTo>
                <a:lnTo>
                  <a:pt x="4271028" y="851235"/>
                </a:lnTo>
                <a:lnTo>
                  <a:pt x="4272966" y="851235"/>
                </a:lnTo>
                <a:lnTo>
                  <a:pt x="4272966" y="861416"/>
                </a:lnTo>
                <a:lnTo>
                  <a:pt x="4277461" y="861416"/>
                </a:lnTo>
                <a:lnTo>
                  <a:pt x="4277461" y="871902"/>
                </a:lnTo>
                <a:lnTo>
                  <a:pt x="4294054" y="871902"/>
                </a:lnTo>
                <a:lnTo>
                  <a:pt x="4294054" y="882710"/>
                </a:lnTo>
                <a:lnTo>
                  <a:pt x="4300849" y="882710"/>
                </a:lnTo>
                <a:lnTo>
                  <a:pt x="4300849" y="893861"/>
                </a:lnTo>
                <a:lnTo>
                  <a:pt x="4306500" y="893861"/>
                </a:lnTo>
                <a:lnTo>
                  <a:pt x="4306500" y="905378"/>
                </a:lnTo>
                <a:lnTo>
                  <a:pt x="4311202" y="905378"/>
                </a:lnTo>
                <a:lnTo>
                  <a:pt x="4311202" y="917286"/>
                </a:lnTo>
                <a:lnTo>
                  <a:pt x="4317703" y="917286"/>
                </a:lnTo>
                <a:lnTo>
                  <a:pt x="4317703" y="929611"/>
                </a:lnTo>
                <a:lnTo>
                  <a:pt x="4321101" y="929611"/>
                </a:lnTo>
                <a:lnTo>
                  <a:pt x="4321101" y="942385"/>
                </a:lnTo>
                <a:lnTo>
                  <a:pt x="4326881" y="942385"/>
                </a:lnTo>
                <a:lnTo>
                  <a:pt x="4326881" y="955640"/>
                </a:lnTo>
                <a:lnTo>
                  <a:pt x="4351537" y="955640"/>
                </a:lnTo>
                <a:lnTo>
                  <a:pt x="4351537" y="969416"/>
                </a:lnTo>
                <a:lnTo>
                  <a:pt x="4354348" y="969416"/>
                </a:lnTo>
                <a:lnTo>
                  <a:pt x="4354348" y="983754"/>
                </a:lnTo>
                <a:lnTo>
                  <a:pt x="4359631" y="983754"/>
                </a:lnTo>
                <a:lnTo>
                  <a:pt x="4359631" y="998703"/>
                </a:lnTo>
                <a:lnTo>
                  <a:pt x="4361750" y="998703"/>
                </a:lnTo>
                <a:lnTo>
                  <a:pt x="4361750" y="1014316"/>
                </a:lnTo>
                <a:lnTo>
                  <a:pt x="4381210" y="1014316"/>
                </a:lnTo>
                <a:lnTo>
                  <a:pt x="4381210" y="1030655"/>
                </a:lnTo>
                <a:lnTo>
                  <a:pt x="4400135" y="1030655"/>
                </a:lnTo>
                <a:lnTo>
                  <a:pt x="4400135" y="1047792"/>
                </a:lnTo>
                <a:lnTo>
                  <a:pt x="4402087" y="1047792"/>
                </a:lnTo>
                <a:lnTo>
                  <a:pt x="4402087" y="1065808"/>
                </a:lnTo>
                <a:lnTo>
                  <a:pt x="4404297" y="1065808"/>
                </a:lnTo>
                <a:lnTo>
                  <a:pt x="4404297" y="1084799"/>
                </a:lnTo>
                <a:lnTo>
                  <a:pt x="4408179" y="1084799"/>
                </a:lnTo>
                <a:lnTo>
                  <a:pt x="4408179" y="1104875"/>
                </a:lnTo>
                <a:lnTo>
                  <a:pt x="4427011" y="1104875"/>
                </a:lnTo>
                <a:lnTo>
                  <a:pt x="4427011" y="1126168"/>
                </a:lnTo>
                <a:lnTo>
                  <a:pt x="4427966" y="1126168"/>
                </a:lnTo>
                <a:lnTo>
                  <a:pt x="4427966" y="1148837"/>
                </a:lnTo>
                <a:lnTo>
                  <a:pt x="4438821" y="1148837"/>
                </a:lnTo>
                <a:lnTo>
                  <a:pt x="4438821" y="1173070"/>
                </a:lnTo>
                <a:lnTo>
                  <a:pt x="4495308" y="1173070"/>
                </a:lnTo>
                <a:lnTo>
                  <a:pt x="4495308" y="1199099"/>
                </a:lnTo>
                <a:lnTo>
                  <a:pt x="4503253" y="1199099"/>
                </a:lnTo>
                <a:lnTo>
                  <a:pt x="4503253" y="1227213"/>
                </a:lnTo>
                <a:lnTo>
                  <a:pt x="4504322" y="1227213"/>
                </a:lnTo>
                <a:lnTo>
                  <a:pt x="4504322" y="1257774"/>
                </a:lnTo>
                <a:lnTo>
                  <a:pt x="4520504" y="1257774"/>
                </a:lnTo>
                <a:lnTo>
                  <a:pt x="4520504" y="1291251"/>
                </a:lnTo>
                <a:lnTo>
                  <a:pt x="4551833" y="1291251"/>
                </a:lnTo>
                <a:lnTo>
                  <a:pt x="4551833" y="1328257"/>
                </a:lnTo>
                <a:lnTo>
                  <a:pt x="4580063" y="1328257"/>
                </a:lnTo>
                <a:lnTo>
                  <a:pt x="4580063" y="1369627"/>
                </a:lnTo>
                <a:lnTo>
                  <a:pt x="4587717" y="1369627"/>
                </a:lnTo>
                <a:lnTo>
                  <a:pt x="4587717" y="1416528"/>
                </a:lnTo>
                <a:lnTo>
                  <a:pt x="4600643" y="1416528"/>
                </a:lnTo>
                <a:lnTo>
                  <a:pt x="4600643" y="1470671"/>
                </a:lnTo>
                <a:lnTo>
                  <a:pt x="4630972" y="1470671"/>
                </a:lnTo>
                <a:lnTo>
                  <a:pt x="4630972" y="1534709"/>
                </a:lnTo>
                <a:lnTo>
                  <a:pt x="4686690" y="1534709"/>
                </a:lnTo>
                <a:lnTo>
                  <a:pt x="4686690" y="1613086"/>
                </a:lnTo>
                <a:lnTo>
                  <a:pt x="4708083" y="1613086"/>
                </a:lnTo>
                <a:lnTo>
                  <a:pt x="4708083" y="1714130"/>
                </a:lnTo>
                <a:lnTo>
                  <a:pt x="4744916" y="1714130"/>
                </a:lnTo>
                <a:lnTo>
                  <a:pt x="4744916" y="1856544"/>
                </a:lnTo>
                <a:lnTo>
                  <a:pt x="4823754" y="1856544"/>
                </a:lnTo>
                <a:lnTo>
                  <a:pt x="4823754" y="2100003"/>
                </a:lnTo>
                <a:lnTo>
                  <a:pt x="4826515" y="2100003"/>
                </a:lnTo>
                <a:lnTo>
                  <a:pt x="4826515" y="2207803"/>
                </a:lnTo>
              </a:path>
            </a:pathLst>
          </a:custGeom>
          <a:noFill/>
          <a:ln w="30480">
            <a:solidFill>
              <a:srgbClr val="007E80"/>
            </a:solidFill>
            <a:prstDash val="solid"/>
          </a:ln>
        </p:spPr>
      </p:sp>
      <p:sp>
        <p:nvSpPr>
          <p:cNvPr id="28" name="path 28"/>
          <p:cNvSpPr/>
          <p:nvPr/>
        </p:nvSpPr>
        <p:spPr>
          <a:xfrm>
            <a:off x="1866900" y="3964397"/>
            <a:ext cx="4826515" cy="2035224"/>
          </a:xfrm>
          <a:custGeom>
            <a:avLst/>
            <a:gdLst/>
            <a:ahLst/>
            <a:cxnLst/>
            <a:rect l="0" t="0" r="r" b="b"/>
            <a:pathLst>
              <a:path w="4826515" h="2035224" fill="none">
                <a:moveTo>
                  <a:pt x="0" y="0"/>
                </a:moveTo>
                <a:lnTo>
                  <a:pt x="30355" y="97"/>
                </a:lnTo>
                <a:lnTo>
                  <a:pt x="60711" y="197"/>
                </a:lnTo>
                <a:lnTo>
                  <a:pt x="91066" y="303"/>
                </a:lnTo>
                <a:lnTo>
                  <a:pt x="121422" y="412"/>
                </a:lnTo>
                <a:lnTo>
                  <a:pt x="151777" y="527"/>
                </a:lnTo>
                <a:lnTo>
                  <a:pt x="182133" y="647"/>
                </a:lnTo>
                <a:lnTo>
                  <a:pt x="212488" y="772"/>
                </a:lnTo>
                <a:lnTo>
                  <a:pt x="242844" y="902"/>
                </a:lnTo>
                <a:lnTo>
                  <a:pt x="273199" y="1038"/>
                </a:lnTo>
                <a:lnTo>
                  <a:pt x="303554" y="1181"/>
                </a:lnTo>
                <a:lnTo>
                  <a:pt x="333910" y="1329"/>
                </a:lnTo>
                <a:lnTo>
                  <a:pt x="364265" y="1484"/>
                </a:lnTo>
                <a:lnTo>
                  <a:pt x="394621" y="1646"/>
                </a:lnTo>
                <a:lnTo>
                  <a:pt x="424976" y="1814"/>
                </a:lnTo>
                <a:lnTo>
                  <a:pt x="455332" y="1991"/>
                </a:lnTo>
                <a:lnTo>
                  <a:pt x="485687" y="2175"/>
                </a:lnTo>
                <a:lnTo>
                  <a:pt x="516043" y="2367"/>
                </a:lnTo>
                <a:lnTo>
                  <a:pt x="546398" y="2567"/>
                </a:lnTo>
                <a:lnTo>
                  <a:pt x="576753" y="2776"/>
                </a:lnTo>
                <a:lnTo>
                  <a:pt x="607109" y="2995"/>
                </a:lnTo>
                <a:lnTo>
                  <a:pt x="637464" y="3223"/>
                </a:lnTo>
                <a:lnTo>
                  <a:pt x="667820" y="3461"/>
                </a:lnTo>
                <a:lnTo>
                  <a:pt x="698175" y="3709"/>
                </a:lnTo>
                <a:lnTo>
                  <a:pt x="728531" y="3969"/>
                </a:lnTo>
                <a:lnTo>
                  <a:pt x="758886" y="4239"/>
                </a:lnTo>
                <a:lnTo>
                  <a:pt x="789241" y="4522"/>
                </a:lnTo>
                <a:lnTo>
                  <a:pt x="819597" y="4817"/>
                </a:lnTo>
                <a:lnTo>
                  <a:pt x="849952" y="5125"/>
                </a:lnTo>
                <a:lnTo>
                  <a:pt x="880308" y="5447"/>
                </a:lnTo>
                <a:lnTo>
                  <a:pt x="910663" y="5782"/>
                </a:lnTo>
                <a:lnTo>
                  <a:pt x="941019" y="6133"/>
                </a:lnTo>
                <a:lnTo>
                  <a:pt x="971374" y="6499"/>
                </a:lnTo>
                <a:lnTo>
                  <a:pt x="1001730" y="6881"/>
                </a:lnTo>
                <a:lnTo>
                  <a:pt x="1032085" y="7279"/>
                </a:lnTo>
                <a:lnTo>
                  <a:pt x="1062440" y="7695"/>
                </a:lnTo>
                <a:lnTo>
                  <a:pt x="1092796" y="8130"/>
                </a:lnTo>
                <a:lnTo>
                  <a:pt x="1123151" y="8583"/>
                </a:lnTo>
                <a:lnTo>
                  <a:pt x="1153507" y="9056"/>
                </a:lnTo>
                <a:lnTo>
                  <a:pt x="1183862" y="9551"/>
                </a:lnTo>
                <a:lnTo>
                  <a:pt x="1214218" y="10066"/>
                </a:lnTo>
                <a:lnTo>
                  <a:pt x="1244573" y="10605"/>
                </a:lnTo>
                <a:lnTo>
                  <a:pt x="1274929" y="11167"/>
                </a:lnTo>
                <a:lnTo>
                  <a:pt x="1305284" y="11754"/>
                </a:lnTo>
                <a:lnTo>
                  <a:pt x="1335639" y="12366"/>
                </a:lnTo>
                <a:lnTo>
                  <a:pt x="1365995" y="13006"/>
                </a:lnTo>
                <a:lnTo>
                  <a:pt x="1396350" y="13673"/>
                </a:lnTo>
                <a:lnTo>
                  <a:pt x="1426706" y="14370"/>
                </a:lnTo>
                <a:lnTo>
                  <a:pt x="1457061" y="15098"/>
                </a:lnTo>
                <a:lnTo>
                  <a:pt x="1487417" y="15857"/>
                </a:lnTo>
                <a:lnTo>
                  <a:pt x="1517772" y="16650"/>
                </a:lnTo>
                <a:lnTo>
                  <a:pt x="1548128" y="17477"/>
                </a:lnTo>
                <a:lnTo>
                  <a:pt x="1578483" y="18341"/>
                </a:lnTo>
                <a:lnTo>
                  <a:pt x="1608838" y="19243"/>
                </a:lnTo>
                <a:lnTo>
                  <a:pt x="1639194" y="20184"/>
                </a:lnTo>
                <a:lnTo>
                  <a:pt x="1669549" y="21166"/>
                </a:lnTo>
                <a:lnTo>
                  <a:pt x="1699905" y="22192"/>
                </a:lnTo>
                <a:lnTo>
                  <a:pt x="1730260" y="23263"/>
                </a:lnTo>
                <a:lnTo>
                  <a:pt x="1760616" y="24381"/>
                </a:lnTo>
                <a:lnTo>
                  <a:pt x="1790971" y="25548"/>
                </a:lnTo>
                <a:lnTo>
                  <a:pt x="1821327" y="26766"/>
                </a:lnTo>
                <a:lnTo>
                  <a:pt x="1851682" y="28037"/>
                </a:lnTo>
                <a:lnTo>
                  <a:pt x="1882037" y="29365"/>
                </a:lnTo>
                <a:lnTo>
                  <a:pt x="1912393" y="30750"/>
                </a:lnTo>
                <a:lnTo>
                  <a:pt x="1942748" y="32197"/>
                </a:lnTo>
                <a:lnTo>
                  <a:pt x="1973104" y="33707"/>
                </a:lnTo>
                <a:lnTo>
                  <a:pt x="2003459" y="35283"/>
                </a:lnTo>
                <a:lnTo>
                  <a:pt x="2033815" y="36929"/>
                </a:lnTo>
                <a:lnTo>
                  <a:pt x="2064170" y="38646"/>
                </a:lnTo>
                <a:lnTo>
                  <a:pt x="2094526" y="40439"/>
                </a:lnTo>
                <a:lnTo>
                  <a:pt x="2124881" y="42311"/>
                </a:lnTo>
                <a:lnTo>
                  <a:pt x="2155236" y="44265"/>
                </a:lnTo>
                <a:lnTo>
                  <a:pt x="2185592" y="46305"/>
                </a:lnTo>
                <a:lnTo>
                  <a:pt x="2215947" y="48434"/>
                </a:lnTo>
                <a:lnTo>
                  <a:pt x="2246303" y="50657"/>
                </a:lnTo>
                <a:lnTo>
                  <a:pt x="2276658" y="52977"/>
                </a:lnTo>
                <a:lnTo>
                  <a:pt x="2307014" y="55400"/>
                </a:lnTo>
                <a:lnTo>
                  <a:pt x="2337369" y="57928"/>
                </a:lnTo>
                <a:lnTo>
                  <a:pt x="2367724" y="60568"/>
                </a:lnTo>
                <a:lnTo>
                  <a:pt x="2398080" y="63323"/>
                </a:lnTo>
                <a:lnTo>
                  <a:pt x="2428435" y="66200"/>
                </a:lnTo>
                <a:lnTo>
                  <a:pt x="2458791" y="69202"/>
                </a:lnTo>
                <a:lnTo>
                  <a:pt x="2489146" y="72337"/>
                </a:lnTo>
                <a:lnTo>
                  <a:pt x="2519502" y="75609"/>
                </a:lnTo>
                <a:lnTo>
                  <a:pt x="2549857" y="79025"/>
                </a:lnTo>
                <a:lnTo>
                  <a:pt x="2580213" y="82590"/>
                </a:lnTo>
                <a:lnTo>
                  <a:pt x="2610568" y="86313"/>
                </a:lnTo>
                <a:lnTo>
                  <a:pt x="2640923" y="90198"/>
                </a:lnTo>
                <a:lnTo>
                  <a:pt x="2671279" y="94254"/>
                </a:lnTo>
                <a:lnTo>
                  <a:pt x="2701634" y="98489"/>
                </a:lnTo>
                <a:lnTo>
                  <a:pt x="2731990" y="102909"/>
                </a:lnTo>
                <a:lnTo>
                  <a:pt x="2762345" y="107523"/>
                </a:lnTo>
                <a:lnTo>
                  <a:pt x="2792701" y="112340"/>
                </a:lnTo>
                <a:lnTo>
                  <a:pt x="2823056" y="117368"/>
                </a:lnTo>
                <a:lnTo>
                  <a:pt x="2853412" y="122617"/>
                </a:lnTo>
                <a:lnTo>
                  <a:pt x="2883767" y="128096"/>
                </a:lnTo>
                <a:lnTo>
                  <a:pt x="2914122" y="133816"/>
                </a:lnTo>
                <a:lnTo>
                  <a:pt x="2944478" y="139787"/>
                </a:lnTo>
                <a:lnTo>
                  <a:pt x="2974833" y="146020"/>
                </a:lnTo>
                <a:lnTo>
                  <a:pt x="3005189" y="152527"/>
                </a:lnTo>
                <a:lnTo>
                  <a:pt x="3035544" y="159319"/>
                </a:lnTo>
                <a:lnTo>
                  <a:pt x="3065900" y="166410"/>
                </a:lnTo>
                <a:lnTo>
                  <a:pt x="3096255" y="173812"/>
                </a:lnTo>
                <a:lnTo>
                  <a:pt x="3126611" y="181539"/>
                </a:lnTo>
                <a:lnTo>
                  <a:pt x="3156966" y="189605"/>
                </a:lnTo>
                <a:lnTo>
                  <a:pt x="3187321" y="198025"/>
                </a:lnTo>
                <a:lnTo>
                  <a:pt x="3217677" y="206814"/>
                </a:lnTo>
                <a:lnTo>
                  <a:pt x="3248032" y="215990"/>
                </a:lnTo>
                <a:lnTo>
                  <a:pt x="3278388" y="225568"/>
                </a:lnTo>
                <a:lnTo>
                  <a:pt x="3308743" y="235567"/>
                </a:lnTo>
                <a:lnTo>
                  <a:pt x="3339099" y="246005"/>
                </a:lnTo>
                <a:lnTo>
                  <a:pt x="3369454" y="256901"/>
                </a:lnTo>
                <a:lnTo>
                  <a:pt x="3399810" y="268275"/>
                </a:lnTo>
                <a:lnTo>
                  <a:pt x="3430165" y="280149"/>
                </a:lnTo>
                <a:lnTo>
                  <a:pt x="3460520" y="292544"/>
                </a:lnTo>
                <a:lnTo>
                  <a:pt x="3490876" y="305483"/>
                </a:lnTo>
                <a:lnTo>
                  <a:pt x="3521231" y="318990"/>
                </a:lnTo>
                <a:lnTo>
                  <a:pt x="3551587" y="333090"/>
                </a:lnTo>
                <a:lnTo>
                  <a:pt x="3581942" y="347809"/>
                </a:lnTo>
                <a:lnTo>
                  <a:pt x="3612298" y="363174"/>
                </a:lnTo>
                <a:lnTo>
                  <a:pt x="3642653" y="379214"/>
                </a:lnTo>
                <a:lnTo>
                  <a:pt x="3673009" y="395957"/>
                </a:lnTo>
                <a:lnTo>
                  <a:pt x="3703364" y="413436"/>
                </a:lnTo>
                <a:lnTo>
                  <a:pt x="3733719" y="431682"/>
                </a:lnTo>
                <a:lnTo>
                  <a:pt x="3764075" y="450730"/>
                </a:lnTo>
                <a:lnTo>
                  <a:pt x="3794430" y="470613"/>
                </a:lnTo>
                <a:lnTo>
                  <a:pt x="3824786" y="491369"/>
                </a:lnTo>
                <a:lnTo>
                  <a:pt x="3855141" y="513036"/>
                </a:lnTo>
                <a:lnTo>
                  <a:pt x="3885497" y="535655"/>
                </a:lnTo>
                <a:lnTo>
                  <a:pt x="3915852" y="559266"/>
                </a:lnTo>
                <a:lnTo>
                  <a:pt x="3946207" y="583914"/>
                </a:lnTo>
                <a:lnTo>
                  <a:pt x="3976563" y="609644"/>
                </a:lnTo>
                <a:lnTo>
                  <a:pt x="4006918" y="636504"/>
                </a:lnTo>
                <a:lnTo>
                  <a:pt x="4037274" y="664542"/>
                </a:lnTo>
                <a:lnTo>
                  <a:pt x="4067629" y="693812"/>
                </a:lnTo>
                <a:lnTo>
                  <a:pt x="4097985" y="724366"/>
                </a:lnTo>
                <a:lnTo>
                  <a:pt x="4128340" y="756262"/>
                </a:lnTo>
                <a:lnTo>
                  <a:pt x="4158696" y="789558"/>
                </a:lnTo>
                <a:lnTo>
                  <a:pt x="4189051" y="824315"/>
                </a:lnTo>
                <a:lnTo>
                  <a:pt x="4219406" y="860599"/>
                </a:lnTo>
                <a:lnTo>
                  <a:pt x="4249762" y="898475"/>
                </a:lnTo>
                <a:lnTo>
                  <a:pt x="4280117" y="938014"/>
                </a:lnTo>
                <a:lnTo>
                  <a:pt x="4310473" y="979289"/>
                </a:lnTo>
                <a:lnTo>
                  <a:pt x="4340828" y="1022375"/>
                </a:lnTo>
                <a:lnTo>
                  <a:pt x="4371184" y="1067353"/>
                </a:lnTo>
                <a:lnTo>
                  <a:pt x="4401539" y="1114306"/>
                </a:lnTo>
                <a:lnTo>
                  <a:pt x="4431895" y="1163320"/>
                </a:lnTo>
                <a:lnTo>
                  <a:pt x="4462250" y="1214485"/>
                </a:lnTo>
                <a:lnTo>
                  <a:pt x="4492605" y="1267897"/>
                </a:lnTo>
                <a:lnTo>
                  <a:pt x="4522961" y="1323653"/>
                </a:lnTo>
                <a:lnTo>
                  <a:pt x="4553316" y="1381857"/>
                </a:lnTo>
                <a:lnTo>
                  <a:pt x="4583672" y="1442616"/>
                </a:lnTo>
                <a:lnTo>
                  <a:pt x="4614027" y="1506043"/>
                </a:lnTo>
                <a:lnTo>
                  <a:pt x="4644383" y="1572253"/>
                </a:lnTo>
                <a:lnTo>
                  <a:pt x="4674738" y="1641371"/>
                </a:lnTo>
                <a:lnTo>
                  <a:pt x="4705094" y="1713522"/>
                </a:lnTo>
                <a:lnTo>
                  <a:pt x="4735449" y="1788841"/>
                </a:lnTo>
                <a:lnTo>
                  <a:pt x="4765804" y="1867467"/>
                </a:lnTo>
                <a:lnTo>
                  <a:pt x="4796160" y="1949544"/>
                </a:lnTo>
                <a:lnTo>
                  <a:pt x="4826515" y="2035224"/>
                </a:lnTo>
              </a:path>
            </a:pathLst>
          </a:custGeom>
          <a:noFill/>
          <a:ln w="21590">
            <a:solidFill>
              <a:srgbClr val="52666F"/>
            </a:solidFill>
            <a:prstDash val="dash"/>
          </a:ln>
        </p:spPr>
      </p:sp>
      <p:sp>
        <p:nvSpPr>
          <p:cNvPr id="29" name="rect 29"/>
          <p:cNvSpPr/>
          <p:nvPr/>
        </p:nvSpPr>
        <p:spPr>
          <a:xfrm>
            <a:off x="1943100" y="5283200"/>
            <a:ext cx="3276600" cy="774700"/>
          </a:xfrm>
          <a:prstGeom prst="rect">
            <a:avLst/>
          </a:prstGeom>
          <a:solidFill>
            <a:srgbClr val="FAFAF7"/>
          </a:solidFill>
          <a:ln>
            <a:noFill/>
          </a:ln>
        </p:spPr>
      </p:sp>
      <p:sp>
        <p:nvSpPr>
          <p:cNvPr id="30" name="path 30"/>
          <p:cNvSpPr/>
          <p:nvPr/>
        </p:nvSpPr>
        <p:spPr>
          <a:xfrm>
            <a:off x="2032000" y="5524500"/>
            <a:ext cx="342900" cy="127"/>
          </a:xfrm>
          <a:custGeom>
            <a:avLst/>
            <a:gdLst/>
            <a:ahLst/>
            <a:cxnLst/>
            <a:rect l="0" t="0" r="r" b="b"/>
            <a:pathLst>
              <a:path w="342900" h="127" fill="none">
                <a:moveTo>
                  <a:pt x="0" y="0"/>
                </a:moveTo>
                <a:lnTo>
                  <a:pt x="342900" y="0"/>
                </a:lnTo>
              </a:path>
            </a:pathLst>
          </a:custGeom>
          <a:noFill/>
          <a:ln w="30480">
            <a:solidFill>
              <a:srgbClr val="007E80"/>
            </a:solidFill>
            <a:prstDash val="solid"/>
          </a:ln>
        </p:spPr>
      </p:sp>
      <p:sp>
        <p:nvSpPr>
          <p:cNvPr id="31" name="text 31"/>
          <p:cNvSpPr/>
          <p:nvPr/>
        </p:nvSpPr>
        <p:spPr>
          <a:xfrm>
            <a:off x="2463800" y="5397500"/>
            <a:ext cx="2870200" cy="254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600" b="0">
                <a:solidFill>
                  <a:srgbClr val="007E80"/>
                </a:solidFill>
                <a:latin typeface="DejaVu Sans"/>
              </a:rPr>
              <a:t>Observed survival</a:t>
            </a:r>
          </a:p>
        </p:txBody>
      </p:sp>
      <p:sp>
        <p:nvSpPr>
          <p:cNvPr id="32" name="path 32"/>
          <p:cNvSpPr/>
          <p:nvPr/>
        </p:nvSpPr>
        <p:spPr>
          <a:xfrm>
            <a:off x="2032000" y="5854700"/>
            <a:ext cx="342900" cy="127"/>
          </a:xfrm>
          <a:custGeom>
            <a:avLst/>
            <a:gdLst/>
            <a:ahLst/>
            <a:cxnLst/>
            <a:rect l="0" t="0" r="r" b="b"/>
            <a:pathLst>
              <a:path w="342900" h="127" fill="none">
                <a:moveTo>
                  <a:pt x="0" y="0"/>
                </a:moveTo>
                <a:lnTo>
                  <a:pt x="342900" y="0"/>
                </a:lnTo>
              </a:path>
            </a:pathLst>
          </a:custGeom>
          <a:noFill/>
          <a:ln w="21590">
            <a:solidFill>
              <a:srgbClr val="52666F"/>
            </a:solidFill>
            <a:prstDash val="dash"/>
          </a:ln>
        </p:spPr>
      </p:sp>
      <p:sp>
        <p:nvSpPr>
          <p:cNvPr id="33" name="text 33"/>
          <p:cNvSpPr/>
          <p:nvPr/>
        </p:nvSpPr>
        <p:spPr>
          <a:xfrm>
            <a:off x="2463800" y="5727700"/>
            <a:ext cx="2870200" cy="254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600" b="0">
                <a:solidFill>
                  <a:srgbClr val="52666F"/>
                </a:solidFill>
                <a:latin typeface="DejaVu Sans"/>
              </a:rPr>
              <a:t>Exponential excess fit</a:t>
            </a:r>
          </a:p>
        </p:txBody>
      </p:sp>
      <p:sp>
        <p:nvSpPr>
          <p:cNvPr id="34" name="text 34"/>
          <p:cNvSpPr/>
          <p:nvPr/>
        </p:nvSpPr>
        <p:spPr>
          <a:xfrm>
            <a:off x="9194800" y="3213100"/>
            <a:ext cx="5765800" cy="3651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300" b="1">
                <a:solidFill>
                  <a:srgbClr val="B44D32"/>
                </a:solidFill>
                <a:latin typeface="DejaVu Sans"/>
              </a:rPr>
              <a:t>zsRE · stable v0</a:t>
            </a:r>
          </a:p>
        </p:txBody>
      </p:sp>
      <p:sp>
        <p:nvSpPr>
          <p:cNvPr id="35" name="path 35"/>
          <p:cNvSpPr/>
          <p:nvPr/>
        </p:nvSpPr>
        <p:spPr>
          <a:xfrm>
            <a:off x="9194800" y="3644900"/>
            <a:ext cx="127" cy="2527300"/>
          </a:xfrm>
          <a:custGeom>
            <a:avLst/>
            <a:gdLst/>
            <a:ahLst/>
            <a:cxnLst/>
            <a:rect l="0" t="0" r="r" b="b"/>
            <a:pathLst>
              <a:path w="127" h="2527300" fill="none">
                <a:moveTo>
                  <a:pt x="0" y="0"/>
                </a:moveTo>
                <a:lnTo>
                  <a:pt x="0" y="2527300"/>
                </a:lnTo>
              </a:path>
            </a:pathLst>
          </a:custGeom>
          <a:noFill/>
          <a:ln w="10160">
            <a:solidFill>
              <a:srgbClr val="D8E1E2"/>
            </a:solidFill>
            <a:prstDash val="solid"/>
          </a:ln>
        </p:spPr>
      </p:sp>
      <p:sp>
        <p:nvSpPr>
          <p:cNvPr id="36" name="text 36"/>
          <p:cNvSpPr/>
          <p:nvPr/>
        </p:nvSpPr>
        <p:spPr>
          <a:xfrm>
            <a:off x="8978900" y="6286500"/>
            <a:ext cx="965200" cy="269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700" b="0">
                <a:solidFill>
                  <a:srgbClr val="162F3B"/>
                </a:solidFill>
                <a:latin typeface="DejaVu Sans"/>
              </a:rPr>
              <a:t>0.01</a:t>
            </a:r>
          </a:p>
        </p:txBody>
      </p:sp>
      <p:sp>
        <p:nvSpPr>
          <p:cNvPr id="37" name="path 37"/>
          <p:cNvSpPr/>
          <p:nvPr/>
        </p:nvSpPr>
        <p:spPr>
          <a:xfrm>
            <a:off x="10821687" y="3644900"/>
            <a:ext cx="127" cy="2527300"/>
          </a:xfrm>
          <a:custGeom>
            <a:avLst/>
            <a:gdLst/>
            <a:ahLst/>
            <a:cxnLst/>
            <a:rect l="0" t="0" r="r" b="b"/>
            <a:pathLst>
              <a:path w="127" h="2527300" fill="none">
                <a:moveTo>
                  <a:pt x="0" y="0"/>
                </a:moveTo>
                <a:lnTo>
                  <a:pt x="0" y="2527300"/>
                </a:lnTo>
              </a:path>
            </a:pathLst>
          </a:custGeom>
          <a:noFill/>
          <a:ln w="10160">
            <a:solidFill>
              <a:srgbClr val="D8E1E2"/>
            </a:solidFill>
            <a:prstDash val="solid"/>
          </a:ln>
        </p:spPr>
      </p:sp>
      <p:sp>
        <p:nvSpPr>
          <p:cNvPr id="38" name="text 38"/>
          <p:cNvSpPr/>
          <p:nvPr/>
        </p:nvSpPr>
        <p:spPr>
          <a:xfrm>
            <a:off x="10605787" y="6286500"/>
            <a:ext cx="965200" cy="269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700" b="0">
                <a:solidFill>
                  <a:srgbClr val="162F3B"/>
                </a:solidFill>
                <a:latin typeface="DejaVu Sans"/>
              </a:rPr>
              <a:t>0.1</a:t>
            </a:r>
          </a:p>
        </p:txBody>
      </p:sp>
      <p:sp>
        <p:nvSpPr>
          <p:cNvPr id="39" name="path 39"/>
          <p:cNvSpPr/>
          <p:nvPr/>
        </p:nvSpPr>
        <p:spPr>
          <a:xfrm>
            <a:off x="12448575" y="3644900"/>
            <a:ext cx="127" cy="2527300"/>
          </a:xfrm>
          <a:custGeom>
            <a:avLst/>
            <a:gdLst/>
            <a:ahLst/>
            <a:cxnLst/>
            <a:rect l="0" t="0" r="r" b="b"/>
            <a:pathLst>
              <a:path w="127" h="2527300" fill="none">
                <a:moveTo>
                  <a:pt x="0" y="0"/>
                </a:moveTo>
                <a:lnTo>
                  <a:pt x="0" y="2527300"/>
                </a:lnTo>
              </a:path>
            </a:pathLst>
          </a:custGeom>
          <a:noFill/>
          <a:ln w="10160">
            <a:solidFill>
              <a:srgbClr val="D8E1E2"/>
            </a:solidFill>
            <a:prstDash val="solid"/>
          </a:ln>
        </p:spPr>
      </p:sp>
      <p:sp>
        <p:nvSpPr>
          <p:cNvPr id="40" name="text 40"/>
          <p:cNvSpPr/>
          <p:nvPr/>
        </p:nvSpPr>
        <p:spPr>
          <a:xfrm>
            <a:off x="12232675" y="6286500"/>
            <a:ext cx="965200" cy="269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700" b="0">
                <a:solidFill>
                  <a:srgbClr val="162F3B"/>
                </a:solidFill>
                <a:latin typeface="DejaVu Sans"/>
              </a:rPr>
              <a:t>1</a:t>
            </a:r>
          </a:p>
        </p:txBody>
      </p:sp>
      <p:sp>
        <p:nvSpPr>
          <p:cNvPr id="41" name="path 41"/>
          <p:cNvSpPr/>
          <p:nvPr/>
        </p:nvSpPr>
        <p:spPr>
          <a:xfrm>
            <a:off x="14075462" y="3644900"/>
            <a:ext cx="127" cy="2527300"/>
          </a:xfrm>
          <a:custGeom>
            <a:avLst/>
            <a:gdLst/>
            <a:ahLst/>
            <a:cxnLst/>
            <a:rect l="0" t="0" r="r" b="b"/>
            <a:pathLst>
              <a:path w="127" h="2527300" fill="none">
                <a:moveTo>
                  <a:pt x="0" y="0"/>
                </a:moveTo>
                <a:lnTo>
                  <a:pt x="0" y="2527300"/>
                </a:lnTo>
              </a:path>
            </a:pathLst>
          </a:custGeom>
          <a:noFill/>
          <a:ln w="10160">
            <a:solidFill>
              <a:srgbClr val="D8E1E2"/>
            </a:solidFill>
            <a:prstDash val="solid"/>
          </a:ln>
        </p:spPr>
      </p:sp>
      <p:sp>
        <p:nvSpPr>
          <p:cNvPr id="42" name="text 42"/>
          <p:cNvSpPr/>
          <p:nvPr/>
        </p:nvSpPr>
        <p:spPr>
          <a:xfrm>
            <a:off x="13859562" y="6286500"/>
            <a:ext cx="965200" cy="269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700" b="0">
                <a:solidFill>
                  <a:srgbClr val="162F3B"/>
                </a:solidFill>
                <a:latin typeface="DejaVu Sans"/>
              </a:rPr>
              <a:t>10</a:t>
            </a:r>
          </a:p>
        </p:txBody>
      </p:sp>
      <p:sp>
        <p:nvSpPr>
          <p:cNvPr id="43" name="path 43"/>
          <p:cNvSpPr/>
          <p:nvPr/>
        </p:nvSpPr>
        <p:spPr>
          <a:xfrm>
            <a:off x="9194800" y="4131817"/>
            <a:ext cx="5765800" cy="127"/>
          </a:xfrm>
          <a:custGeom>
            <a:avLst/>
            <a:gdLst/>
            <a:ahLst/>
            <a:cxnLst/>
            <a:rect l="0" t="0" r="r" b="b"/>
            <a:pathLst>
              <a:path w="5765800" h="127" fill="none">
                <a:moveTo>
                  <a:pt x="0" y="0"/>
                </a:moveTo>
                <a:lnTo>
                  <a:pt x="5765800" y="0"/>
                </a:lnTo>
              </a:path>
            </a:pathLst>
          </a:custGeom>
          <a:noFill/>
          <a:ln w="10160">
            <a:solidFill>
              <a:srgbClr val="D8E1E2"/>
            </a:solidFill>
            <a:prstDash val="solid"/>
          </a:ln>
        </p:spPr>
      </p:sp>
      <p:sp>
        <p:nvSpPr>
          <p:cNvPr id="44" name="text 44"/>
          <p:cNvSpPr/>
          <p:nvPr/>
        </p:nvSpPr>
        <p:spPr>
          <a:xfrm>
            <a:off x="8153400" y="4017517"/>
            <a:ext cx="1016000" cy="269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700" b="0">
                <a:solidFill>
                  <a:srgbClr val="162F3B"/>
                </a:solidFill>
                <a:latin typeface="DejaVu Sans"/>
              </a:rPr>
              <a:t>0.1%</a:t>
            </a:r>
          </a:p>
        </p:txBody>
      </p:sp>
      <p:sp>
        <p:nvSpPr>
          <p:cNvPr id="45" name="path 45"/>
          <p:cNvSpPr/>
          <p:nvPr/>
        </p:nvSpPr>
        <p:spPr>
          <a:xfrm>
            <a:off x="9194800" y="4940569"/>
            <a:ext cx="5765800" cy="127"/>
          </a:xfrm>
          <a:custGeom>
            <a:avLst/>
            <a:gdLst/>
            <a:ahLst/>
            <a:cxnLst/>
            <a:rect l="0" t="0" r="r" b="b"/>
            <a:pathLst>
              <a:path w="5765800" h="127" fill="none">
                <a:moveTo>
                  <a:pt x="0" y="0"/>
                </a:moveTo>
                <a:lnTo>
                  <a:pt x="5765800" y="0"/>
                </a:lnTo>
              </a:path>
            </a:pathLst>
          </a:custGeom>
          <a:noFill/>
          <a:ln w="10160">
            <a:solidFill>
              <a:srgbClr val="D8E1E2"/>
            </a:solidFill>
            <a:prstDash val="solid"/>
          </a:ln>
        </p:spPr>
      </p:sp>
      <p:sp>
        <p:nvSpPr>
          <p:cNvPr id="46" name="text 46"/>
          <p:cNvSpPr/>
          <p:nvPr/>
        </p:nvSpPr>
        <p:spPr>
          <a:xfrm>
            <a:off x="8153400" y="4826269"/>
            <a:ext cx="1016000" cy="269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700" b="0">
                <a:solidFill>
                  <a:srgbClr val="162F3B"/>
                </a:solidFill>
                <a:latin typeface="DejaVu Sans"/>
              </a:rPr>
              <a:t>0.01%</a:t>
            </a:r>
          </a:p>
        </p:txBody>
      </p:sp>
      <p:sp>
        <p:nvSpPr>
          <p:cNvPr id="47" name="path 47"/>
          <p:cNvSpPr/>
          <p:nvPr/>
        </p:nvSpPr>
        <p:spPr>
          <a:xfrm>
            <a:off x="9194800" y="5749321"/>
            <a:ext cx="5765800" cy="127"/>
          </a:xfrm>
          <a:custGeom>
            <a:avLst/>
            <a:gdLst/>
            <a:ahLst/>
            <a:cxnLst/>
            <a:rect l="0" t="0" r="r" b="b"/>
            <a:pathLst>
              <a:path w="5765800" h="127" fill="none">
                <a:moveTo>
                  <a:pt x="0" y="0"/>
                </a:moveTo>
                <a:lnTo>
                  <a:pt x="5765800" y="0"/>
                </a:lnTo>
              </a:path>
            </a:pathLst>
          </a:custGeom>
          <a:noFill/>
          <a:ln w="10160">
            <a:solidFill>
              <a:srgbClr val="D8E1E2"/>
            </a:solidFill>
            <a:prstDash val="solid"/>
          </a:ln>
        </p:spPr>
      </p:sp>
      <p:sp>
        <p:nvSpPr>
          <p:cNvPr id="48" name="text 48"/>
          <p:cNvSpPr/>
          <p:nvPr/>
        </p:nvSpPr>
        <p:spPr>
          <a:xfrm>
            <a:off x="8153400" y="5635021"/>
            <a:ext cx="1016000" cy="269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700" b="0">
                <a:solidFill>
                  <a:srgbClr val="162F3B"/>
                </a:solidFill>
                <a:latin typeface="DejaVu Sans"/>
              </a:rPr>
              <a:t>0.001%</a:t>
            </a:r>
          </a:p>
        </p:txBody>
      </p:sp>
      <p:sp>
        <p:nvSpPr>
          <p:cNvPr id="49" name="path 49"/>
          <p:cNvSpPr/>
          <p:nvPr/>
        </p:nvSpPr>
        <p:spPr>
          <a:xfrm>
            <a:off x="9194800" y="4208745"/>
            <a:ext cx="5551942" cy="1963455"/>
          </a:xfrm>
          <a:custGeom>
            <a:avLst/>
            <a:gdLst/>
            <a:ahLst/>
            <a:cxnLst/>
            <a:rect l="0" t="0" r="r" b="b"/>
            <a:pathLst>
              <a:path w="5551942" h="1963455" fill="none">
                <a:moveTo>
                  <a:pt x="0" y="0"/>
                </a:moveTo>
                <a:lnTo>
                  <a:pt x="40014" y="0"/>
                </a:lnTo>
                <a:lnTo>
                  <a:pt x="40014" y="1787"/>
                </a:lnTo>
                <a:lnTo>
                  <a:pt x="373969" y="1787"/>
                </a:lnTo>
                <a:lnTo>
                  <a:pt x="373969" y="3584"/>
                </a:lnTo>
                <a:lnTo>
                  <a:pt x="547160" y="3584"/>
                </a:lnTo>
                <a:lnTo>
                  <a:pt x="547160" y="5390"/>
                </a:lnTo>
                <a:lnTo>
                  <a:pt x="688978" y="5390"/>
                </a:lnTo>
                <a:lnTo>
                  <a:pt x="688978" y="7205"/>
                </a:lnTo>
                <a:lnTo>
                  <a:pt x="688987" y="7205"/>
                </a:lnTo>
                <a:lnTo>
                  <a:pt x="688987" y="9030"/>
                </a:lnTo>
                <a:lnTo>
                  <a:pt x="766691" y="9030"/>
                </a:lnTo>
                <a:lnTo>
                  <a:pt x="766691" y="10864"/>
                </a:lnTo>
                <a:lnTo>
                  <a:pt x="808110" y="10864"/>
                </a:lnTo>
                <a:lnTo>
                  <a:pt x="808110" y="12708"/>
                </a:lnTo>
                <a:lnTo>
                  <a:pt x="858436" y="12708"/>
                </a:lnTo>
                <a:lnTo>
                  <a:pt x="858436" y="14561"/>
                </a:lnTo>
                <a:lnTo>
                  <a:pt x="886282" y="14561"/>
                </a:lnTo>
                <a:lnTo>
                  <a:pt x="886282" y="16424"/>
                </a:lnTo>
                <a:lnTo>
                  <a:pt x="920692" y="16424"/>
                </a:lnTo>
                <a:lnTo>
                  <a:pt x="920692" y="18298"/>
                </a:lnTo>
                <a:lnTo>
                  <a:pt x="937968" y="18298"/>
                </a:lnTo>
                <a:lnTo>
                  <a:pt x="937968" y="20181"/>
                </a:lnTo>
                <a:lnTo>
                  <a:pt x="1033987" y="20181"/>
                </a:lnTo>
                <a:lnTo>
                  <a:pt x="1033987" y="22074"/>
                </a:lnTo>
                <a:lnTo>
                  <a:pt x="1055479" y="22074"/>
                </a:lnTo>
                <a:lnTo>
                  <a:pt x="1055479" y="23978"/>
                </a:lnTo>
                <a:lnTo>
                  <a:pt x="1248132" y="23978"/>
                </a:lnTo>
                <a:lnTo>
                  <a:pt x="1248132" y="25892"/>
                </a:lnTo>
                <a:lnTo>
                  <a:pt x="1319364" y="25892"/>
                </a:lnTo>
                <a:lnTo>
                  <a:pt x="1319364" y="27817"/>
                </a:lnTo>
                <a:lnTo>
                  <a:pt x="1379839" y="27817"/>
                </a:lnTo>
                <a:lnTo>
                  <a:pt x="1379839" y="29752"/>
                </a:lnTo>
                <a:lnTo>
                  <a:pt x="1403493" y="29752"/>
                </a:lnTo>
                <a:lnTo>
                  <a:pt x="1403493" y="31698"/>
                </a:lnTo>
                <a:lnTo>
                  <a:pt x="1422820" y="31698"/>
                </a:lnTo>
                <a:lnTo>
                  <a:pt x="1422820" y="33655"/>
                </a:lnTo>
                <a:lnTo>
                  <a:pt x="1448626" y="33655"/>
                </a:lnTo>
                <a:lnTo>
                  <a:pt x="1448626" y="35622"/>
                </a:lnTo>
                <a:lnTo>
                  <a:pt x="1503638" y="35622"/>
                </a:lnTo>
                <a:lnTo>
                  <a:pt x="1503638" y="37601"/>
                </a:lnTo>
                <a:lnTo>
                  <a:pt x="1560388" y="37601"/>
                </a:lnTo>
                <a:lnTo>
                  <a:pt x="1560388" y="39591"/>
                </a:lnTo>
                <a:lnTo>
                  <a:pt x="1589907" y="39591"/>
                </a:lnTo>
                <a:lnTo>
                  <a:pt x="1589907" y="41593"/>
                </a:lnTo>
                <a:lnTo>
                  <a:pt x="1600105" y="41593"/>
                </a:lnTo>
                <a:lnTo>
                  <a:pt x="1600105" y="43605"/>
                </a:lnTo>
                <a:lnTo>
                  <a:pt x="1606583" y="43605"/>
                </a:lnTo>
                <a:lnTo>
                  <a:pt x="1606583" y="45630"/>
                </a:lnTo>
                <a:lnTo>
                  <a:pt x="1644547" y="45630"/>
                </a:lnTo>
                <a:lnTo>
                  <a:pt x="1644547" y="47666"/>
                </a:lnTo>
                <a:lnTo>
                  <a:pt x="1644711" y="47666"/>
                </a:lnTo>
                <a:lnTo>
                  <a:pt x="1644711" y="49714"/>
                </a:lnTo>
                <a:lnTo>
                  <a:pt x="1668574" y="49714"/>
                </a:lnTo>
                <a:lnTo>
                  <a:pt x="1668574" y="51774"/>
                </a:lnTo>
                <a:lnTo>
                  <a:pt x="1681694" y="51774"/>
                </a:lnTo>
                <a:lnTo>
                  <a:pt x="1681694" y="53846"/>
                </a:lnTo>
                <a:lnTo>
                  <a:pt x="1716499" y="53846"/>
                </a:lnTo>
                <a:lnTo>
                  <a:pt x="1716499" y="55931"/>
                </a:lnTo>
                <a:lnTo>
                  <a:pt x="1731261" y="55931"/>
                </a:lnTo>
                <a:lnTo>
                  <a:pt x="1731261" y="58028"/>
                </a:lnTo>
                <a:lnTo>
                  <a:pt x="1753472" y="58028"/>
                </a:lnTo>
                <a:lnTo>
                  <a:pt x="1753472" y="60137"/>
                </a:lnTo>
                <a:lnTo>
                  <a:pt x="1769710" y="60137"/>
                </a:lnTo>
                <a:lnTo>
                  <a:pt x="1769710" y="62260"/>
                </a:lnTo>
                <a:lnTo>
                  <a:pt x="1817372" y="62260"/>
                </a:lnTo>
                <a:lnTo>
                  <a:pt x="1817372" y="64395"/>
                </a:lnTo>
                <a:lnTo>
                  <a:pt x="1820134" y="64395"/>
                </a:lnTo>
                <a:lnTo>
                  <a:pt x="1820134" y="66543"/>
                </a:lnTo>
                <a:lnTo>
                  <a:pt x="1835891" y="66543"/>
                </a:lnTo>
                <a:lnTo>
                  <a:pt x="1835891" y="68704"/>
                </a:lnTo>
                <a:lnTo>
                  <a:pt x="1847178" y="68704"/>
                </a:lnTo>
                <a:lnTo>
                  <a:pt x="1847178" y="70879"/>
                </a:lnTo>
                <a:lnTo>
                  <a:pt x="1880500" y="70879"/>
                </a:lnTo>
                <a:lnTo>
                  <a:pt x="1880500" y="73068"/>
                </a:lnTo>
                <a:lnTo>
                  <a:pt x="1904906" y="73068"/>
                </a:lnTo>
                <a:lnTo>
                  <a:pt x="1904906" y="75270"/>
                </a:lnTo>
                <a:lnTo>
                  <a:pt x="1938406" y="75270"/>
                </a:lnTo>
                <a:lnTo>
                  <a:pt x="1938406" y="77486"/>
                </a:lnTo>
                <a:lnTo>
                  <a:pt x="1939541" y="77486"/>
                </a:lnTo>
                <a:lnTo>
                  <a:pt x="1939541" y="79716"/>
                </a:lnTo>
                <a:lnTo>
                  <a:pt x="1940832" y="79716"/>
                </a:lnTo>
                <a:lnTo>
                  <a:pt x="1940832" y="81960"/>
                </a:lnTo>
                <a:lnTo>
                  <a:pt x="1966063" y="81960"/>
                </a:lnTo>
                <a:lnTo>
                  <a:pt x="1966063" y="84219"/>
                </a:lnTo>
                <a:lnTo>
                  <a:pt x="2005280" y="84219"/>
                </a:lnTo>
                <a:lnTo>
                  <a:pt x="2005280" y="86492"/>
                </a:lnTo>
                <a:lnTo>
                  <a:pt x="2014809" y="86492"/>
                </a:lnTo>
                <a:lnTo>
                  <a:pt x="2014809" y="88781"/>
                </a:lnTo>
                <a:lnTo>
                  <a:pt x="2015290" y="88781"/>
                </a:lnTo>
                <a:lnTo>
                  <a:pt x="2015290" y="91084"/>
                </a:lnTo>
                <a:lnTo>
                  <a:pt x="2034810" y="91084"/>
                </a:lnTo>
                <a:lnTo>
                  <a:pt x="2034810" y="93402"/>
                </a:lnTo>
                <a:lnTo>
                  <a:pt x="2041613" y="93402"/>
                </a:lnTo>
                <a:lnTo>
                  <a:pt x="2041613" y="95736"/>
                </a:lnTo>
                <a:lnTo>
                  <a:pt x="2077962" y="95736"/>
                </a:lnTo>
                <a:lnTo>
                  <a:pt x="2077962" y="98085"/>
                </a:lnTo>
                <a:lnTo>
                  <a:pt x="2083676" y="98085"/>
                </a:lnTo>
                <a:lnTo>
                  <a:pt x="2083676" y="100451"/>
                </a:lnTo>
                <a:lnTo>
                  <a:pt x="2096916" y="100451"/>
                </a:lnTo>
                <a:lnTo>
                  <a:pt x="2096916" y="102832"/>
                </a:lnTo>
                <a:lnTo>
                  <a:pt x="2141504" y="102832"/>
                </a:lnTo>
                <a:lnTo>
                  <a:pt x="2141504" y="105229"/>
                </a:lnTo>
                <a:lnTo>
                  <a:pt x="2171316" y="105229"/>
                </a:lnTo>
                <a:lnTo>
                  <a:pt x="2171316" y="107643"/>
                </a:lnTo>
                <a:lnTo>
                  <a:pt x="2173370" y="107643"/>
                </a:lnTo>
                <a:lnTo>
                  <a:pt x="2173370" y="110074"/>
                </a:lnTo>
                <a:lnTo>
                  <a:pt x="2204096" y="110074"/>
                </a:lnTo>
                <a:lnTo>
                  <a:pt x="2204096" y="112522"/>
                </a:lnTo>
                <a:lnTo>
                  <a:pt x="2215862" y="112522"/>
                </a:lnTo>
                <a:lnTo>
                  <a:pt x="2215862" y="114987"/>
                </a:lnTo>
                <a:lnTo>
                  <a:pt x="2223844" y="114987"/>
                </a:lnTo>
                <a:lnTo>
                  <a:pt x="2223844" y="117469"/>
                </a:lnTo>
                <a:lnTo>
                  <a:pt x="2234577" y="117469"/>
                </a:lnTo>
                <a:lnTo>
                  <a:pt x="2234577" y="119969"/>
                </a:lnTo>
                <a:lnTo>
                  <a:pt x="2236737" y="119969"/>
                </a:lnTo>
                <a:lnTo>
                  <a:pt x="2236737" y="122487"/>
                </a:lnTo>
                <a:lnTo>
                  <a:pt x="2251801" y="122487"/>
                </a:lnTo>
                <a:lnTo>
                  <a:pt x="2251801" y="125023"/>
                </a:lnTo>
                <a:lnTo>
                  <a:pt x="2272372" y="125023"/>
                </a:lnTo>
                <a:lnTo>
                  <a:pt x="2272372" y="127577"/>
                </a:lnTo>
                <a:lnTo>
                  <a:pt x="2274757" y="127577"/>
                </a:lnTo>
                <a:lnTo>
                  <a:pt x="2274757" y="130150"/>
                </a:lnTo>
                <a:lnTo>
                  <a:pt x="2277763" y="130150"/>
                </a:lnTo>
                <a:lnTo>
                  <a:pt x="2277763" y="132742"/>
                </a:lnTo>
                <a:lnTo>
                  <a:pt x="2282409" y="132742"/>
                </a:lnTo>
                <a:lnTo>
                  <a:pt x="2282409" y="135354"/>
                </a:lnTo>
                <a:lnTo>
                  <a:pt x="2305064" y="135354"/>
                </a:lnTo>
                <a:lnTo>
                  <a:pt x="2305064" y="137985"/>
                </a:lnTo>
                <a:lnTo>
                  <a:pt x="2307576" y="137985"/>
                </a:lnTo>
                <a:lnTo>
                  <a:pt x="2307576" y="140636"/>
                </a:lnTo>
                <a:lnTo>
                  <a:pt x="2341474" y="140636"/>
                </a:lnTo>
                <a:lnTo>
                  <a:pt x="2341474" y="143307"/>
                </a:lnTo>
                <a:lnTo>
                  <a:pt x="2361644" y="143307"/>
                </a:lnTo>
                <a:lnTo>
                  <a:pt x="2361644" y="145998"/>
                </a:lnTo>
                <a:lnTo>
                  <a:pt x="2369201" y="145998"/>
                </a:lnTo>
                <a:lnTo>
                  <a:pt x="2369201" y="148710"/>
                </a:lnTo>
                <a:lnTo>
                  <a:pt x="2369615" y="148710"/>
                </a:lnTo>
                <a:lnTo>
                  <a:pt x="2369615" y="151444"/>
                </a:lnTo>
                <a:lnTo>
                  <a:pt x="2382171" y="151444"/>
                </a:lnTo>
                <a:lnTo>
                  <a:pt x="2382171" y="154199"/>
                </a:lnTo>
                <a:lnTo>
                  <a:pt x="2392952" y="154199"/>
                </a:lnTo>
                <a:lnTo>
                  <a:pt x="2392952" y="156975"/>
                </a:lnTo>
                <a:lnTo>
                  <a:pt x="2441131" y="156975"/>
                </a:lnTo>
                <a:lnTo>
                  <a:pt x="2441131" y="159774"/>
                </a:lnTo>
                <a:lnTo>
                  <a:pt x="2453184" y="159774"/>
                </a:lnTo>
                <a:lnTo>
                  <a:pt x="2453184" y="162595"/>
                </a:lnTo>
                <a:lnTo>
                  <a:pt x="2462268" y="162595"/>
                </a:lnTo>
                <a:lnTo>
                  <a:pt x="2462268" y="165439"/>
                </a:lnTo>
                <a:lnTo>
                  <a:pt x="2465571" y="165439"/>
                </a:lnTo>
                <a:lnTo>
                  <a:pt x="2465571" y="168306"/>
                </a:lnTo>
                <a:lnTo>
                  <a:pt x="2470092" y="168306"/>
                </a:lnTo>
                <a:lnTo>
                  <a:pt x="2470092" y="171197"/>
                </a:lnTo>
                <a:lnTo>
                  <a:pt x="2473172" y="171197"/>
                </a:lnTo>
                <a:lnTo>
                  <a:pt x="2473172" y="174112"/>
                </a:lnTo>
                <a:lnTo>
                  <a:pt x="2487659" y="174112"/>
                </a:lnTo>
                <a:lnTo>
                  <a:pt x="2487659" y="177051"/>
                </a:lnTo>
                <a:lnTo>
                  <a:pt x="2493698" y="177051"/>
                </a:lnTo>
                <a:lnTo>
                  <a:pt x="2493698" y="180015"/>
                </a:lnTo>
                <a:lnTo>
                  <a:pt x="2513087" y="180015"/>
                </a:lnTo>
                <a:lnTo>
                  <a:pt x="2513087" y="183005"/>
                </a:lnTo>
                <a:lnTo>
                  <a:pt x="2514318" y="183005"/>
                </a:lnTo>
                <a:lnTo>
                  <a:pt x="2514318" y="186020"/>
                </a:lnTo>
                <a:lnTo>
                  <a:pt x="2521973" y="186020"/>
                </a:lnTo>
                <a:lnTo>
                  <a:pt x="2521973" y="189061"/>
                </a:lnTo>
                <a:lnTo>
                  <a:pt x="2528362" y="189061"/>
                </a:lnTo>
                <a:lnTo>
                  <a:pt x="2528362" y="192128"/>
                </a:lnTo>
                <a:lnTo>
                  <a:pt x="2580742" y="192128"/>
                </a:lnTo>
                <a:lnTo>
                  <a:pt x="2580742" y="195223"/>
                </a:lnTo>
                <a:lnTo>
                  <a:pt x="2592254" y="195223"/>
                </a:lnTo>
                <a:lnTo>
                  <a:pt x="2592254" y="198345"/>
                </a:lnTo>
                <a:lnTo>
                  <a:pt x="2604305" y="198345"/>
                </a:lnTo>
                <a:lnTo>
                  <a:pt x="2604305" y="201495"/>
                </a:lnTo>
                <a:lnTo>
                  <a:pt x="2608839" y="201495"/>
                </a:lnTo>
                <a:lnTo>
                  <a:pt x="2608839" y="204674"/>
                </a:lnTo>
                <a:lnTo>
                  <a:pt x="2645614" y="204674"/>
                </a:lnTo>
                <a:lnTo>
                  <a:pt x="2645614" y="207881"/>
                </a:lnTo>
                <a:lnTo>
                  <a:pt x="2663647" y="207881"/>
                </a:lnTo>
                <a:lnTo>
                  <a:pt x="2663647" y="211119"/>
                </a:lnTo>
                <a:lnTo>
                  <a:pt x="2664374" y="211119"/>
                </a:lnTo>
                <a:lnTo>
                  <a:pt x="2664374" y="214386"/>
                </a:lnTo>
                <a:lnTo>
                  <a:pt x="2673819" y="214386"/>
                </a:lnTo>
                <a:lnTo>
                  <a:pt x="2673819" y="217684"/>
                </a:lnTo>
                <a:lnTo>
                  <a:pt x="2681522" y="217684"/>
                </a:lnTo>
                <a:lnTo>
                  <a:pt x="2681522" y="221013"/>
                </a:lnTo>
                <a:lnTo>
                  <a:pt x="2682327" y="221013"/>
                </a:lnTo>
                <a:lnTo>
                  <a:pt x="2682327" y="224374"/>
                </a:lnTo>
                <a:lnTo>
                  <a:pt x="2688668" y="224374"/>
                </a:lnTo>
                <a:lnTo>
                  <a:pt x="2688668" y="227768"/>
                </a:lnTo>
                <a:lnTo>
                  <a:pt x="2695585" y="227768"/>
                </a:lnTo>
                <a:lnTo>
                  <a:pt x="2695585" y="231195"/>
                </a:lnTo>
                <a:lnTo>
                  <a:pt x="2734558" y="231195"/>
                </a:lnTo>
                <a:lnTo>
                  <a:pt x="2734558" y="234655"/>
                </a:lnTo>
                <a:lnTo>
                  <a:pt x="2739614" y="234655"/>
                </a:lnTo>
                <a:lnTo>
                  <a:pt x="2739614" y="238150"/>
                </a:lnTo>
                <a:lnTo>
                  <a:pt x="2752538" y="238150"/>
                </a:lnTo>
                <a:lnTo>
                  <a:pt x="2752538" y="241680"/>
                </a:lnTo>
                <a:lnTo>
                  <a:pt x="2767640" y="241680"/>
                </a:lnTo>
                <a:lnTo>
                  <a:pt x="2767640" y="245246"/>
                </a:lnTo>
                <a:lnTo>
                  <a:pt x="2774500" y="245246"/>
                </a:lnTo>
                <a:lnTo>
                  <a:pt x="2774500" y="248848"/>
                </a:lnTo>
                <a:lnTo>
                  <a:pt x="2800295" y="248848"/>
                </a:lnTo>
                <a:lnTo>
                  <a:pt x="2800295" y="252488"/>
                </a:lnTo>
                <a:lnTo>
                  <a:pt x="2804327" y="252488"/>
                </a:lnTo>
                <a:lnTo>
                  <a:pt x="2804327" y="256166"/>
                </a:lnTo>
                <a:lnTo>
                  <a:pt x="2814890" y="256166"/>
                </a:lnTo>
                <a:lnTo>
                  <a:pt x="2814890" y="259883"/>
                </a:lnTo>
                <a:lnTo>
                  <a:pt x="2858278" y="259883"/>
                </a:lnTo>
                <a:lnTo>
                  <a:pt x="2858278" y="263640"/>
                </a:lnTo>
                <a:lnTo>
                  <a:pt x="2864660" y="263640"/>
                </a:lnTo>
                <a:lnTo>
                  <a:pt x="2864660" y="267437"/>
                </a:lnTo>
                <a:lnTo>
                  <a:pt x="2874132" y="267437"/>
                </a:lnTo>
                <a:lnTo>
                  <a:pt x="2874132" y="271275"/>
                </a:lnTo>
                <a:lnTo>
                  <a:pt x="2887441" y="271275"/>
                </a:lnTo>
                <a:lnTo>
                  <a:pt x="2887441" y="275157"/>
                </a:lnTo>
                <a:lnTo>
                  <a:pt x="2889619" y="275157"/>
                </a:lnTo>
                <a:lnTo>
                  <a:pt x="2889619" y="279081"/>
                </a:lnTo>
                <a:lnTo>
                  <a:pt x="2890736" y="279081"/>
                </a:lnTo>
                <a:lnTo>
                  <a:pt x="2890736" y="283050"/>
                </a:lnTo>
                <a:lnTo>
                  <a:pt x="2892622" y="283050"/>
                </a:lnTo>
                <a:lnTo>
                  <a:pt x="2892622" y="287064"/>
                </a:lnTo>
                <a:lnTo>
                  <a:pt x="2892865" y="287064"/>
                </a:lnTo>
                <a:lnTo>
                  <a:pt x="2892865" y="291125"/>
                </a:lnTo>
                <a:lnTo>
                  <a:pt x="2921065" y="291125"/>
                </a:lnTo>
                <a:lnTo>
                  <a:pt x="2921065" y="295233"/>
                </a:lnTo>
                <a:lnTo>
                  <a:pt x="2935905" y="295233"/>
                </a:lnTo>
                <a:lnTo>
                  <a:pt x="2935905" y="299389"/>
                </a:lnTo>
                <a:lnTo>
                  <a:pt x="2965561" y="299389"/>
                </a:lnTo>
                <a:lnTo>
                  <a:pt x="2965561" y="303596"/>
                </a:lnTo>
                <a:lnTo>
                  <a:pt x="2975444" y="303596"/>
                </a:lnTo>
                <a:lnTo>
                  <a:pt x="2975444" y="307853"/>
                </a:lnTo>
                <a:lnTo>
                  <a:pt x="2979292" y="307853"/>
                </a:lnTo>
                <a:lnTo>
                  <a:pt x="2979292" y="312163"/>
                </a:lnTo>
                <a:lnTo>
                  <a:pt x="3004300" y="312163"/>
                </a:lnTo>
                <a:lnTo>
                  <a:pt x="3004300" y="316526"/>
                </a:lnTo>
                <a:lnTo>
                  <a:pt x="3016764" y="316526"/>
                </a:lnTo>
                <a:lnTo>
                  <a:pt x="3016764" y="320944"/>
                </a:lnTo>
                <a:lnTo>
                  <a:pt x="3049071" y="320944"/>
                </a:lnTo>
                <a:lnTo>
                  <a:pt x="3049071" y="325419"/>
                </a:lnTo>
                <a:lnTo>
                  <a:pt x="3049608" y="325419"/>
                </a:lnTo>
                <a:lnTo>
                  <a:pt x="3049608" y="329951"/>
                </a:lnTo>
                <a:lnTo>
                  <a:pt x="3085435" y="329951"/>
                </a:lnTo>
                <a:lnTo>
                  <a:pt x="3085435" y="334542"/>
                </a:lnTo>
                <a:lnTo>
                  <a:pt x="3115338" y="334542"/>
                </a:lnTo>
                <a:lnTo>
                  <a:pt x="3115338" y="339195"/>
                </a:lnTo>
                <a:lnTo>
                  <a:pt x="3119875" y="339195"/>
                </a:lnTo>
                <a:lnTo>
                  <a:pt x="3119875" y="343909"/>
                </a:lnTo>
                <a:lnTo>
                  <a:pt x="3124319" y="343909"/>
                </a:lnTo>
                <a:lnTo>
                  <a:pt x="3124319" y="348688"/>
                </a:lnTo>
                <a:lnTo>
                  <a:pt x="3136152" y="348688"/>
                </a:lnTo>
                <a:lnTo>
                  <a:pt x="3136152" y="353533"/>
                </a:lnTo>
                <a:lnTo>
                  <a:pt x="3145683" y="353533"/>
                </a:lnTo>
                <a:lnTo>
                  <a:pt x="3145683" y="358445"/>
                </a:lnTo>
                <a:lnTo>
                  <a:pt x="3158508" y="358445"/>
                </a:lnTo>
                <a:lnTo>
                  <a:pt x="3158508" y="363427"/>
                </a:lnTo>
                <a:lnTo>
                  <a:pt x="3164089" y="363427"/>
                </a:lnTo>
                <a:lnTo>
                  <a:pt x="3164089" y="368481"/>
                </a:lnTo>
                <a:lnTo>
                  <a:pt x="3177462" y="368481"/>
                </a:lnTo>
                <a:lnTo>
                  <a:pt x="3177462" y="373609"/>
                </a:lnTo>
                <a:lnTo>
                  <a:pt x="3182780" y="373609"/>
                </a:lnTo>
                <a:lnTo>
                  <a:pt x="3182780" y="378812"/>
                </a:lnTo>
                <a:lnTo>
                  <a:pt x="3182900" y="378812"/>
                </a:lnTo>
                <a:lnTo>
                  <a:pt x="3182900" y="384094"/>
                </a:lnTo>
                <a:lnTo>
                  <a:pt x="3184145" y="384094"/>
                </a:lnTo>
                <a:lnTo>
                  <a:pt x="3184145" y="389457"/>
                </a:lnTo>
                <a:lnTo>
                  <a:pt x="3214444" y="389457"/>
                </a:lnTo>
                <a:lnTo>
                  <a:pt x="3214444" y="394902"/>
                </a:lnTo>
                <a:lnTo>
                  <a:pt x="3215756" y="394902"/>
                </a:lnTo>
                <a:lnTo>
                  <a:pt x="3215756" y="400434"/>
                </a:lnTo>
                <a:lnTo>
                  <a:pt x="3217162" y="400434"/>
                </a:lnTo>
                <a:lnTo>
                  <a:pt x="3217162" y="406054"/>
                </a:lnTo>
                <a:lnTo>
                  <a:pt x="3219775" y="406054"/>
                </a:lnTo>
                <a:lnTo>
                  <a:pt x="3219775" y="411765"/>
                </a:lnTo>
                <a:lnTo>
                  <a:pt x="3234190" y="411765"/>
                </a:lnTo>
                <a:lnTo>
                  <a:pt x="3234190" y="417571"/>
                </a:lnTo>
                <a:lnTo>
                  <a:pt x="3248446" y="417571"/>
                </a:lnTo>
                <a:lnTo>
                  <a:pt x="3248446" y="423474"/>
                </a:lnTo>
                <a:lnTo>
                  <a:pt x="3257286" y="423474"/>
                </a:lnTo>
                <a:lnTo>
                  <a:pt x="3257286" y="429478"/>
                </a:lnTo>
                <a:lnTo>
                  <a:pt x="3261988" y="429478"/>
                </a:lnTo>
                <a:lnTo>
                  <a:pt x="3261988" y="435587"/>
                </a:lnTo>
                <a:lnTo>
                  <a:pt x="3272280" y="435587"/>
                </a:lnTo>
                <a:lnTo>
                  <a:pt x="3272280" y="441804"/>
                </a:lnTo>
                <a:lnTo>
                  <a:pt x="3273087" y="441804"/>
                </a:lnTo>
                <a:lnTo>
                  <a:pt x="3273087" y="448132"/>
                </a:lnTo>
                <a:lnTo>
                  <a:pt x="3296029" y="448132"/>
                </a:lnTo>
                <a:lnTo>
                  <a:pt x="3296029" y="454577"/>
                </a:lnTo>
                <a:lnTo>
                  <a:pt x="3301772" y="454577"/>
                </a:lnTo>
                <a:lnTo>
                  <a:pt x="3301772" y="461143"/>
                </a:lnTo>
                <a:lnTo>
                  <a:pt x="3314741" y="461143"/>
                </a:lnTo>
                <a:lnTo>
                  <a:pt x="3314741" y="467833"/>
                </a:lnTo>
                <a:lnTo>
                  <a:pt x="3338565" y="467833"/>
                </a:lnTo>
                <a:lnTo>
                  <a:pt x="3338565" y="474653"/>
                </a:lnTo>
                <a:lnTo>
                  <a:pt x="3339348" y="474653"/>
                </a:lnTo>
                <a:lnTo>
                  <a:pt x="3339348" y="481609"/>
                </a:lnTo>
                <a:lnTo>
                  <a:pt x="3358615" y="481609"/>
                </a:lnTo>
                <a:lnTo>
                  <a:pt x="3358615" y="488705"/>
                </a:lnTo>
                <a:lnTo>
                  <a:pt x="3376631" y="488705"/>
                </a:lnTo>
                <a:lnTo>
                  <a:pt x="3376631" y="495947"/>
                </a:lnTo>
                <a:lnTo>
                  <a:pt x="3382776" y="495947"/>
                </a:lnTo>
                <a:lnTo>
                  <a:pt x="3382776" y="503342"/>
                </a:lnTo>
                <a:lnTo>
                  <a:pt x="3420053" y="503342"/>
                </a:lnTo>
                <a:lnTo>
                  <a:pt x="3420053" y="510895"/>
                </a:lnTo>
                <a:lnTo>
                  <a:pt x="3432520" y="510895"/>
                </a:lnTo>
                <a:lnTo>
                  <a:pt x="3432520" y="518615"/>
                </a:lnTo>
                <a:lnTo>
                  <a:pt x="3463043" y="518615"/>
                </a:lnTo>
                <a:lnTo>
                  <a:pt x="3463043" y="526508"/>
                </a:lnTo>
                <a:lnTo>
                  <a:pt x="3494124" y="526508"/>
                </a:lnTo>
                <a:lnTo>
                  <a:pt x="3494124" y="534583"/>
                </a:lnTo>
                <a:lnTo>
                  <a:pt x="3506567" y="534583"/>
                </a:lnTo>
                <a:lnTo>
                  <a:pt x="3506567" y="542848"/>
                </a:lnTo>
                <a:lnTo>
                  <a:pt x="3518810" y="542848"/>
                </a:lnTo>
                <a:lnTo>
                  <a:pt x="3518810" y="551312"/>
                </a:lnTo>
                <a:lnTo>
                  <a:pt x="3550997" y="551312"/>
                </a:lnTo>
                <a:lnTo>
                  <a:pt x="3550997" y="559985"/>
                </a:lnTo>
                <a:lnTo>
                  <a:pt x="3558572" y="559985"/>
                </a:lnTo>
                <a:lnTo>
                  <a:pt x="3558572" y="568877"/>
                </a:lnTo>
                <a:lnTo>
                  <a:pt x="3600160" y="568877"/>
                </a:lnTo>
                <a:lnTo>
                  <a:pt x="3600160" y="578001"/>
                </a:lnTo>
                <a:lnTo>
                  <a:pt x="3615170" y="578001"/>
                </a:lnTo>
                <a:lnTo>
                  <a:pt x="3615170" y="587368"/>
                </a:lnTo>
                <a:lnTo>
                  <a:pt x="3625616" y="587368"/>
                </a:lnTo>
                <a:lnTo>
                  <a:pt x="3625616" y="596991"/>
                </a:lnTo>
                <a:lnTo>
                  <a:pt x="3633018" y="596991"/>
                </a:lnTo>
                <a:lnTo>
                  <a:pt x="3633018" y="606886"/>
                </a:lnTo>
                <a:lnTo>
                  <a:pt x="3645678" y="606886"/>
                </a:lnTo>
                <a:lnTo>
                  <a:pt x="3645678" y="617067"/>
                </a:lnTo>
                <a:lnTo>
                  <a:pt x="3655441" y="617067"/>
                </a:lnTo>
                <a:lnTo>
                  <a:pt x="3655441" y="627553"/>
                </a:lnTo>
                <a:lnTo>
                  <a:pt x="3656480" y="627553"/>
                </a:lnTo>
                <a:lnTo>
                  <a:pt x="3656480" y="638361"/>
                </a:lnTo>
                <a:lnTo>
                  <a:pt x="3691701" y="638361"/>
                </a:lnTo>
                <a:lnTo>
                  <a:pt x="3691701" y="649512"/>
                </a:lnTo>
                <a:lnTo>
                  <a:pt x="3718118" y="649512"/>
                </a:lnTo>
                <a:lnTo>
                  <a:pt x="3718118" y="661029"/>
                </a:lnTo>
                <a:lnTo>
                  <a:pt x="3721258" y="661029"/>
                </a:lnTo>
                <a:lnTo>
                  <a:pt x="3721258" y="672937"/>
                </a:lnTo>
                <a:lnTo>
                  <a:pt x="3742933" y="672937"/>
                </a:lnTo>
                <a:lnTo>
                  <a:pt x="3742933" y="685262"/>
                </a:lnTo>
                <a:lnTo>
                  <a:pt x="3756960" y="685262"/>
                </a:lnTo>
                <a:lnTo>
                  <a:pt x="3756960" y="698036"/>
                </a:lnTo>
                <a:lnTo>
                  <a:pt x="3786369" y="698036"/>
                </a:lnTo>
                <a:lnTo>
                  <a:pt x="3786369" y="711291"/>
                </a:lnTo>
                <a:lnTo>
                  <a:pt x="3821446" y="711291"/>
                </a:lnTo>
                <a:lnTo>
                  <a:pt x="3821446" y="725067"/>
                </a:lnTo>
                <a:lnTo>
                  <a:pt x="3837345" y="725067"/>
                </a:lnTo>
                <a:lnTo>
                  <a:pt x="3837345" y="739405"/>
                </a:lnTo>
                <a:lnTo>
                  <a:pt x="3872770" y="739405"/>
                </a:lnTo>
                <a:lnTo>
                  <a:pt x="3872770" y="754354"/>
                </a:lnTo>
                <a:lnTo>
                  <a:pt x="3878275" y="754354"/>
                </a:lnTo>
                <a:lnTo>
                  <a:pt x="3878275" y="769967"/>
                </a:lnTo>
                <a:lnTo>
                  <a:pt x="3880477" y="769967"/>
                </a:lnTo>
                <a:lnTo>
                  <a:pt x="3880477" y="786307"/>
                </a:lnTo>
                <a:lnTo>
                  <a:pt x="3923429" y="786307"/>
                </a:lnTo>
                <a:lnTo>
                  <a:pt x="3923429" y="803443"/>
                </a:lnTo>
                <a:lnTo>
                  <a:pt x="3962658" y="803443"/>
                </a:lnTo>
                <a:lnTo>
                  <a:pt x="3962658" y="821459"/>
                </a:lnTo>
                <a:lnTo>
                  <a:pt x="3988990" y="821459"/>
                </a:lnTo>
                <a:lnTo>
                  <a:pt x="3988990" y="840450"/>
                </a:lnTo>
                <a:lnTo>
                  <a:pt x="4052950" y="840450"/>
                </a:lnTo>
                <a:lnTo>
                  <a:pt x="4052950" y="860526"/>
                </a:lnTo>
                <a:lnTo>
                  <a:pt x="4072625" y="860526"/>
                </a:lnTo>
                <a:lnTo>
                  <a:pt x="4072625" y="881820"/>
                </a:lnTo>
                <a:lnTo>
                  <a:pt x="4097129" y="881820"/>
                </a:lnTo>
                <a:lnTo>
                  <a:pt x="4097129" y="904488"/>
                </a:lnTo>
                <a:lnTo>
                  <a:pt x="4144497" y="904488"/>
                </a:lnTo>
                <a:lnTo>
                  <a:pt x="4144497" y="928721"/>
                </a:lnTo>
                <a:lnTo>
                  <a:pt x="4167681" y="928721"/>
                </a:lnTo>
                <a:lnTo>
                  <a:pt x="4167681" y="954750"/>
                </a:lnTo>
                <a:lnTo>
                  <a:pt x="4259191" y="954750"/>
                </a:lnTo>
                <a:lnTo>
                  <a:pt x="4259191" y="982864"/>
                </a:lnTo>
                <a:lnTo>
                  <a:pt x="4462035" y="982864"/>
                </a:lnTo>
                <a:lnTo>
                  <a:pt x="4462035" y="1013426"/>
                </a:lnTo>
                <a:lnTo>
                  <a:pt x="4486129" y="1013426"/>
                </a:lnTo>
                <a:lnTo>
                  <a:pt x="4486129" y="1046902"/>
                </a:lnTo>
                <a:lnTo>
                  <a:pt x="4505617" y="1046902"/>
                </a:lnTo>
                <a:lnTo>
                  <a:pt x="4505617" y="1083908"/>
                </a:lnTo>
                <a:lnTo>
                  <a:pt x="4625077" y="1083908"/>
                </a:lnTo>
                <a:lnTo>
                  <a:pt x="4625077" y="1125278"/>
                </a:lnTo>
                <a:lnTo>
                  <a:pt x="4741771" y="1125278"/>
                </a:lnTo>
                <a:lnTo>
                  <a:pt x="4741771" y="1172179"/>
                </a:lnTo>
                <a:lnTo>
                  <a:pt x="4759507" y="1172179"/>
                </a:lnTo>
                <a:lnTo>
                  <a:pt x="4759507" y="1226323"/>
                </a:lnTo>
                <a:lnTo>
                  <a:pt x="4808893" y="1226323"/>
                </a:lnTo>
                <a:lnTo>
                  <a:pt x="4808893" y="1290361"/>
                </a:lnTo>
                <a:lnTo>
                  <a:pt x="4866580" y="1290361"/>
                </a:lnTo>
                <a:lnTo>
                  <a:pt x="4866580" y="1368737"/>
                </a:lnTo>
                <a:lnTo>
                  <a:pt x="4918456" y="1368737"/>
                </a:lnTo>
                <a:lnTo>
                  <a:pt x="4918456" y="1469781"/>
                </a:lnTo>
                <a:lnTo>
                  <a:pt x="4992571" y="1469781"/>
                </a:lnTo>
                <a:lnTo>
                  <a:pt x="4992571" y="1612195"/>
                </a:lnTo>
                <a:lnTo>
                  <a:pt x="5111423" y="1612195"/>
                </a:lnTo>
                <a:lnTo>
                  <a:pt x="5111423" y="1855654"/>
                </a:lnTo>
                <a:lnTo>
                  <a:pt x="5551942" y="1855654"/>
                </a:lnTo>
                <a:lnTo>
                  <a:pt x="5551942" y="1963455"/>
                </a:lnTo>
              </a:path>
            </a:pathLst>
          </a:custGeom>
          <a:noFill/>
          <a:ln w="30480">
            <a:solidFill>
              <a:srgbClr val="B44D32"/>
            </a:solidFill>
            <a:prstDash val="solid"/>
          </a:ln>
        </p:spPr>
      </p:sp>
      <p:sp>
        <p:nvSpPr>
          <p:cNvPr id="50" name="path 50"/>
          <p:cNvSpPr/>
          <p:nvPr/>
        </p:nvSpPr>
        <p:spPr>
          <a:xfrm>
            <a:off x="9194800" y="4208745"/>
            <a:ext cx="5551942" cy="1963455"/>
          </a:xfrm>
          <a:custGeom>
            <a:avLst/>
            <a:gdLst/>
            <a:ahLst/>
            <a:cxnLst/>
            <a:rect l="0" t="0" r="r" b="b"/>
            <a:pathLst>
              <a:path w="5551942" h="1963455" fill="none">
                <a:moveTo>
                  <a:pt x="0" y="0"/>
                </a:moveTo>
                <a:lnTo>
                  <a:pt x="34918" y="135"/>
                </a:lnTo>
                <a:lnTo>
                  <a:pt x="69836" y="277"/>
                </a:lnTo>
                <a:lnTo>
                  <a:pt x="104754" y="427"/>
                </a:lnTo>
                <a:lnTo>
                  <a:pt x="139672" y="583"/>
                </a:lnTo>
                <a:lnTo>
                  <a:pt x="174589" y="748"/>
                </a:lnTo>
                <a:lnTo>
                  <a:pt x="209507" y="921"/>
                </a:lnTo>
                <a:lnTo>
                  <a:pt x="244425" y="1103"/>
                </a:lnTo>
                <a:lnTo>
                  <a:pt x="279343" y="1294"/>
                </a:lnTo>
                <a:lnTo>
                  <a:pt x="314261" y="1495"/>
                </a:lnTo>
                <a:lnTo>
                  <a:pt x="349179" y="1706"/>
                </a:lnTo>
                <a:lnTo>
                  <a:pt x="384097" y="1928"/>
                </a:lnTo>
                <a:lnTo>
                  <a:pt x="419015" y="2161"/>
                </a:lnTo>
                <a:lnTo>
                  <a:pt x="453932" y="2406"/>
                </a:lnTo>
                <a:lnTo>
                  <a:pt x="488850" y="2663"/>
                </a:lnTo>
                <a:lnTo>
                  <a:pt x="523768" y="2933"/>
                </a:lnTo>
                <a:lnTo>
                  <a:pt x="558686" y="3217"/>
                </a:lnTo>
                <a:lnTo>
                  <a:pt x="593604" y="3515"/>
                </a:lnTo>
                <a:lnTo>
                  <a:pt x="628522" y="3828"/>
                </a:lnTo>
                <a:lnTo>
                  <a:pt x="663440" y="4157"/>
                </a:lnTo>
                <a:lnTo>
                  <a:pt x="698358" y="4503"/>
                </a:lnTo>
                <a:lnTo>
                  <a:pt x="733275" y="4867"/>
                </a:lnTo>
                <a:lnTo>
                  <a:pt x="768193" y="5248"/>
                </a:lnTo>
                <a:lnTo>
                  <a:pt x="803111" y="5649"/>
                </a:lnTo>
                <a:lnTo>
                  <a:pt x="838029" y="6071"/>
                </a:lnTo>
                <a:lnTo>
                  <a:pt x="872947" y="6514"/>
                </a:lnTo>
                <a:lnTo>
                  <a:pt x="907865" y="6979"/>
                </a:lnTo>
                <a:lnTo>
                  <a:pt x="942783" y="7468"/>
                </a:lnTo>
                <a:lnTo>
                  <a:pt x="977701" y="7981"/>
                </a:lnTo>
                <a:lnTo>
                  <a:pt x="1012618" y="8521"/>
                </a:lnTo>
                <a:lnTo>
                  <a:pt x="1047536" y="9088"/>
                </a:lnTo>
                <a:lnTo>
                  <a:pt x="1082454" y="9684"/>
                </a:lnTo>
                <a:lnTo>
                  <a:pt x="1117372" y="10309"/>
                </a:lnTo>
                <a:lnTo>
                  <a:pt x="1152290" y="10967"/>
                </a:lnTo>
                <a:lnTo>
                  <a:pt x="1187208" y="11658"/>
                </a:lnTo>
                <a:lnTo>
                  <a:pt x="1222126" y="12384"/>
                </a:lnTo>
                <a:lnTo>
                  <a:pt x="1257044" y="13146"/>
                </a:lnTo>
                <a:lnTo>
                  <a:pt x="1291961" y="13947"/>
                </a:lnTo>
                <a:lnTo>
                  <a:pt x="1326879" y="14789"/>
                </a:lnTo>
                <a:lnTo>
                  <a:pt x="1361797" y="15674"/>
                </a:lnTo>
                <a:lnTo>
                  <a:pt x="1396715" y="16603"/>
                </a:lnTo>
                <a:lnTo>
                  <a:pt x="1431633" y="17579"/>
                </a:lnTo>
                <a:lnTo>
                  <a:pt x="1466551" y="18605"/>
                </a:lnTo>
                <a:lnTo>
                  <a:pt x="1501469" y="19683"/>
                </a:lnTo>
                <a:lnTo>
                  <a:pt x="1536387" y="20816"/>
                </a:lnTo>
                <a:lnTo>
                  <a:pt x="1571304" y="22005"/>
                </a:lnTo>
                <a:lnTo>
                  <a:pt x="1606222" y="23255"/>
                </a:lnTo>
                <a:lnTo>
                  <a:pt x="1641140" y="24569"/>
                </a:lnTo>
                <a:lnTo>
                  <a:pt x="1676058" y="25949"/>
                </a:lnTo>
                <a:lnTo>
                  <a:pt x="1710976" y="27399"/>
                </a:lnTo>
                <a:lnTo>
                  <a:pt x="1745894" y="28922"/>
                </a:lnTo>
                <a:lnTo>
                  <a:pt x="1780812" y="30522"/>
                </a:lnTo>
                <a:lnTo>
                  <a:pt x="1815730" y="32204"/>
                </a:lnTo>
                <a:lnTo>
                  <a:pt x="1850647" y="33971"/>
                </a:lnTo>
                <a:lnTo>
                  <a:pt x="1885565" y="35827"/>
                </a:lnTo>
                <a:lnTo>
                  <a:pt x="1920483" y="37777"/>
                </a:lnTo>
                <a:lnTo>
                  <a:pt x="1955401" y="39826"/>
                </a:lnTo>
                <a:lnTo>
                  <a:pt x="1990319" y="41979"/>
                </a:lnTo>
                <a:lnTo>
                  <a:pt x="2025237" y="44241"/>
                </a:lnTo>
                <a:lnTo>
                  <a:pt x="2060155" y="46618"/>
                </a:lnTo>
                <a:lnTo>
                  <a:pt x="2095073" y="49115"/>
                </a:lnTo>
                <a:lnTo>
                  <a:pt x="2129991" y="51738"/>
                </a:lnTo>
                <a:lnTo>
                  <a:pt x="2164908" y="54495"/>
                </a:lnTo>
                <a:lnTo>
                  <a:pt x="2199826" y="57391"/>
                </a:lnTo>
                <a:lnTo>
                  <a:pt x="2234744" y="60434"/>
                </a:lnTo>
                <a:lnTo>
                  <a:pt x="2269662" y="63630"/>
                </a:lnTo>
                <a:lnTo>
                  <a:pt x="2304580" y="66989"/>
                </a:lnTo>
                <a:lnTo>
                  <a:pt x="2339498" y="70518"/>
                </a:lnTo>
                <a:lnTo>
                  <a:pt x="2374416" y="74226"/>
                </a:lnTo>
                <a:lnTo>
                  <a:pt x="2409334" y="78122"/>
                </a:lnTo>
                <a:lnTo>
                  <a:pt x="2444251" y="82215"/>
                </a:lnTo>
                <a:lnTo>
                  <a:pt x="2479169" y="86515"/>
                </a:lnTo>
                <a:lnTo>
                  <a:pt x="2514087" y="91034"/>
                </a:lnTo>
                <a:lnTo>
                  <a:pt x="2549005" y="95781"/>
                </a:lnTo>
                <a:lnTo>
                  <a:pt x="2583923" y="100769"/>
                </a:lnTo>
                <a:lnTo>
                  <a:pt x="2618841" y="106009"/>
                </a:lnTo>
                <a:lnTo>
                  <a:pt x="2653759" y="111515"/>
                </a:lnTo>
                <a:lnTo>
                  <a:pt x="2688677" y="117300"/>
                </a:lnTo>
                <a:lnTo>
                  <a:pt x="2723594" y="123377"/>
                </a:lnTo>
                <a:lnTo>
                  <a:pt x="2758512" y="129763"/>
                </a:lnTo>
                <a:lnTo>
                  <a:pt x="2793430" y="136472"/>
                </a:lnTo>
                <a:lnTo>
                  <a:pt x="2828348" y="143522"/>
                </a:lnTo>
                <a:lnTo>
                  <a:pt x="2863266" y="150928"/>
                </a:lnTo>
                <a:lnTo>
                  <a:pt x="2898184" y="158710"/>
                </a:lnTo>
                <a:lnTo>
                  <a:pt x="2933102" y="166885"/>
                </a:lnTo>
                <a:lnTo>
                  <a:pt x="2968020" y="175475"/>
                </a:lnTo>
                <a:lnTo>
                  <a:pt x="3002937" y="184500"/>
                </a:lnTo>
                <a:lnTo>
                  <a:pt x="3037855" y="193983"/>
                </a:lnTo>
                <a:lnTo>
                  <a:pt x="3072773" y="203946"/>
                </a:lnTo>
                <a:lnTo>
                  <a:pt x="3107691" y="214413"/>
                </a:lnTo>
                <a:lnTo>
                  <a:pt x="3142609" y="225411"/>
                </a:lnTo>
                <a:lnTo>
                  <a:pt x="3177527" y="236966"/>
                </a:lnTo>
                <a:lnTo>
                  <a:pt x="3212445" y="249106"/>
                </a:lnTo>
                <a:lnTo>
                  <a:pt x="3247363" y="261862"/>
                </a:lnTo>
                <a:lnTo>
                  <a:pt x="3282280" y="275263"/>
                </a:lnTo>
                <a:lnTo>
                  <a:pt x="3317198" y="289344"/>
                </a:lnTo>
                <a:lnTo>
                  <a:pt x="3352116" y="304138"/>
                </a:lnTo>
                <a:lnTo>
                  <a:pt x="3387034" y="319681"/>
                </a:lnTo>
                <a:lnTo>
                  <a:pt x="3421952" y="336012"/>
                </a:lnTo>
                <a:lnTo>
                  <a:pt x="3456870" y="353171"/>
                </a:lnTo>
                <a:lnTo>
                  <a:pt x="3491788" y="371198"/>
                </a:lnTo>
                <a:lnTo>
                  <a:pt x="3526706" y="390139"/>
                </a:lnTo>
                <a:lnTo>
                  <a:pt x="3561623" y="410039"/>
                </a:lnTo>
                <a:lnTo>
                  <a:pt x="3596541" y="430948"/>
                </a:lnTo>
                <a:lnTo>
                  <a:pt x="3631459" y="452916"/>
                </a:lnTo>
                <a:lnTo>
                  <a:pt x="3666377" y="475997"/>
                </a:lnTo>
                <a:lnTo>
                  <a:pt x="3701295" y="500247"/>
                </a:lnTo>
                <a:lnTo>
                  <a:pt x="3736213" y="525726"/>
                </a:lnTo>
                <a:lnTo>
                  <a:pt x="3771131" y="552495"/>
                </a:lnTo>
                <a:lnTo>
                  <a:pt x="3806049" y="580621"/>
                </a:lnTo>
                <a:lnTo>
                  <a:pt x="3840966" y="610171"/>
                </a:lnTo>
                <a:lnTo>
                  <a:pt x="3875884" y="641219"/>
                </a:lnTo>
                <a:lnTo>
                  <a:pt x="3910802" y="673840"/>
                </a:lnTo>
                <a:lnTo>
                  <a:pt x="3945720" y="708113"/>
                </a:lnTo>
                <a:lnTo>
                  <a:pt x="3980638" y="744123"/>
                </a:lnTo>
                <a:lnTo>
                  <a:pt x="4015556" y="781957"/>
                </a:lnTo>
                <a:lnTo>
                  <a:pt x="4050474" y="821707"/>
                </a:lnTo>
                <a:lnTo>
                  <a:pt x="4085392" y="863472"/>
                </a:lnTo>
                <a:lnTo>
                  <a:pt x="4120310" y="907352"/>
                </a:lnTo>
                <a:lnTo>
                  <a:pt x="4155227" y="953456"/>
                </a:lnTo>
                <a:lnTo>
                  <a:pt x="4190145" y="1001895"/>
                </a:lnTo>
                <a:lnTo>
                  <a:pt x="4225063" y="1052788"/>
                </a:lnTo>
                <a:lnTo>
                  <a:pt x="4259981" y="1106259"/>
                </a:lnTo>
                <a:lnTo>
                  <a:pt x="4294899" y="1162440"/>
                </a:lnTo>
                <a:lnTo>
                  <a:pt x="4329817" y="1221466"/>
                </a:lnTo>
                <a:lnTo>
                  <a:pt x="4364735" y="1283484"/>
                </a:lnTo>
                <a:lnTo>
                  <a:pt x="4399653" y="1348643"/>
                </a:lnTo>
                <a:lnTo>
                  <a:pt x="4434570" y="1417103"/>
                </a:lnTo>
                <a:lnTo>
                  <a:pt x="4469488" y="1489031"/>
                </a:lnTo>
                <a:lnTo>
                  <a:pt x="4504406" y="1564603"/>
                </a:lnTo>
                <a:lnTo>
                  <a:pt x="4539324" y="1644004"/>
                </a:lnTo>
                <a:lnTo>
                  <a:pt x="4574242" y="1727428"/>
                </a:lnTo>
                <a:lnTo>
                  <a:pt x="4609160" y="1815078"/>
                </a:lnTo>
                <a:lnTo>
                  <a:pt x="4644078" y="1907169"/>
                </a:lnTo>
                <a:lnTo>
                  <a:pt x="4678996" y="1963455"/>
                </a:lnTo>
                <a:lnTo>
                  <a:pt x="4713913" y="1963455"/>
                </a:lnTo>
                <a:lnTo>
                  <a:pt x="4748831" y="1963455"/>
                </a:lnTo>
                <a:lnTo>
                  <a:pt x="4783749" y="1963455"/>
                </a:lnTo>
                <a:lnTo>
                  <a:pt x="4818667" y="1963455"/>
                </a:lnTo>
                <a:lnTo>
                  <a:pt x="4853585" y="1963455"/>
                </a:lnTo>
                <a:lnTo>
                  <a:pt x="4888503" y="1963455"/>
                </a:lnTo>
                <a:lnTo>
                  <a:pt x="4923421" y="1963455"/>
                </a:lnTo>
                <a:lnTo>
                  <a:pt x="4958339" y="1963455"/>
                </a:lnTo>
                <a:lnTo>
                  <a:pt x="4993256" y="1963455"/>
                </a:lnTo>
                <a:lnTo>
                  <a:pt x="5028174" y="1963455"/>
                </a:lnTo>
                <a:lnTo>
                  <a:pt x="5063092" y="1963455"/>
                </a:lnTo>
                <a:lnTo>
                  <a:pt x="5098010" y="1963455"/>
                </a:lnTo>
                <a:lnTo>
                  <a:pt x="5132928" y="1963455"/>
                </a:lnTo>
                <a:lnTo>
                  <a:pt x="5167846" y="1963455"/>
                </a:lnTo>
                <a:lnTo>
                  <a:pt x="5202764" y="1963455"/>
                </a:lnTo>
                <a:lnTo>
                  <a:pt x="5237682" y="1963455"/>
                </a:lnTo>
                <a:lnTo>
                  <a:pt x="5272599" y="1963455"/>
                </a:lnTo>
                <a:lnTo>
                  <a:pt x="5307517" y="1963455"/>
                </a:lnTo>
                <a:lnTo>
                  <a:pt x="5342435" y="1963455"/>
                </a:lnTo>
                <a:lnTo>
                  <a:pt x="5377353" y="1963455"/>
                </a:lnTo>
                <a:lnTo>
                  <a:pt x="5412271" y="1963455"/>
                </a:lnTo>
                <a:lnTo>
                  <a:pt x="5447189" y="1963455"/>
                </a:lnTo>
                <a:lnTo>
                  <a:pt x="5482107" y="1963455"/>
                </a:lnTo>
                <a:lnTo>
                  <a:pt x="5517025" y="1963455"/>
                </a:lnTo>
                <a:lnTo>
                  <a:pt x="5551942" y="1963455"/>
                </a:lnTo>
              </a:path>
            </a:pathLst>
          </a:custGeom>
          <a:noFill/>
          <a:ln w="21590">
            <a:solidFill>
              <a:srgbClr val="52666F"/>
            </a:solidFill>
            <a:prstDash val="dash"/>
          </a:ln>
        </p:spPr>
      </p:sp>
      <p:sp>
        <p:nvSpPr>
          <p:cNvPr id="51" name="rect 51"/>
          <p:cNvSpPr/>
          <p:nvPr/>
        </p:nvSpPr>
        <p:spPr>
          <a:xfrm>
            <a:off x="9271000" y="5283200"/>
            <a:ext cx="3276600" cy="774700"/>
          </a:xfrm>
          <a:prstGeom prst="rect">
            <a:avLst/>
          </a:prstGeom>
          <a:solidFill>
            <a:srgbClr val="FAFAF7"/>
          </a:solidFill>
          <a:ln>
            <a:noFill/>
          </a:ln>
        </p:spPr>
      </p:sp>
      <p:sp>
        <p:nvSpPr>
          <p:cNvPr id="52" name="path 52"/>
          <p:cNvSpPr/>
          <p:nvPr/>
        </p:nvSpPr>
        <p:spPr>
          <a:xfrm>
            <a:off x="9359900" y="5524500"/>
            <a:ext cx="342900" cy="127"/>
          </a:xfrm>
          <a:custGeom>
            <a:avLst/>
            <a:gdLst/>
            <a:ahLst/>
            <a:cxnLst/>
            <a:rect l="0" t="0" r="r" b="b"/>
            <a:pathLst>
              <a:path w="342900" h="127" fill="none">
                <a:moveTo>
                  <a:pt x="0" y="0"/>
                </a:moveTo>
                <a:lnTo>
                  <a:pt x="342900" y="0"/>
                </a:lnTo>
              </a:path>
            </a:pathLst>
          </a:custGeom>
          <a:noFill/>
          <a:ln w="30480">
            <a:solidFill>
              <a:srgbClr val="B44D32"/>
            </a:solidFill>
            <a:prstDash val="solid"/>
          </a:ln>
        </p:spPr>
      </p:sp>
      <p:sp>
        <p:nvSpPr>
          <p:cNvPr id="53" name="text 53"/>
          <p:cNvSpPr/>
          <p:nvPr/>
        </p:nvSpPr>
        <p:spPr>
          <a:xfrm>
            <a:off x="9791700" y="5397500"/>
            <a:ext cx="2870200" cy="254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600" b="0">
                <a:solidFill>
                  <a:srgbClr val="B44D32"/>
                </a:solidFill>
                <a:latin typeface="DejaVu Sans"/>
              </a:rPr>
              <a:t>Observed survival</a:t>
            </a:r>
          </a:p>
        </p:txBody>
      </p:sp>
      <p:sp>
        <p:nvSpPr>
          <p:cNvPr id="54" name="path 54"/>
          <p:cNvSpPr/>
          <p:nvPr/>
        </p:nvSpPr>
        <p:spPr>
          <a:xfrm>
            <a:off x="9359900" y="5854700"/>
            <a:ext cx="342900" cy="127"/>
          </a:xfrm>
          <a:custGeom>
            <a:avLst/>
            <a:gdLst/>
            <a:ahLst/>
            <a:cxnLst/>
            <a:rect l="0" t="0" r="r" b="b"/>
            <a:pathLst>
              <a:path w="342900" h="127" fill="none">
                <a:moveTo>
                  <a:pt x="0" y="0"/>
                </a:moveTo>
                <a:lnTo>
                  <a:pt x="342900" y="0"/>
                </a:lnTo>
              </a:path>
            </a:pathLst>
          </a:custGeom>
          <a:noFill/>
          <a:ln w="21590">
            <a:solidFill>
              <a:srgbClr val="52666F"/>
            </a:solidFill>
            <a:prstDash val="dash"/>
          </a:ln>
        </p:spPr>
      </p:sp>
      <p:sp>
        <p:nvSpPr>
          <p:cNvPr id="55" name="text 55"/>
          <p:cNvSpPr/>
          <p:nvPr/>
        </p:nvSpPr>
        <p:spPr>
          <a:xfrm>
            <a:off x="9791700" y="5727700"/>
            <a:ext cx="2870200" cy="254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600" b="0">
                <a:solidFill>
                  <a:srgbClr val="52666F"/>
                </a:solidFill>
                <a:latin typeface="DejaVu Sans"/>
              </a:rPr>
              <a:t>Exponential excess fit</a:t>
            </a:r>
          </a:p>
        </p:txBody>
      </p:sp>
      <p:sp>
        <p:nvSpPr>
          <p:cNvPr id="56" name="text 56"/>
          <p:cNvSpPr/>
          <p:nvPr/>
        </p:nvSpPr>
        <p:spPr>
          <a:xfrm>
            <a:off x="4064000" y="6743700"/>
            <a:ext cx="11430000" cy="3492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200" b="0">
                <a:solidFill>
                  <a:srgbClr val="162F3B"/>
                </a:solidFill>
                <a:latin typeface="DejaVu Sans"/>
              </a:rPr>
              <a:t>Loss increase Δ (nats; logarithmic scale)</a:t>
            </a:r>
          </a:p>
        </p:txBody>
      </p:sp>
      <p:sp>
        <p:nvSpPr>
          <p:cNvPr id="57" name="text 57"/>
          <p:cNvSpPr/>
          <p:nvPr/>
        </p:nvSpPr>
        <p:spPr>
          <a:xfrm>
            <a:off x="749300" y="7302500"/>
            <a:ext cx="14795500" cy="2857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800" b="0">
                <a:solidFill>
                  <a:srgbClr val="162F3B"/>
                </a:solidFill>
                <a:latin typeface="DejaVu Sans"/>
              </a:rPr>
              <a:t>1 nat = a probability decrease by a factor of about 2.72. Fits use excesses above 0.01 nat.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16256000" cy="9144000"/>
          </a:xfrm>
          <a:prstGeom prst="rect">
            <a:avLst/>
          </a:prstGeom>
          <a:solidFill>
            <a:srgbClr val="FAFAF7"/>
          </a:solidFill>
          <a:ln>
            <a:noFill/>
          </a:ln>
        </p:spPr>
      </p:sp>
      <p:sp>
        <p:nvSpPr>
          <p:cNvPr id="3" name="rect 3"/>
          <p:cNvSpPr/>
          <p:nvPr/>
        </p:nvSpPr>
        <p:spPr>
          <a:xfrm>
            <a:off x="0" y="0"/>
            <a:ext cx="16256000" cy="88900"/>
          </a:xfrm>
          <a:prstGeom prst="rect">
            <a:avLst/>
          </a:prstGeom>
          <a:solidFill>
            <a:srgbClr val="007E80"/>
          </a:solidFill>
          <a:ln>
            <a:noFill/>
          </a:ln>
        </p:spPr>
      </p:sp>
      <p:sp>
        <p:nvSpPr>
          <p:cNvPr id="4" name="text 4"/>
          <p:cNvSpPr/>
          <p:nvPr/>
        </p:nvSpPr>
        <p:spPr>
          <a:xfrm>
            <a:off x="685800" y="355600"/>
            <a:ext cx="14884400" cy="2222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400" b="1">
                <a:solidFill>
                  <a:srgbClr val="007E80"/>
                </a:solidFill>
                <a:latin typeface="DejaVu Sans"/>
              </a:rPr>
              <a:t>Mathematical guarantee, measured usefulness</a:t>
            </a:r>
          </a:p>
        </p:txBody>
      </p:sp>
      <p:sp>
        <p:nvSpPr>
          <p:cNvPr id="5" name="text 5"/>
          <p:cNvSpPr/>
          <p:nvPr/>
        </p:nvSpPr>
        <p:spPr>
          <a:xfrm>
            <a:off x="685800" y="850900"/>
            <a:ext cx="14884400" cy="555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3500" b="1">
                <a:solidFill>
                  <a:srgbClr val="162F3B"/>
                </a:solidFill>
                <a:latin typeface="DejaVu Sans"/>
              </a:rPr>
              <a:t>A simple mixture bounds token loss increase</a:t>
            </a:r>
          </a:p>
        </p:txBody>
      </p:sp>
      <p:sp>
        <p:nvSpPr>
          <p:cNvPr id="6" name="rect 6"/>
          <p:cNvSpPr/>
          <p:nvPr/>
        </p:nvSpPr>
        <p:spPr>
          <a:xfrm>
            <a:off x="685800" y="7797800"/>
            <a:ext cx="14884400" cy="762000"/>
          </a:xfrm>
          <a:prstGeom prst="rect">
            <a:avLst/>
          </a:prstGeom>
          <a:solidFill>
            <a:srgbClr val="EAF3F1"/>
          </a:solidFill>
          <a:ln>
            <a:noFill/>
          </a:ln>
        </p:spPr>
      </p:sp>
      <p:sp>
        <p:nvSpPr>
          <p:cNvPr id="7" name="text 7"/>
          <p:cNvSpPr/>
          <p:nvPr/>
        </p:nvSpPr>
        <p:spPr>
          <a:xfrm>
            <a:off x="914400" y="7937500"/>
            <a:ext cx="144272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162F3B"/>
                </a:solidFill>
                <a:latin typeface="DejaVu Sans"/>
              </a:rPr>
              <a:t>The guarantee bounds per-token loss increase; unchanged greedy answers are not</a:t>
            </a:r>
          </a:p>
        </p:txBody>
      </p:sp>
      <p:sp>
        <p:nvSpPr>
          <p:cNvPr id="8" name="text 8"/>
          <p:cNvSpPr/>
          <p:nvPr/>
        </p:nvSpPr>
        <p:spPr>
          <a:xfrm>
            <a:off x="914400" y="8270875"/>
            <a:ext cx="144272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162F3B"/>
                </a:solidFill>
                <a:latin typeface="DejaVu Sans"/>
              </a:rPr>
              <a:t>guaranteed.</a:t>
            </a:r>
          </a:p>
        </p:txBody>
      </p:sp>
      <p:sp>
        <p:nvSpPr>
          <p:cNvPr id="9" name="text 9"/>
          <p:cNvSpPr/>
          <p:nvPr/>
        </p:nvSpPr>
        <p:spPr>
          <a:xfrm>
            <a:off x="698500" y="8788400"/>
            <a:ext cx="13716000" cy="166688"/>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050" b="0">
                <a:solidFill>
                  <a:srgbClr val="52666F"/>
                </a:solidFill>
                <a:latin typeface="DejaVu Sans"/>
              </a:rPr>
              <a:t>Source: AW-B probability-mixture experiment; HT-17 conditional-severity analysis.</a:t>
            </a:r>
          </a:p>
        </p:txBody>
      </p:sp>
      <p:sp>
        <p:nvSpPr>
          <p:cNvPr id="10" name="text 10"/>
          <p:cNvSpPr/>
          <p:nvPr/>
        </p:nvSpPr>
        <p:spPr>
          <a:xfrm>
            <a:off x="14541500" y="8788400"/>
            <a:ext cx="1079500" cy="190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200" b="0">
                <a:solidFill>
                  <a:srgbClr val="52666F"/>
                </a:solidFill>
                <a:latin typeface="DejaVu Sans"/>
              </a:rPr>
              <a:t>13 / 15</a:t>
            </a:r>
          </a:p>
        </p:txBody>
      </p:sp>
      <p:sp>
        <p:nvSpPr>
          <p:cNvPr id="11" name="rect 11"/>
          <p:cNvSpPr/>
          <p:nvPr/>
        </p:nvSpPr>
        <p:spPr>
          <a:xfrm>
            <a:off x="711200" y="2082800"/>
            <a:ext cx="14833600" cy="1168400"/>
          </a:xfrm>
          <a:prstGeom prst="rect">
            <a:avLst/>
          </a:prstGeom>
          <a:solidFill>
            <a:srgbClr val="EAF3F1"/>
          </a:solidFill>
          <a:ln>
            <a:noFill/>
          </a:ln>
        </p:spPr>
      </p:sp>
      <p:sp>
        <p:nvSpPr>
          <p:cNvPr id="12" name="text 12"/>
          <p:cNvSpPr/>
          <p:nvPr/>
        </p:nvSpPr>
        <p:spPr>
          <a:xfrm>
            <a:off x="977900" y="2247900"/>
            <a:ext cx="14262100" cy="428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700" b="1">
                <a:solidFill>
                  <a:srgbClr val="007E80"/>
                </a:solidFill>
                <a:latin typeface="DejaVu Sans"/>
              </a:rPr>
              <a:t>p_mix = ρ p_base + (1 − ρ) p_cap, where ρ = e⁻¹ ≈ 0.37</a:t>
            </a:r>
          </a:p>
        </p:txBody>
      </p:sp>
      <p:sp>
        <p:nvSpPr>
          <p:cNvPr id="13" name="text 13"/>
          <p:cNvSpPr/>
          <p:nvPr/>
        </p:nvSpPr>
        <p:spPr>
          <a:xfrm>
            <a:off x="977900" y="2844800"/>
            <a:ext cx="142621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0">
                <a:solidFill>
                  <a:srgbClr val="162F3B"/>
                </a:solidFill>
                <a:latin typeface="DejaVu Sans"/>
              </a:rPr>
              <a:t>At the same prefix: p_mix ≥ ρ p_base, so loss increase over the base is at most 1 nat.</a:t>
            </a:r>
          </a:p>
        </p:txBody>
      </p:sp>
      <p:sp>
        <p:nvSpPr>
          <p:cNvPr id="14" name="rect 14"/>
          <p:cNvSpPr/>
          <p:nvPr/>
        </p:nvSpPr>
        <p:spPr>
          <a:xfrm>
            <a:off x="1714500" y="3733800"/>
            <a:ext cx="12674600" cy="622300"/>
          </a:xfrm>
          <a:prstGeom prst="rect">
            <a:avLst/>
          </a:prstGeom>
          <a:solidFill>
            <a:srgbClr val="162F3B"/>
          </a:solidFill>
          <a:ln>
            <a:noFill/>
          </a:ln>
        </p:spPr>
      </p:sp>
      <p:sp>
        <p:nvSpPr>
          <p:cNvPr id="15" name="text 15"/>
          <p:cNvSpPr/>
          <p:nvPr/>
        </p:nvSpPr>
        <p:spPr>
          <a:xfrm>
            <a:off x="1879600" y="3878262"/>
            <a:ext cx="50038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FFFFFF"/>
                </a:solidFill>
                <a:latin typeface="DejaVu Sans"/>
              </a:rPr>
              <a:t>Conditional severity</a:t>
            </a:r>
          </a:p>
        </p:txBody>
      </p:sp>
      <p:sp>
        <p:nvSpPr>
          <p:cNvPr id="16" name="text 16"/>
          <p:cNvSpPr/>
          <p:nvPr/>
        </p:nvSpPr>
        <p:spPr>
          <a:xfrm>
            <a:off x="7213600" y="3878262"/>
            <a:ext cx="33401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FFFFFF"/>
                </a:solidFill>
                <a:latin typeface="DejaVu Sans"/>
              </a:rPr>
              <a:t>Original cap</a:t>
            </a:r>
          </a:p>
        </p:txBody>
      </p:sp>
      <p:sp>
        <p:nvSpPr>
          <p:cNvPr id="17" name="text 17"/>
          <p:cNvSpPr/>
          <p:nvPr/>
        </p:nvSpPr>
        <p:spPr>
          <a:xfrm>
            <a:off x="10883900" y="3878262"/>
            <a:ext cx="33401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FFFFFF"/>
                </a:solidFill>
                <a:latin typeface="DejaVu Sans"/>
              </a:rPr>
              <a:t>Mixture</a:t>
            </a:r>
          </a:p>
        </p:txBody>
      </p:sp>
      <p:sp>
        <p:nvSpPr>
          <p:cNvPr id="18" name="rect 18"/>
          <p:cNvSpPr/>
          <p:nvPr/>
        </p:nvSpPr>
        <p:spPr>
          <a:xfrm>
            <a:off x="1714500" y="4356100"/>
            <a:ext cx="12674600" cy="736600"/>
          </a:xfrm>
          <a:prstGeom prst="rect">
            <a:avLst/>
          </a:prstGeom>
          <a:solidFill>
            <a:srgbClr val="FFFFFF"/>
          </a:solidFill>
          <a:ln>
            <a:noFill/>
          </a:ln>
        </p:spPr>
      </p:sp>
      <p:sp>
        <p:nvSpPr>
          <p:cNvPr id="19" name="path 19"/>
          <p:cNvSpPr/>
          <p:nvPr/>
        </p:nvSpPr>
        <p:spPr>
          <a:xfrm>
            <a:off x="1714500" y="5092700"/>
            <a:ext cx="12674600" cy="127"/>
          </a:xfrm>
          <a:custGeom>
            <a:avLst/>
            <a:gdLst/>
            <a:ahLst/>
            <a:cxnLst/>
            <a:rect l="0" t="0" r="r" b="b"/>
            <a:pathLst>
              <a:path w="12674600" h="127" fill="none">
                <a:moveTo>
                  <a:pt x="0" y="0"/>
                </a:moveTo>
                <a:lnTo>
                  <a:pt x="12674600" y="0"/>
                </a:lnTo>
              </a:path>
            </a:pathLst>
          </a:custGeom>
          <a:noFill/>
          <a:ln w="8890">
            <a:solidFill>
              <a:srgbClr val="D8E1E2"/>
            </a:solidFill>
            <a:prstDash val="solid"/>
          </a:ln>
        </p:spPr>
      </p:sp>
      <p:sp>
        <p:nvSpPr>
          <p:cNvPr id="20" name="text 20"/>
          <p:cNvSpPr/>
          <p:nvPr/>
        </p:nvSpPr>
        <p:spPr>
          <a:xfrm>
            <a:off x="1879600" y="4510088"/>
            <a:ext cx="5003800" cy="428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700" b="0">
                <a:solidFill>
                  <a:srgbClr val="162F3B"/>
                </a:solidFill>
                <a:latin typeface="DejaVu Sans"/>
              </a:rPr>
              <a:t>zsRE</a:t>
            </a:r>
          </a:p>
        </p:txBody>
      </p:sp>
      <p:sp>
        <p:nvSpPr>
          <p:cNvPr id="21" name="text 21"/>
          <p:cNvSpPr/>
          <p:nvPr/>
        </p:nvSpPr>
        <p:spPr>
          <a:xfrm>
            <a:off x="7213600" y="4510088"/>
            <a:ext cx="3340100" cy="428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700" b="0">
                <a:solidFill>
                  <a:srgbClr val="162F3B"/>
                </a:solidFill>
                <a:latin typeface="DejaVu Sans"/>
              </a:rPr>
              <a:t>1.619 nats</a:t>
            </a:r>
          </a:p>
        </p:txBody>
      </p:sp>
      <p:sp>
        <p:nvSpPr>
          <p:cNvPr id="22" name="text 22"/>
          <p:cNvSpPr/>
          <p:nvPr/>
        </p:nvSpPr>
        <p:spPr>
          <a:xfrm>
            <a:off x="10883900" y="4510088"/>
            <a:ext cx="3340100" cy="428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700" b="1">
                <a:solidFill>
                  <a:srgbClr val="007E80"/>
                </a:solidFill>
                <a:latin typeface="DejaVu Sans"/>
              </a:rPr>
              <a:t>0.542 nats</a:t>
            </a:r>
          </a:p>
        </p:txBody>
      </p:sp>
      <p:sp>
        <p:nvSpPr>
          <p:cNvPr id="23" name="rect 23"/>
          <p:cNvSpPr/>
          <p:nvPr/>
        </p:nvSpPr>
        <p:spPr>
          <a:xfrm>
            <a:off x="1714500" y="5092700"/>
            <a:ext cx="12674600" cy="736600"/>
          </a:xfrm>
          <a:prstGeom prst="rect">
            <a:avLst/>
          </a:prstGeom>
          <a:solidFill>
            <a:srgbClr val="EEF3F3"/>
          </a:solidFill>
          <a:ln>
            <a:noFill/>
          </a:ln>
        </p:spPr>
      </p:sp>
      <p:sp>
        <p:nvSpPr>
          <p:cNvPr id="24" name="path 24"/>
          <p:cNvSpPr/>
          <p:nvPr/>
        </p:nvSpPr>
        <p:spPr>
          <a:xfrm>
            <a:off x="1714500" y="5829300"/>
            <a:ext cx="12674600" cy="127"/>
          </a:xfrm>
          <a:custGeom>
            <a:avLst/>
            <a:gdLst/>
            <a:ahLst/>
            <a:cxnLst/>
            <a:rect l="0" t="0" r="r" b="b"/>
            <a:pathLst>
              <a:path w="12674600" h="127" fill="none">
                <a:moveTo>
                  <a:pt x="0" y="0"/>
                </a:moveTo>
                <a:lnTo>
                  <a:pt x="12674600" y="0"/>
                </a:lnTo>
              </a:path>
            </a:pathLst>
          </a:custGeom>
          <a:noFill/>
          <a:ln w="8890">
            <a:solidFill>
              <a:srgbClr val="D8E1E2"/>
            </a:solidFill>
            <a:prstDash val="solid"/>
          </a:ln>
        </p:spPr>
      </p:sp>
      <p:sp>
        <p:nvSpPr>
          <p:cNvPr id="25" name="text 25"/>
          <p:cNvSpPr/>
          <p:nvPr/>
        </p:nvSpPr>
        <p:spPr>
          <a:xfrm>
            <a:off x="1879600" y="5246688"/>
            <a:ext cx="5003800" cy="428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700" b="0">
                <a:solidFill>
                  <a:srgbClr val="162F3B"/>
                </a:solidFill>
                <a:latin typeface="DejaVu Sans"/>
              </a:rPr>
              <a:t>CounterFact</a:t>
            </a:r>
          </a:p>
        </p:txBody>
      </p:sp>
      <p:sp>
        <p:nvSpPr>
          <p:cNvPr id="26" name="text 26"/>
          <p:cNvSpPr/>
          <p:nvPr/>
        </p:nvSpPr>
        <p:spPr>
          <a:xfrm>
            <a:off x="7213600" y="5246688"/>
            <a:ext cx="3340100" cy="428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700" b="0">
                <a:solidFill>
                  <a:srgbClr val="162F3B"/>
                </a:solidFill>
                <a:latin typeface="DejaVu Sans"/>
              </a:rPr>
              <a:t>1.925 nats</a:t>
            </a:r>
          </a:p>
        </p:txBody>
      </p:sp>
      <p:sp>
        <p:nvSpPr>
          <p:cNvPr id="27" name="text 27"/>
          <p:cNvSpPr/>
          <p:nvPr/>
        </p:nvSpPr>
        <p:spPr>
          <a:xfrm>
            <a:off x="10883900" y="5246688"/>
            <a:ext cx="3340100" cy="428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700" b="1">
                <a:solidFill>
                  <a:srgbClr val="007E80"/>
                </a:solidFill>
                <a:latin typeface="DejaVu Sans"/>
              </a:rPr>
              <a:t>0.581 nats</a:t>
            </a:r>
          </a:p>
        </p:txBody>
      </p:sp>
      <p:sp>
        <p:nvSpPr>
          <p:cNvPr id="28" name="text 28"/>
          <p:cNvSpPr/>
          <p:nvPr/>
        </p:nvSpPr>
        <p:spPr>
          <a:xfrm>
            <a:off x="749300" y="6083300"/>
            <a:ext cx="14732000" cy="317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000" b="0">
                <a:solidFill>
                  <a:srgbClr val="162F3B"/>
                </a:solidFill>
                <a:latin typeface="DejaVu Sans"/>
              </a:rPr>
              <a:t>Severity averages positions with Δ &gt; 0.01 nat. Ten exposed streams; 300 edits.</a:t>
            </a:r>
          </a:p>
        </p:txBody>
      </p:sp>
      <p:sp>
        <p:nvSpPr>
          <p:cNvPr id="29" name="text 29"/>
          <p:cNvSpPr/>
          <p:nvPr/>
        </p:nvSpPr>
        <p:spPr>
          <a:xfrm>
            <a:off x="749300" y="6604000"/>
            <a:ext cx="14732000" cy="3492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200" b="0">
                <a:solidFill>
                  <a:srgbClr val="162F3B"/>
                </a:solidFill>
                <a:latin typeface="DejaVu Sans"/>
              </a:rPr>
              <a:t>Paraphrase retention: unchanged on zsRE; down 0.7–1.2 points on CounterFact. CounterFact still missed</a:t>
            </a:r>
          </a:p>
        </p:txBody>
      </p:sp>
      <p:sp>
        <p:nvSpPr>
          <p:cNvPr id="30" name="text 30"/>
          <p:cNvSpPr/>
          <p:nvPr/>
        </p:nvSpPr>
        <p:spPr>
          <a:xfrm>
            <a:off x="749300" y="6953250"/>
            <a:ext cx="14732000" cy="3492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200" b="0">
                <a:solidFill>
                  <a:srgbClr val="162F3B"/>
                </a:solidFill>
                <a:latin typeface="DejaVu Sans"/>
              </a:rPr>
              <a:t>the mean-KL limit.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16256000" cy="9144000"/>
          </a:xfrm>
          <a:prstGeom prst="rect">
            <a:avLst/>
          </a:prstGeom>
          <a:solidFill>
            <a:srgbClr val="FAFAF7"/>
          </a:solidFill>
          <a:ln>
            <a:noFill/>
          </a:ln>
        </p:spPr>
      </p:sp>
      <p:sp>
        <p:nvSpPr>
          <p:cNvPr id="3" name="rect 3"/>
          <p:cNvSpPr/>
          <p:nvPr/>
        </p:nvSpPr>
        <p:spPr>
          <a:xfrm>
            <a:off x="0" y="0"/>
            <a:ext cx="16256000" cy="88900"/>
          </a:xfrm>
          <a:prstGeom prst="rect">
            <a:avLst/>
          </a:prstGeom>
          <a:solidFill>
            <a:srgbClr val="007E80"/>
          </a:solidFill>
          <a:ln>
            <a:noFill/>
          </a:ln>
        </p:spPr>
      </p:sp>
      <p:sp>
        <p:nvSpPr>
          <p:cNvPr id="4" name="text 4"/>
          <p:cNvSpPr/>
          <p:nvPr/>
        </p:nvSpPr>
        <p:spPr>
          <a:xfrm>
            <a:off x="685800" y="355600"/>
            <a:ext cx="14884400" cy="2222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400" b="1">
                <a:solidFill>
                  <a:srgbClr val="007E80"/>
                </a:solidFill>
                <a:latin typeface="DejaVu Sans"/>
              </a:rPr>
              <a:t>What the results make possible next</a:t>
            </a:r>
          </a:p>
        </p:txBody>
      </p:sp>
      <p:sp>
        <p:nvSpPr>
          <p:cNvPr id="5" name="text 5"/>
          <p:cNvSpPr/>
          <p:nvPr/>
        </p:nvSpPr>
        <p:spPr>
          <a:xfrm>
            <a:off x="685800" y="850900"/>
            <a:ext cx="14884400" cy="555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3500" b="1">
                <a:solidFill>
                  <a:srgbClr val="162F3B"/>
                </a:solidFill>
                <a:latin typeface="DejaVu Sans"/>
              </a:rPr>
              <a:t>Toward active inference in the extremes</a:t>
            </a:r>
          </a:p>
        </p:txBody>
      </p:sp>
      <p:sp>
        <p:nvSpPr>
          <p:cNvPr id="6" name="rect 6"/>
          <p:cNvSpPr/>
          <p:nvPr/>
        </p:nvSpPr>
        <p:spPr>
          <a:xfrm>
            <a:off x="685800" y="7797800"/>
            <a:ext cx="14884400" cy="762000"/>
          </a:xfrm>
          <a:prstGeom prst="rect">
            <a:avLst/>
          </a:prstGeom>
          <a:solidFill>
            <a:srgbClr val="EAF3F1"/>
          </a:solidFill>
          <a:ln>
            <a:noFill/>
          </a:ln>
        </p:spPr>
      </p:sp>
      <p:sp>
        <p:nvSpPr>
          <p:cNvPr id="7" name="text 7"/>
          <p:cNvSpPr/>
          <p:nvPr/>
        </p:nvSpPr>
        <p:spPr>
          <a:xfrm>
            <a:off x="914400" y="7937500"/>
            <a:ext cx="144272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162F3B"/>
                </a:solidFill>
                <a:latin typeface="DejaVu Sans"/>
              </a:rPr>
              <a:t>Evaluate usefulness, the learning mechanism, and extreme consequences together.</a:t>
            </a:r>
          </a:p>
        </p:txBody>
      </p:sp>
      <p:sp>
        <p:nvSpPr>
          <p:cNvPr id="8" name="text 8"/>
          <p:cNvSpPr/>
          <p:nvPr/>
        </p:nvSpPr>
        <p:spPr>
          <a:xfrm>
            <a:off x="698500" y="8788400"/>
            <a:ext cx="13716000" cy="166688"/>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050" b="0">
                <a:solidFill>
                  <a:srgbClr val="52666F"/>
                </a:solidFill>
                <a:latin typeface="DejaVu Sans"/>
              </a:rPr>
              <a:t>Source: Submitted programme; completed experiments; proposed future work.</a:t>
            </a:r>
          </a:p>
        </p:txBody>
      </p:sp>
      <p:sp>
        <p:nvSpPr>
          <p:cNvPr id="9" name="text 9"/>
          <p:cNvSpPr/>
          <p:nvPr/>
        </p:nvSpPr>
        <p:spPr>
          <a:xfrm>
            <a:off x="14541500" y="8788400"/>
            <a:ext cx="1079500" cy="190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200" b="0">
                <a:solidFill>
                  <a:srgbClr val="52666F"/>
                </a:solidFill>
                <a:latin typeface="DejaVu Sans"/>
              </a:rPr>
              <a:t>14 / 15</a:t>
            </a:r>
          </a:p>
        </p:txBody>
      </p:sp>
      <p:sp>
        <p:nvSpPr>
          <p:cNvPr id="10" name="rect 10"/>
          <p:cNvSpPr/>
          <p:nvPr/>
        </p:nvSpPr>
        <p:spPr>
          <a:xfrm>
            <a:off x="711200" y="2387600"/>
            <a:ext cx="5892800" cy="3073400"/>
          </a:xfrm>
          <a:prstGeom prst="rect">
            <a:avLst/>
          </a:prstGeom>
          <a:solidFill>
            <a:srgbClr val="FFFFFF"/>
          </a:solidFill>
          <a:ln>
            <a:noFill/>
          </a:ln>
        </p:spPr>
      </p:sp>
      <p:sp>
        <p:nvSpPr>
          <p:cNvPr id="11" name="rect 11"/>
          <p:cNvSpPr/>
          <p:nvPr/>
        </p:nvSpPr>
        <p:spPr>
          <a:xfrm>
            <a:off x="711200" y="2387600"/>
            <a:ext cx="63500" cy="3073400"/>
          </a:xfrm>
          <a:prstGeom prst="rect">
            <a:avLst/>
          </a:prstGeom>
          <a:solidFill>
            <a:srgbClr val="007E80"/>
          </a:solidFill>
          <a:ln>
            <a:noFill/>
          </a:ln>
        </p:spPr>
      </p:sp>
      <p:sp>
        <p:nvSpPr>
          <p:cNvPr id="12" name="text 12"/>
          <p:cNvSpPr/>
          <p:nvPr/>
        </p:nvSpPr>
        <p:spPr>
          <a:xfrm>
            <a:off x="1003300" y="2641600"/>
            <a:ext cx="53086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1">
                <a:solidFill>
                  <a:srgbClr val="007E80"/>
                </a:solidFill>
                <a:latin typeface="DejaVu Sans"/>
              </a:rPr>
              <a:t>Established components</a:t>
            </a:r>
          </a:p>
        </p:txBody>
      </p:sp>
      <p:sp>
        <p:nvSpPr>
          <p:cNvPr id="13" name="text 13"/>
          <p:cNvSpPr/>
          <p:nvPr/>
        </p:nvSpPr>
        <p:spPr>
          <a:xfrm>
            <a:off x="1003300" y="3165475"/>
            <a:ext cx="5308600" cy="4127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600" b="0">
                <a:solidFill>
                  <a:srgbClr val="162F3B"/>
                </a:solidFill>
                <a:latin typeface="DejaVu Sans"/>
              </a:rPr>
              <a:t>We measured retrieval, PC</a:t>
            </a:r>
          </a:p>
        </p:txBody>
      </p:sp>
      <p:sp>
        <p:nvSpPr>
          <p:cNvPr id="14" name="text 14"/>
          <p:cNvSpPr/>
          <p:nvPr/>
        </p:nvSpPr>
        <p:spPr>
          <a:xfrm>
            <a:off x="1003300" y="3578225"/>
            <a:ext cx="5308600" cy="4127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600" b="0">
                <a:solidFill>
                  <a:srgbClr val="162F3B"/>
                </a:solidFill>
                <a:latin typeface="DejaVu Sans"/>
              </a:rPr>
              <a:t>learning trade-offs, and</a:t>
            </a:r>
          </a:p>
        </p:txBody>
      </p:sp>
      <p:sp>
        <p:nvSpPr>
          <p:cNvPr id="15" name="text 15"/>
          <p:cNvSpPr/>
          <p:nvPr/>
        </p:nvSpPr>
        <p:spPr>
          <a:xfrm>
            <a:off x="1003300" y="3990975"/>
            <a:ext cx="5308600" cy="4127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600" b="0">
                <a:solidFill>
                  <a:srgbClr val="162F3B"/>
                </a:solidFill>
                <a:latin typeface="DejaVu Sans"/>
              </a:rPr>
              <a:t>concentrated prediction losses.</a:t>
            </a:r>
          </a:p>
        </p:txBody>
      </p:sp>
      <p:sp>
        <p:nvSpPr>
          <p:cNvPr id="16" name="rect 16"/>
          <p:cNvSpPr/>
          <p:nvPr/>
        </p:nvSpPr>
        <p:spPr>
          <a:xfrm>
            <a:off x="6934200" y="2387600"/>
            <a:ext cx="8610600" cy="3073400"/>
          </a:xfrm>
          <a:prstGeom prst="rect">
            <a:avLst/>
          </a:prstGeom>
          <a:solidFill>
            <a:srgbClr val="FFFFFF"/>
          </a:solidFill>
          <a:ln>
            <a:noFill/>
          </a:ln>
        </p:spPr>
      </p:sp>
      <p:sp>
        <p:nvSpPr>
          <p:cNvPr id="17" name="rect 17"/>
          <p:cNvSpPr/>
          <p:nvPr/>
        </p:nvSpPr>
        <p:spPr>
          <a:xfrm>
            <a:off x="6934200" y="2387600"/>
            <a:ext cx="63500" cy="3073400"/>
          </a:xfrm>
          <a:prstGeom prst="rect">
            <a:avLst/>
          </a:prstGeom>
          <a:solidFill>
            <a:srgbClr val="675399"/>
          </a:solidFill>
          <a:ln>
            <a:noFill/>
          </a:ln>
        </p:spPr>
      </p:sp>
      <p:sp>
        <p:nvSpPr>
          <p:cNvPr id="18" name="text 18"/>
          <p:cNvSpPr/>
          <p:nvPr/>
        </p:nvSpPr>
        <p:spPr>
          <a:xfrm>
            <a:off x="7226300" y="2641600"/>
            <a:ext cx="8026400" cy="3968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500" b="1">
                <a:solidFill>
                  <a:srgbClr val="675399"/>
                </a:solidFill>
                <a:latin typeface="DejaVu Sans"/>
              </a:rPr>
              <a:t>Open scientific step</a:t>
            </a:r>
          </a:p>
        </p:txBody>
      </p:sp>
      <p:sp>
        <p:nvSpPr>
          <p:cNvPr id="19" name="text 19"/>
          <p:cNvSpPr/>
          <p:nvPr/>
        </p:nvSpPr>
        <p:spPr>
          <a:xfrm>
            <a:off x="7226300" y="3165475"/>
            <a:ext cx="8026400" cy="444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800" b="0">
                <a:solidFill>
                  <a:srgbClr val="162F3B"/>
                </a:solidFill>
                <a:latin typeface="DejaVu Sans"/>
              </a:rPr>
              <a:t>Can an active-inference policy choose which</a:t>
            </a:r>
          </a:p>
        </p:txBody>
      </p:sp>
      <p:sp>
        <p:nvSpPr>
          <p:cNvPr id="20" name="text 20"/>
          <p:cNvSpPr/>
          <p:nvPr/>
        </p:nvSpPr>
        <p:spPr>
          <a:xfrm>
            <a:off x="7226300" y="3609975"/>
            <a:ext cx="8026400" cy="444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800" b="0">
                <a:solidFill>
                  <a:srgbClr val="162F3B"/>
                </a:solidFill>
                <a:latin typeface="DejaVu Sans"/>
              </a:rPr>
              <a:t>facts to audit or update more effectively</a:t>
            </a:r>
          </a:p>
        </p:txBody>
      </p:sp>
      <p:sp>
        <p:nvSpPr>
          <p:cNvPr id="21" name="text 21"/>
          <p:cNvSpPr/>
          <p:nvPr/>
        </p:nvSpPr>
        <p:spPr>
          <a:xfrm>
            <a:off x="7226300" y="4054475"/>
            <a:ext cx="8026400" cy="444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800" b="0">
                <a:solidFill>
                  <a:srgbClr val="162F3B"/>
                </a:solidFill>
                <a:latin typeface="DejaVu Sans"/>
              </a:rPr>
              <a:t>under the same budget?</a:t>
            </a:r>
          </a:p>
        </p:txBody>
      </p:sp>
      <p:sp>
        <p:nvSpPr>
          <p:cNvPr id="22" name="text 22"/>
          <p:cNvSpPr/>
          <p:nvPr/>
        </p:nvSpPr>
        <p:spPr>
          <a:xfrm>
            <a:off x="749300" y="5892800"/>
            <a:ext cx="14732000" cy="381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400" b="0">
                <a:solidFill>
                  <a:srgbClr val="162F3B"/>
                </a:solidFill>
                <a:latin typeface="DejaVu Sans"/>
              </a:rPr>
              <a:t>Autonomous action selection and a tested probabilistic Markov blanket remain open.</a:t>
            </a:r>
          </a:p>
        </p:txBody>
      </p:sp>
      <p:sp>
        <p:nvSpPr>
          <p:cNvPr id="23" name="text 23"/>
          <p:cNvSpPr/>
          <p:nvPr/>
        </p:nvSpPr>
        <p:spPr>
          <a:xfrm>
            <a:off x="749300" y="6718300"/>
            <a:ext cx="14732000" cy="3651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300" b="0">
                <a:solidFill>
                  <a:srgbClr val="162F3B"/>
                </a:solidFill>
                <a:latin typeface="DejaVu Sans"/>
              </a:rPr>
              <a:t>We welcome collaboration on a precise coupled-entropy model and a discriminating experiment.</a:t>
            </a:r>
          </a:p>
        </p:txBody>
      </p:sp>
      <p:sp>
        <p:nvSpPr>
          <p:cNvPr id="24" name="text 24"/>
          <p:cNvSpPr/>
          <p:nvPr/>
        </p:nvSpPr>
        <p:spPr>
          <a:xfrm>
            <a:off x="749300" y="7083425"/>
            <a:ext cx="14732000" cy="3651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300" b="0">
                <a:solidFill>
                  <a:srgbClr val="162F3B"/>
                </a:solidFill>
                <a:latin typeface="DejaVu Sans"/>
              </a:rPr>
              <a:t>The full coupled theory remains untested here.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0" y="0"/>
            <a:ext cx="16256000" cy="9144000"/>
          </a:xfrm>
          <a:prstGeom prst="rect">
            <a:avLst/>
          </a:prstGeom>
          <a:solidFill>
            <a:srgbClr val="162F3B"/>
          </a:solidFill>
          <a:ln>
            <a:noFill/>
          </a:ln>
        </p:spPr>
      </p:sp>
      <p:sp>
        <p:nvSpPr>
          <p:cNvPr id="3" name="rect 3"/>
          <p:cNvSpPr/>
          <p:nvPr/>
        </p:nvSpPr>
        <p:spPr>
          <a:xfrm>
            <a:off x="0" y="0"/>
            <a:ext cx="16256000" cy="88900"/>
          </a:xfrm>
          <a:prstGeom prst="rect">
            <a:avLst/>
          </a:prstGeom>
          <a:solidFill>
            <a:srgbClr val="007E80"/>
          </a:solidFill>
          <a:ln>
            <a:noFill/>
          </a:ln>
        </p:spPr>
      </p:sp>
      <p:sp>
        <p:nvSpPr>
          <p:cNvPr id="4" name="text 4"/>
          <p:cNvSpPr/>
          <p:nvPr/>
        </p:nvSpPr>
        <p:spPr>
          <a:xfrm>
            <a:off x="685800" y="355600"/>
            <a:ext cx="14884400" cy="2222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400" b="1">
                <a:solidFill>
                  <a:srgbClr val="9ADFD4"/>
                </a:solidFill>
                <a:latin typeface="DejaVu Sans"/>
              </a:rPr>
              <a:t>Active Inference in the Extremes · CCS 2026</a:t>
            </a:r>
          </a:p>
        </p:txBody>
      </p:sp>
      <p:sp>
        <p:nvSpPr>
          <p:cNvPr id="5" name="text 5"/>
          <p:cNvSpPr/>
          <p:nvPr/>
        </p:nvSpPr>
        <p:spPr>
          <a:xfrm>
            <a:off x="685800" y="850900"/>
            <a:ext cx="14884400" cy="555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3500" b="1">
                <a:solidFill>
                  <a:srgbClr val="FFFFFF"/>
                </a:solidFill>
                <a:latin typeface="DejaVu Sans"/>
              </a:rPr>
              <a:t>Questions and discussion</a:t>
            </a:r>
          </a:p>
        </p:txBody>
      </p:sp>
      <p:sp>
        <p:nvSpPr>
          <p:cNvPr id="6" name="rect 6"/>
          <p:cNvSpPr/>
          <p:nvPr/>
        </p:nvSpPr>
        <p:spPr>
          <a:xfrm>
            <a:off x="685800" y="7797800"/>
            <a:ext cx="14884400" cy="762000"/>
          </a:xfrm>
          <a:prstGeom prst="rect">
            <a:avLst/>
          </a:prstGeom>
          <a:solidFill>
            <a:srgbClr val="204955"/>
          </a:solidFill>
          <a:ln>
            <a:noFill/>
          </a:ln>
        </p:spPr>
      </p:sp>
      <p:sp>
        <p:nvSpPr>
          <p:cNvPr id="7" name="text 7"/>
          <p:cNvSpPr/>
          <p:nvPr/>
        </p:nvSpPr>
        <p:spPr>
          <a:xfrm>
            <a:off x="914400" y="7937500"/>
            <a:ext cx="14427200" cy="33337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100" b="1">
                <a:solidFill>
                  <a:srgbClr val="FFFFFF"/>
                </a:solidFill>
                <a:latin typeface="DejaVu Sans"/>
              </a:rPr>
              <a:t>Which mechanism would you test next—and which failure would matter most?</a:t>
            </a:r>
          </a:p>
        </p:txBody>
      </p:sp>
      <p:sp>
        <p:nvSpPr>
          <p:cNvPr id="8" name="text 8"/>
          <p:cNvSpPr/>
          <p:nvPr/>
        </p:nvSpPr>
        <p:spPr>
          <a:xfrm>
            <a:off x="698500" y="8788400"/>
            <a:ext cx="13716000" cy="166688"/>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050" b="0">
                <a:solidFill>
                  <a:srgbClr val="C3D8DC"/>
                </a:solidFill>
                <a:latin typeface="DejaVu Sans"/>
              </a:rPr>
              <a:t>Source: Scientific results and supporting material are linked from the project repositories.</a:t>
            </a:r>
          </a:p>
        </p:txBody>
      </p:sp>
      <p:sp>
        <p:nvSpPr>
          <p:cNvPr id="9" name="text 9"/>
          <p:cNvSpPr/>
          <p:nvPr/>
        </p:nvSpPr>
        <p:spPr>
          <a:xfrm>
            <a:off x="14541500" y="8788400"/>
            <a:ext cx="1079500" cy="190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200" b="0">
                <a:solidFill>
                  <a:srgbClr val="C3D8DC"/>
                </a:solidFill>
                <a:latin typeface="DejaVu Sans"/>
              </a:rPr>
              <a:t>15 / 15</a:t>
            </a:r>
          </a:p>
        </p:txBody>
      </p:sp>
      <p:sp>
        <p:nvSpPr>
          <p:cNvPr id="10" name="text 10"/>
          <p:cNvSpPr/>
          <p:nvPr/>
        </p:nvSpPr>
        <p:spPr>
          <a:xfrm>
            <a:off x="736600" y="2209800"/>
            <a:ext cx="10566400" cy="6350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4000" b="1">
                <a:solidFill>
                  <a:srgbClr val="9ADFD4"/>
                </a:solidFill>
                <a:latin typeface="DejaVu Sans"/>
                <a:hlinkClick r:id="rId3"/>
              </a:rPr>
              <a:t>earthland.ai/ccs/</a:t>
            </a:r>
          </a:p>
        </p:txBody>
      </p:sp>
      <p:sp>
        <p:nvSpPr>
          <p:cNvPr id="11" name="text 11"/>
          <p:cNvSpPr/>
          <p:nvPr/>
        </p:nvSpPr>
        <p:spPr>
          <a:xfrm>
            <a:off x="749300" y="2959100"/>
            <a:ext cx="10160000" cy="34925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200" b="0">
                <a:solidFill>
                  <a:srgbClr val="FFFFFF"/>
                </a:solidFill>
                <a:latin typeface="DejaVu Sans"/>
              </a:rPr>
              <a:t>Canonical Google deck and presentation links</a:t>
            </a:r>
          </a:p>
        </p:txBody>
      </p:sp>
      <p:sp>
        <p:nvSpPr>
          <p:cNvPr id="12" name="text 12"/>
          <p:cNvSpPr/>
          <p:nvPr/>
        </p:nvSpPr>
        <p:spPr>
          <a:xfrm>
            <a:off x="749300" y="4000500"/>
            <a:ext cx="10350500" cy="444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800" b="1">
                <a:solidFill>
                  <a:srgbClr val="FFFFFF"/>
                </a:solidFill>
                <a:latin typeface="DejaVu Sans"/>
              </a:rPr>
              <a:t>charlie derr · Matthew Iklé</a:t>
            </a:r>
          </a:p>
        </p:txBody>
      </p:sp>
      <p:sp>
        <p:nvSpPr>
          <p:cNvPr id="13" name="text 13"/>
          <p:cNvSpPr/>
          <p:nvPr/>
        </p:nvSpPr>
        <p:spPr>
          <a:xfrm>
            <a:off x="749300" y="4597400"/>
            <a:ext cx="10668000" cy="317500"/>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2000" b="0">
                <a:solidFill>
                  <a:srgbClr val="C3D8DC"/>
                </a:solidFill>
                <a:latin typeface="DejaVu Sans"/>
              </a:rPr>
              <a:t>SingularityNET · EarthLand · BGI Labs · TrueAGI</a:t>
            </a:r>
          </a:p>
        </p:txBody>
      </p:sp>
      <p:sp>
        <p:nvSpPr>
          <p:cNvPr id="14" name="text 14"/>
          <p:cNvSpPr/>
          <p:nvPr/>
        </p:nvSpPr>
        <p:spPr>
          <a:xfrm>
            <a:off x="749300" y="5334000"/>
            <a:ext cx="11239500" cy="301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900" b="0">
                <a:solidFill>
                  <a:srgbClr val="FFFFFF"/>
                </a:solidFill>
                <a:latin typeface="DejaVu Sans"/>
              </a:rPr>
              <a:t>Predictive-coding implementation: FabricPC</a:t>
            </a:r>
          </a:p>
        </p:txBody>
      </p:sp>
      <p:sp>
        <p:nvSpPr>
          <p:cNvPr id="15" name="text 15"/>
          <p:cNvSpPr/>
          <p:nvPr/>
        </p:nvSpPr>
        <p:spPr>
          <a:xfrm>
            <a:off x="749300" y="5842000"/>
            <a:ext cx="11239500" cy="301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900" b="0">
                <a:solidFill>
                  <a:srgbClr val="FFFFFF"/>
                </a:solidFill>
                <a:latin typeface="DejaVu Sans"/>
                <a:hlinkClick r:id="rId4"/>
              </a:rPr>
              <a:t>Code: github.com/pderp/pc_cap</a:t>
            </a:r>
          </a:p>
        </p:txBody>
      </p:sp>
      <p:sp>
        <p:nvSpPr>
          <p:cNvPr id="16" name="text 16"/>
          <p:cNvSpPr/>
          <p:nvPr/>
        </p:nvSpPr>
        <p:spPr>
          <a:xfrm>
            <a:off x="749300" y="6350000"/>
            <a:ext cx="11239500" cy="301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900" b="0">
                <a:solidFill>
                  <a:srgbClr val="FFFFFF"/>
                </a:solidFill>
                <a:latin typeface="DejaVu Sans"/>
                <a:hlinkClick r:id="rId5"/>
              </a:rPr>
              <a:t>Materials: github.com/pderp/cap-assets</a:t>
            </a:r>
          </a:p>
        </p:txBody>
      </p:sp>
      <p:sp>
        <p:nvSpPr>
          <p:cNvPr id="17" name="text 17"/>
          <p:cNvSpPr/>
          <p:nvPr/>
        </p:nvSpPr>
        <p:spPr>
          <a:xfrm>
            <a:off x="749300" y="6858000"/>
            <a:ext cx="11239500" cy="301625"/>
          </a:xfrm>
          <a:prstGeom prst="rect">
            <a:avLst/>
          </a:prstGeom>
          <a:noFill/>
          <a:ln>
            <a:noFill/>
          </a:ln>
        </p:spPr>
        <p:txBody>
          <a:bodyPr wrap="none" lIns="0" tIns="0" rIns="0" bIns="0" anchor="t">
            <a:noAutofit/>
          </a:bodyPr>
          <a:lstStyle/>
          <a:p>
            <a:pPr>
              <a:lnSpc>
                <a:spcPct val="100000"/>
              </a:lnSpc>
              <a:spcBef>
                <a:spcPts val="0"/>
              </a:spcBef>
              <a:spcAft>
                <a:spcPts val="0"/>
              </a:spcAft>
            </a:pPr>
            <a:r>
              <a:rPr lang="en-US" sz="1900" b="0">
                <a:solidFill>
                  <a:srgbClr val="FFFFFF"/>
                </a:solidFill>
                <a:latin typeface="DejaVu Sans"/>
              </a:rPr>
              <a:t>Agentic assistance: Capex · Capstan · Derp Peoples</a:t>
            </a:r>
          </a:p>
        </p:txBody>
      </p:sp>
      <p:sp>
        <p:nvSpPr>
          <p:cNvPr id="18" name="rect 18"/>
          <p:cNvSpPr/>
          <p:nvPr/>
        </p:nvSpPr>
        <p:spPr>
          <a:xfrm>
            <a:off x="11620500" y="2755900"/>
            <a:ext cx="3771900" cy="3771900"/>
          </a:xfrm>
          <a:prstGeom prst="rect">
            <a:avLst/>
          </a:prstGeom>
          <a:solidFill>
            <a:srgbClr val="FFFFFF"/>
          </a:solidFill>
          <a:ln>
            <a:noFill/>
          </a:ln>
        </p:spPr>
      </p:sp>
      <p:sp>
        <p:nvSpPr>
          <p:cNvPr id="19" name="rect 19"/>
          <p:cNvSpPr/>
          <p:nvPr/>
        </p:nvSpPr>
        <p:spPr>
          <a:xfrm>
            <a:off x="12270124" y="3405524"/>
            <a:ext cx="99922" cy="99922"/>
          </a:xfrm>
          <a:prstGeom prst="rect">
            <a:avLst/>
          </a:prstGeom>
          <a:solidFill>
            <a:srgbClr val="111111"/>
          </a:solidFill>
          <a:ln>
            <a:noFill/>
          </a:ln>
        </p:spPr>
      </p:sp>
      <p:sp>
        <p:nvSpPr>
          <p:cNvPr id="20" name="rect 20"/>
          <p:cNvSpPr/>
          <p:nvPr/>
        </p:nvSpPr>
        <p:spPr>
          <a:xfrm>
            <a:off x="12369030" y="3405524"/>
            <a:ext cx="99922" cy="99922"/>
          </a:xfrm>
          <a:prstGeom prst="rect">
            <a:avLst/>
          </a:prstGeom>
          <a:solidFill>
            <a:srgbClr val="111111"/>
          </a:solidFill>
          <a:ln>
            <a:noFill/>
          </a:ln>
        </p:spPr>
      </p:sp>
      <p:sp>
        <p:nvSpPr>
          <p:cNvPr id="21" name="rect 21"/>
          <p:cNvSpPr/>
          <p:nvPr/>
        </p:nvSpPr>
        <p:spPr>
          <a:xfrm>
            <a:off x="12467936" y="3405524"/>
            <a:ext cx="99922" cy="99922"/>
          </a:xfrm>
          <a:prstGeom prst="rect">
            <a:avLst/>
          </a:prstGeom>
          <a:solidFill>
            <a:srgbClr val="111111"/>
          </a:solidFill>
          <a:ln>
            <a:noFill/>
          </a:ln>
        </p:spPr>
      </p:sp>
      <p:sp>
        <p:nvSpPr>
          <p:cNvPr id="22" name="rect 22"/>
          <p:cNvSpPr/>
          <p:nvPr/>
        </p:nvSpPr>
        <p:spPr>
          <a:xfrm>
            <a:off x="12566842" y="3405524"/>
            <a:ext cx="99922" cy="99922"/>
          </a:xfrm>
          <a:prstGeom prst="rect">
            <a:avLst/>
          </a:prstGeom>
          <a:solidFill>
            <a:srgbClr val="111111"/>
          </a:solidFill>
          <a:ln>
            <a:noFill/>
          </a:ln>
        </p:spPr>
      </p:sp>
      <p:sp>
        <p:nvSpPr>
          <p:cNvPr id="23" name="rect 23"/>
          <p:cNvSpPr/>
          <p:nvPr/>
        </p:nvSpPr>
        <p:spPr>
          <a:xfrm>
            <a:off x="12665748" y="3405524"/>
            <a:ext cx="99922" cy="99922"/>
          </a:xfrm>
          <a:prstGeom prst="rect">
            <a:avLst/>
          </a:prstGeom>
          <a:solidFill>
            <a:srgbClr val="111111"/>
          </a:solidFill>
          <a:ln>
            <a:noFill/>
          </a:ln>
        </p:spPr>
      </p:sp>
      <p:sp>
        <p:nvSpPr>
          <p:cNvPr id="24" name="rect 24"/>
          <p:cNvSpPr/>
          <p:nvPr/>
        </p:nvSpPr>
        <p:spPr>
          <a:xfrm>
            <a:off x="12764655" y="3405524"/>
            <a:ext cx="99922" cy="99922"/>
          </a:xfrm>
          <a:prstGeom prst="rect">
            <a:avLst/>
          </a:prstGeom>
          <a:solidFill>
            <a:srgbClr val="111111"/>
          </a:solidFill>
          <a:ln>
            <a:noFill/>
          </a:ln>
        </p:spPr>
      </p:sp>
      <p:sp>
        <p:nvSpPr>
          <p:cNvPr id="25" name="rect 25"/>
          <p:cNvSpPr/>
          <p:nvPr/>
        </p:nvSpPr>
        <p:spPr>
          <a:xfrm>
            <a:off x="12863561" y="3405524"/>
            <a:ext cx="99922" cy="99922"/>
          </a:xfrm>
          <a:prstGeom prst="rect">
            <a:avLst/>
          </a:prstGeom>
          <a:solidFill>
            <a:srgbClr val="111111"/>
          </a:solidFill>
          <a:ln>
            <a:noFill/>
          </a:ln>
        </p:spPr>
      </p:sp>
      <p:sp>
        <p:nvSpPr>
          <p:cNvPr id="26" name="rect 26"/>
          <p:cNvSpPr/>
          <p:nvPr/>
        </p:nvSpPr>
        <p:spPr>
          <a:xfrm>
            <a:off x="13259185" y="3405524"/>
            <a:ext cx="99922" cy="99922"/>
          </a:xfrm>
          <a:prstGeom prst="rect">
            <a:avLst/>
          </a:prstGeom>
          <a:solidFill>
            <a:srgbClr val="111111"/>
          </a:solidFill>
          <a:ln>
            <a:noFill/>
          </a:ln>
        </p:spPr>
      </p:sp>
      <p:sp>
        <p:nvSpPr>
          <p:cNvPr id="27" name="rect 27"/>
          <p:cNvSpPr/>
          <p:nvPr/>
        </p:nvSpPr>
        <p:spPr>
          <a:xfrm>
            <a:off x="13456997" y="3405524"/>
            <a:ext cx="99922" cy="99922"/>
          </a:xfrm>
          <a:prstGeom prst="rect">
            <a:avLst/>
          </a:prstGeom>
          <a:solidFill>
            <a:srgbClr val="111111"/>
          </a:solidFill>
          <a:ln>
            <a:noFill/>
          </a:ln>
        </p:spPr>
      </p:sp>
      <p:sp>
        <p:nvSpPr>
          <p:cNvPr id="28" name="rect 28"/>
          <p:cNvSpPr/>
          <p:nvPr/>
        </p:nvSpPr>
        <p:spPr>
          <a:xfrm>
            <a:off x="13555903" y="3405524"/>
            <a:ext cx="99922" cy="99922"/>
          </a:xfrm>
          <a:prstGeom prst="rect">
            <a:avLst/>
          </a:prstGeom>
          <a:solidFill>
            <a:srgbClr val="111111"/>
          </a:solidFill>
          <a:ln>
            <a:noFill/>
          </a:ln>
        </p:spPr>
      </p:sp>
      <p:sp>
        <p:nvSpPr>
          <p:cNvPr id="29" name="rect 29"/>
          <p:cNvSpPr/>
          <p:nvPr/>
        </p:nvSpPr>
        <p:spPr>
          <a:xfrm>
            <a:off x="14050433" y="3405524"/>
            <a:ext cx="99922" cy="99922"/>
          </a:xfrm>
          <a:prstGeom prst="rect">
            <a:avLst/>
          </a:prstGeom>
          <a:solidFill>
            <a:srgbClr val="111111"/>
          </a:solidFill>
          <a:ln>
            <a:noFill/>
          </a:ln>
        </p:spPr>
      </p:sp>
      <p:sp>
        <p:nvSpPr>
          <p:cNvPr id="30" name="rect 30"/>
          <p:cNvSpPr/>
          <p:nvPr/>
        </p:nvSpPr>
        <p:spPr>
          <a:xfrm>
            <a:off x="14149339" y="3405524"/>
            <a:ext cx="99922" cy="99922"/>
          </a:xfrm>
          <a:prstGeom prst="rect">
            <a:avLst/>
          </a:prstGeom>
          <a:solidFill>
            <a:srgbClr val="111111"/>
          </a:solidFill>
          <a:ln>
            <a:noFill/>
          </a:ln>
        </p:spPr>
      </p:sp>
      <p:sp>
        <p:nvSpPr>
          <p:cNvPr id="31" name="rect 31"/>
          <p:cNvSpPr/>
          <p:nvPr/>
        </p:nvSpPr>
        <p:spPr>
          <a:xfrm>
            <a:off x="14248245" y="3405524"/>
            <a:ext cx="99922" cy="99922"/>
          </a:xfrm>
          <a:prstGeom prst="rect">
            <a:avLst/>
          </a:prstGeom>
          <a:solidFill>
            <a:srgbClr val="111111"/>
          </a:solidFill>
          <a:ln>
            <a:noFill/>
          </a:ln>
        </p:spPr>
      </p:sp>
      <p:sp>
        <p:nvSpPr>
          <p:cNvPr id="32" name="rect 32"/>
          <p:cNvSpPr/>
          <p:nvPr/>
        </p:nvSpPr>
        <p:spPr>
          <a:xfrm>
            <a:off x="14347152" y="3405524"/>
            <a:ext cx="99922" cy="99922"/>
          </a:xfrm>
          <a:prstGeom prst="rect">
            <a:avLst/>
          </a:prstGeom>
          <a:solidFill>
            <a:srgbClr val="111111"/>
          </a:solidFill>
          <a:ln>
            <a:noFill/>
          </a:ln>
        </p:spPr>
      </p:sp>
      <p:sp>
        <p:nvSpPr>
          <p:cNvPr id="33" name="rect 33"/>
          <p:cNvSpPr/>
          <p:nvPr/>
        </p:nvSpPr>
        <p:spPr>
          <a:xfrm>
            <a:off x="14446058" y="3405524"/>
            <a:ext cx="99922" cy="99922"/>
          </a:xfrm>
          <a:prstGeom prst="rect">
            <a:avLst/>
          </a:prstGeom>
          <a:solidFill>
            <a:srgbClr val="111111"/>
          </a:solidFill>
          <a:ln>
            <a:noFill/>
          </a:ln>
        </p:spPr>
      </p:sp>
      <p:sp>
        <p:nvSpPr>
          <p:cNvPr id="34" name="rect 34"/>
          <p:cNvSpPr/>
          <p:nvPr/>
        </p:nvSpPr>
        <p:spPr>
          <a:xfrm>
            <a:off x="14544964" y="3405524"/>
            <a:ext cx="99922" cy="99922"/>
          </a:xfrm>
          <a:prstGeom prst="rect">
            <a:avLst/>
          </a:prstGeom>
          <a:solidFill>
            <a:srgbClr val="111111"/>
          </a:solidFill>
          <a:ln>
            <a:noFill/>
          </a:ln>
        </p:spPr>
      </p:sp>
      <p:sp>
        <p:nvSpPr>
          <p:cNvPr id="35" name="rect 35"/>
          <p:cNvSpPr/>
          <p:nvPr/>
        </p:nvSpPr>
        <p:spPr>
          <a:xfrm>
            <a:off x="14643870" y="3405524"/>
            <a:ext cx="99922" cy="99922"/>
          </a:xfrm>
          <a:prstGeom prst="rect">
            <a:avLst/>
          </a:prstGeom>
          <a:solidFill>
            <a:srgbClr val="111111"/>
          </a:solidFill>
          <a:ln>
            <a:noFill/>
          </a:ln>
        </p:spPr>
      </p:sp>
      <p:sp>
        <p:nvSpPr>
          <p:cNvPr id="36" name="rect 36"/>
          <p:cNvSpPr/>
          <p:nvPr/>
        </p:nvSpPr>
        <p:spPr>
          <a:xfrm>
            <a:off x="12270124" y="3504430"/>
            <a:ext cx="99922" cy="99922"/>
          </a:xfrm>
          <a:prstGeom prst="rect">
            <a:avLst/>
          </a:prstGeom>
          <a:solidFill>
            <a:srgbClr val="111111"/>
          </a:solidFill>
          <a:ln>
            <a:noFill/>
          </a:ln>
        </p:spPr>
      </p:sp>
      <p:sp>
        <p:nvSpPr>
          <p:cNvPr id="37" name="rect 37"/>
          <p:cNvSpPr/>
          <p:nvPr/>
        </p:nvSpPr>
        <p:spPr>
          <a:xfrm>
            <a:off x="12863561" y="3504430"/>
            <a:ext cx="99922" cy="99922"/>
          </a:xfrm>
          <a:prstGeom prst="rect">
            <a:avLst/>
          </a:prstGeom>
          <a:solidFill>
            <a:srgbClr val="111111"/>
          </a:solidFill>
          <a:ln>
            <a:noFill/>
          </a:ln>
        </p:spPr>
      </p:sp>
      <p:sp>
        <p:nvSpPr>
          <p:cNvPr id="38" name="rect 38"/>
          <p:cNvSpPr/>
          <p:nvPr/>
        </p:nvSpPr>
        <p:spPr>
          <a:xfrm>
            <a:off x="13061373" y="3504430"/>
            <a:ext cx="99922" cy="99922"/>
          </a:xfrm>
          <a:prstGeom prst="rect">
            <a:avLst/>
          </a:prstGeom>
          <a:solidFill>
            <a:srgbClr val="111111"/>
          </a:solidFill>
          <a:ln>
            <a:noFill/>
          </a:ln>
        </p:spPr>
      </p:sp>
      <p:sp>
        <p:nvSpPr>
          <p:cNvPr id="39" name="rect 39"/>
          <p:cNvSpPr/>
          <p:nvPr/>
        </p:nvSpPr>
        <p:spPr>
          <a:xfrm>
            <a:off x="13259185" y="3504430"/>
            <a:ext cx="99922" cy="99922"/>
          </a:xfrm>
          <a:prstGeom prst="rect">
            <a:avLst/>
          </a:prstGeom>
          <a:solidFill>
            <a:srgbClr val="111111"/>
          </a:solidFill>
          <a:ln>
            <a:noFill/>
          </a:ln>
        </p:spPr>
      </p:sp>
      <p:sp>
        <p:nvSpPr>
          <p:cNvPr id="40" name="rect 40"/>
          <p:cNvSpPr/>
          <p:nvPr/>
        </p:nvSpPr>
        <p:spPr>
          <a:xfrm>
            <a:off x="13555903" y="3504430"/>
            <a:ext cx="99922" cy="99922"/>
          </a:xfrm>
          <a:prstGeom prst="rect">
            <a:avLst/>
          </a:prstGeom>
          <a:solidFill>
            <a:srgbClr val="111111"/>
          </a:solidFill>
          <a:ln>
            <a:noFill/>
          </a:ln>
        </p:spPr>
      </p:sp>
      <p:sp>
        <p:nvSpPr>
          <p:cNvPr id="41" name="rect 41"/>
          <p:cNvSpPr/>
          <p:nvPr/>
        </p:nvSpPr>
        <p:spPr>
          <a:xfrm>
            <a:off x="13654809" y="3504430"/>
            <a:ext cx="99922" cy="99922"/>
          </a:xfrm>
          <a:prstGeom prst="rect">
            <a:avLst/>
          </a:prstGeom>
          <a:solidFill>
            <a:srgbClr val="111111"/>
          </a:solidFill>
          <a:ln>
            <a:noFill/>
          </a:ln>
        </p:spPr>
      </p:sp>
      <p:sp>
        <p:nvSpPr>
          <p:cNvPr id="42" name="rect 42"/>
          <p:cNvSpPr/>
          <p:nvPr/>
        </p:nvSpPr>
        <p:spPr>
          <a:xfrm>
            <a:off x="13753715" y="3504430"/>
            <a:ext cx="99922" cy="99922"/>
          </a:xfrm>
          <a:prstGeom prst="rect">
            <a:avLst/>
          </a:prstGeom>
          <a:solidFill>
            <a:srgbClr val="111111"/>
          </a:solidFill>
          <a:ln>
            <a:noFill/>
          </a:ln>
        </p:spPr>
      </p:sp>
      <p:sp>
        <p:nvSpPr>
          <p:cNvPr id="43" name="rect 43"/>
          <p:cNvSpPr/>
          <p:nvPr/>
        </p:nvSpPr>
        <p:spPr>
          <a:xfrm>
            <a:off x="14050433" y="3504430"/>
            <a:ext cx="99922" cy="99922"/>
          </a:xfrm>
          <a:prstGeom prst="rect">
            <a:avLst/>
          </a:prstGeom>
          <a:solidFill>
            <a:srgbClr val="111111"/>
          </a:solidFill>
          <a:ln>
            <a:noFill/>
          </a:ln>
        </p:spPr>
      </p:sp>
      <p:sp>
        <p:nvSpPr>
          <p:cNvPr id="44" name="rect 44"/>
          <p:cNvSpPr/>
          <p:nvPr/>
        </p:nvSpPr>
        <p:spPr>
          <a:xfrm>
            <a:off x="14643870" y="3504430"/>
            <a:ext cx="99922" cy="99922"/>
          </a:xfrm>
          <a:prstGeom prst="rect">
            <a:avLst/>
          </a:prstGeom>
          <a:solidFill>
            <a:srgbClr val="111111"/>
          </a:solidFill>
          <a:ln>
            <a:noFill/>
          </a:ln>
        </p:spPr>
      </p:sp>
      <p:sp>
        <p:nvSpPr>
          <p:cNvPr id="45" name="rect 45"/>
          <p:cNvSpPr/>
          <p:nvPr/>
        </p:nvSpPr>
        <p:spPr>
          <a:xfrm>
            <a:off x="12270124" y="3603336"/>
            <a:ext cx="99922" cy="99922"/>
          </a:xfrm>
          <a:prstGeom prst="rect">
            <a:avLst/>
          </a:prstGeom>
          <a:solidFill>
            <a:srgbClr val="111111"/>
          </a:solidFill>
          <a:ln>
            <a:noFill/>
          </a:ln>
        </p:spPr>
      </p:sp>
      <p:sp>
        <p:nvSpPr>
          <p:cNvPr id="46" name="rect 46"/>
          <p:cNvSpPr/>
          <p:nvPr/>
        </p:nvSpPr>
        <p:spPr>
          <a:xfrm>
            <a:off x="12467936" y="3603336"/>
            <a:ext cx="99922" cy="99922"/>
          </a:xfrm>
          <a:prstGeom prst="rect">
            <a:avLst/>
          </a:prstGeom>
          <a:solidFill>
            <a:srgbClr val="111111"/>
          </a:solidFill>
          <a:ln>
            <a:noFill/>
          </a:ln>
        </p:spPr>
      </p:sp>
      <p:sp>
        <p:nvSpPr>
          <p:cNvPr id="47" name="rect 47"/>
          <p:cNvSpPr/>
          <p:nvPr/>
        </p:nvSpPr>
        <p:spPr>
          <a:xfrm>
            <a:off x="12566842" y="3603336"/>
            <a:ext cx="99922" cy="99922"/>
          </a:xfrm>
          <a:prstGeom prst="rect">
            <a:avLst/>
          </a:prstGeom>
          <a:solidFill>
            <a:srgbClr val="111111"/>
          </a:solidFill>
          <a:ln>
            <a:noFill/>
          </a:ln>
        </p:spPr>
      </p:sp>
      <p:sp>
        <p:nvSpPr>
          <p:cNvPr id="48" name="rect 48"/>
          <p:cNvSpPr/>
          <p:nvPr/>
        </p:nvSpPr>
        <p:spPr>
          <a:xfrm>
            <a:off x="12665748" y="3603336"/>
            <a:ext cx="99922" cy="99922"/>
          </a:xfrm>
          <a:prstGeom prst="rect">
            <a:avLst/>
          </a:prstGeom>
          <a:solidFill>
            <a:srgbClr val="111111"/>
          </a:solidFill>
          <a:ln>
            <a:noFill/>
          </a:ln>
        </p:spPr>
      </p:sp>
      <p:sp>
        <p:nvSpPr>
          <p:cNvPr id="49" name="rect 49"/>
          <p:cNvSpPr/>
          <p:nvPr/>
        </p:nvSpPr>
        <p:spPr>
          <a:xfrm>
            <a:off x="12863561" y="3603336"/>
            <a:ext cx="99922" cy="99922"/>
          </a:xfrm>
          <a:prstGeom prst="rect">
            <a:avLst/>
          </a:prstGeom>
          <a:solidFill>
            <a:srgbClr val="111111"/>
          </a:solidFill>
          <a:ln>
            <a:noFill/>
          </a:ln>
        </p:spPr>
      </p:sp>
      <p:sp>
        <p:nvSpPr>
          <p:cNvPr id="50" name="rect 50"/>
          <p:cNvSpPr/>
          <p:nvPr/>
        </p:nvSpPr>
        <p:spPr>
          <a:xfrm>
            <a:off x="13456997" y="3603336"/>
            <a:ext cx="99922" cy="99922"/>
          </a:xfrm>
          <a:prstGeom prst="rect">
            <a:avLst/>
          </a:prstGeom>
          <a:solidFill>
            <a:srgbClr val="111111"/>
          </a:solidFill>
          <a:ln>
            <a:noFill/>
          </a:ln>
        </p:spPr>
      </p:sp>
      <p:sp>
        <p:nvSpPr>
          <p:cNvPr id="51" name="rect 51"/>
          <p:cNvSpPr/>
          <p:nvPr/>
        </p:nvSpPr>
        <p:spPr>
          <a:xfrm>
            <a:off x="13753715" y="3603336"/>
            <a:ext cx="99922" cy="99922"/>
          </a:xfrm>
          <a:prstGeom prst="rect">
            <a:avLst/>
          </a:prstGeom>
          <a:solidFill>
            <a:srgbClr val="111111"/>
          </a:solidFill>
          <a:ln>
            <a:noFill/>
          </a:ln>
        </p:spPr>
      </p:sp>
      <p:sp>
        <p:nvSpPr>
          <p:cNvPr id="52" name="rect 52"/>
          <p:cNvSpPr/>
          <p:nvPr/>
        </p:nvSpPr>
        <p:spPr>
          <a:xfrm>
            <a:off x="13852621" y="3603336"/>
            <a:ext cx="99922" cy="99922"/>
          </a:xfrm>
          <a:prstGeom prst="rect">
            <a:avLst/>
          </a:prstGeom>
          <a:solidFill>
            <a:srgbClr val="111111"/>
          </a:solidFill>
          <a:ln>
            <a:noFill/>
          </a:ln>
        </p:spPr>
      </p:sp>
      <p:sp>
        <p:nvSpPr>
          <p:cNvPr id="53" name="rect 53"/>
          <p:cNvSpPr/>
          <p:nvPr/>
        </p:nvSpPr>
        <p:spPr>
          <a:xfrm>
            <a:off x="14050433" y="3603336"/>
            <a:ext cx="99922" cy="99922"/>
          </a:xfrm>
          <a:prstGeom prst="rect">
            <a:avLst/>
          </a:prstGeom>
          <a:solidFill>
            <a:srgbClr val="111111"/>
          </a:solidFill>
          <a:ln>
            <a:noFill/>
          </a:ln>
        </p:spPr>
      </p:sp>
      <p:sp>
        <p:nvSpPr>
          <p:cNvPr id="54" name="rect 54"/>
          <p:cNvSpPr/>
          <p:nvPr/>
        </p:nvSpPr>
        <p:spPr>
          <a:xfrm>
            <a:off x="14248245" y="3603336"/>
            <a:ext cx="99922" cy="99922"/>
          </a:xfrm>
          <a:prstGeom prst="rect">
            <a:avLst/>
          </a:prstGeom>
          <a:solidFill>
            <a:srgbClr val="111111"/>
          </a:solidFill>
          <a:ln>
            <a:noFill/>
          </a:ln>
        </p:spPr>
      </p:sp>
      <p:sp>
        <p:nvSpPr>
          <p:cNvPr id="55" name="rect 55"/>
          <p:cNvSpPr/>
          <p:nvPr/>
        </p:nvSpPr>
        <p:spPr>
          <a:xfrm>
            <a:off x="14347152" y="3603336"/>
            <a:ext cx="99922" cy="99922"/>
          </a:xfrm>
          <a:prstGeom prst="rect">
            <a:avLst/>
          </a:prstGeom>
          <a:solidFill>
            <a:srgbClr val="111111"/>
          </a:solidFill>
          <a:ln>
            <a:noFill/>
          </a:ln>
        </p:spPr>
      </p:sp>
      <p:sp>
        <p:nvSpPr>
          <p:cNvPr id="56" name="rect 56"/>
          <p:cNvSpPr/>
          <p:nvPr/>
        </p:nvSpPr>
        <p:spPr>
          <a:xfrm>
            <a:off x="14446058" y="3603336"/>
            <a:ext cx="99922" cy="99922"/>
          </a:xfrm>
          <a:prstGeom prst="rect">
            <a:avLst/>
          </a:prstGeom>
          <a:solidFill>
            <a:srgbClr val="111111"/>
          </a:solidFill>
          <a:ln>
            <a:noFill/>
          </a:ln>
        </p:spPr>
      </p:sp>
      <p:sp>
        <p:nvSpPr>
          <p:cNvPr id="57" name="rect 57"/>
          <p:cNvSpPr/>
          <p:nvPr/>
        </p:nvSpPr>
        <p:spPr>
          <a:xfrm>
            <a:off x="14643870" y="3603336"/>
            <a:ext cx="99922" cy="99922"/>
          </a:xfrm>
          <a:prstGeom prst="rect">
            <a:avLst/>
          </a:prstGeom>
          <a:solidFill>
            <a:srgbClr val="111111"/>
          </a:solidFill>
          <a:ln>
            <a:noFill/>
          </a:ln>
        </p:spPr>
      </p:sp>
      <p:sp>
        <p:nvSpPr>
          <p:cNvPr id="58" name="rect 58"/>
          <p:cNvSpPr/>
          <p:nvPr/>
        </p:nvSpPr>
        <p:spPr>
          <a:xfrm>
            <a:off x="12270124" y="3702242"/>
            <a:ext cx="99922" cy="99922"/>
          </a:xfrm>
          <a:prstGeom prst="rect">
            <a:avLst/>
          </a:prstGeom>
          <a:solidFill>
            <a:srgbClr val="111111"/>
          </a:solidFill>
          <a:ln>
            <a:noFill/>
          </a:ln>
        </p:spPr>
      </p:sp>
      <p:sp>
        <p:nvSpPr>
          <p:cNvPr id="59" name="rect 59"/>
          <p:cNvSpPr/>
          <p:nvPr/>
        </p:nvSpPr>
        <p:spPr>
          <a:xfrm>
            <a:off x="12467936" y="3702242"/>
            <a:ext cx="99922" cy="99922"/>
          </a:xfrm>
          <a:prstGeom prst="rect">
            <a:avLst/>
          </a:prstGeom>
          <a:solidFill>
            <a:srgbClr val="111111"/>
          </a:solidFill>
          <a:ln>
            <a:noFill/>
          </a:ln>
        </p:spPr>
      </p:sp>
      <p:sp>
        <p:nvSpPr>
          <p:cNvPr id="60" name="rect 60"/>
          <p:cNvSpPr/>
          <p:nvPr/>
        </p:nvSpPr>
        <p:spPr>
          <a:xfrm>
            <a:off x="12566842" y="3702242"/>
            <a:ext cx="99922" cy="99922"/>
          </a:xfrm>
          <a:prstGeom prst="rect">
            <a:avLst/>
          </a:prstGeom>
          <a:solidFill>
            <a:srgbClr val="111111"/>
          </a:solidFill>
          <a:ln>
            <a:noFill/>
          </a:ln>
        </p:spPr>
      </p:sp>
      <p:sp>
        <p:nvSpPr>
          <p:cNvPr id="61" name="rect 61"/>
          <p:cNvSpPr/>
          <p:nvPr/>
        </p:nvSpPr>
        <p:spPr>
          <a:xfrm>
            <a:off x="12665748" y="3702242"/>
            <a:ext cx="99922" cy="99922"/>
          </a:xfrm>
          <a:prstGeom prst="rect">
            <a:avLst/>
          </a:prstGeom>
          <a:solidFill>
            <a:srgbClr val="111111"/>
          </a:solidFill>
          <a:ln>
            <a:noFill/>
          </a:ln>
        </p:spPr>
      </p:sp>
      <p:sp>
        <p:nvSpPr>
          <p:cNvPr id="62" name="rect 62"/>
          <p:cNvSpPr/>
          <p:nvPr/>
        </p:nvSpPr>
        <p:spPr>
          <a:xfrm>
            <a:off x="12863561" y="3702242"/>
            <a:ext cx="99922" cy="99922"/>
          </a:xfrm>
          <a:prstGeom prst="rect">
            <a:avLst/>
          </a:prstGeom>
          <a:solidFill>
            <a:srgbClr val="111111"/>
          </a:solidFill>
          <a:ln>
            <a:noFill/>
          </a:ln>
        </p:spPr>
      </p:sp>
      <p:sp>
        <p:nvSpPr>
          <p:cNvPr id="63" name="rect 63"/>
          <p:cNvSpPr/>
          <p:nvPr/>
        </p:nvSpPr>
        <p:spPr>
          <a:xfrm>
            <a:off x="13061373" y="3702242"/>
            <a:ext cx="99922" cy="99922"/>
          </a:xfrm>
          <a:prstGeom prst="rect">
            <a:avLst/>
          </a:prstGeom>
          <a:solidFill>
            <a:srgbClr val="111111"/>
          </a:solidFill>
          <a:ln>
            <a:noFill/>
          </a:ln>
        </p:spPr>
      </p:sp>
      <p:sp>
        <p:nvSpPr>
          <p:cNvPr id="64" name="rect 64"/>
          <p:cNvSpPr/>
          <p:nvPr/>
        </p:nvSpPr>
        <p:spPr>
          <a:xfrm>
            <a:off x="13160279" y="3702242"/>
            <a:ext cx="99922" cy="99922"/>
          </a:xfrm>
          <a:prstGeom prst="rect">
            <a:avLst/>
          </a:prstGeom>
          <a:solidFill>
            <a:srgbClr val="111111"/>
          </a:solidFill>
          <a:ln>
            <a:noFill/>
          </a:ln>
        </p:spPr>
      </p:sp>
      <p:sp>
        <p:nvSpPr>
          <p:cNvPr id="65" name="rect 65"/>
          <p:cNvSpPr/>
          <p:nvPr/>
        </p:nvSpPr>
        <p:spPr>
          <a:xfrm>
            <a:off x="13259185" y="3702242"/>
            <a:ext cx="99922" cy="99922"/>
          </a:xfrm>
          <a:prstGeom prst="rect">
            <a:avLst/>
          </a:prstGeom>
          <a:solidFill>
            <a:srgbClr val="111111"/>
          </a:solidFill>
          <a:ln>
            <a:noFill/>
          </a:ln>
        </p:spPr>
      </p:sp>
      <p:sp>
        <p:nvSpPr>
          <p:cNvPr id="66" name="rect 66"/>
          <p:cNvSpPr/>
          <p:nvPr/>
        </p:nvSpPr>
        <p:spPr>
          <a:xfrm>
            <a:off x="13456997" y="3702242"/>
            <a:ext cx="99922" cy="99922"/>
          </a:xfrm>
          <a:prstGeom prst="rect">
            <a:avLst/>
          </a:prstGeom>
          <a:solidFill>
            <a:srgbClr val="111111"/>
          </a:solidFill>
          <a:ln>
            <a:noFill/>
          </a:ln>
        </p:spPr>
      </p:sp>
      <p:sp>
        <p:nvSpPr>
          <p:cNvPr id="67" name="rect 67"/>
          <p:cNvSpPr/>
          <p:nvPr/>
        </p:nvSpPr>
        <p:spPr>
          <a:xfrm>
            <a:off x="13555903" y="3702242"/>
            <a:ext cx="99922" cy="99922"/>
          </a:xfrm>
          <a:prstGeom prst="rect">
            <a:avLst/>
          </a:prstGeom>
          <a:solidFill>
            <a:srgbClr val="111111"/>
          </a:solidFill>
          <a:ln>
            <a:noFill/>
          </a:ln>
        </p:spPr>
      </p:sp>
      <p:sp>
        <p:nvSpPr>
          <p:cNvPr id="68" name="rect 68"/>
          <p:cNvSpPr/>
          <p:nvPr/>
        </p:nvSpPr>
        <p:spPr>
          <a:xfrm>
            <a:off x="13654809" y="3702242"/>
            <a:ext cx="99922" cy="99922"/>
          </a:xfrm>
          <a:prstGeom prst="rect">
            <a:avLst/>
          </a:prstGeom>
          <a:solidFill>
            <a:srgbClr val="111111"/>
          </a:solidFill>
          <a:ln>
            <a:noFill/>
          </a:ln>
        </p:spPr>
      </p:sp>
      <p:sp>
        <p:nvSpPr>
          <p:cNvPr id="69" name="rect 69"/>
          <p:cNvSpPr/>
          <p:nvPr/>
        </p:nvSpPr>
        <p:spPr>
          <a:xfrm>
            <a:off x="13753715" y="3702242"/>
            <a:ext cx="99922" cy="99922"/>
          </a:xfrm>
          <a:prstGeom prst="rect">
            <a:avLst/>
          </a:prstGeom>
          <a:solidFill>
            <a:srgbClr val="111111"/>
          </a:solidFill>
          <a:ln>
            <a:noFill/>
          </a:ln>
        </p:spPr>
      </p:sp>
      <p:sp>
        <p:nvSpPr>
          <p:cNvPr id="70" name="rect 70"/>
          <p:cNvSpPr/>
          <p:nvPr/>
        </p:nvSpPr>
        <p:spPr>
          <a:xfrm>
            <a:off x="14050433" y="3702242"/>
            <a:ext cx="99922" cy="99922"/>
          </a:xfrm>
          <a:prstGeom prst="rect">
            <a:avLst/>
          </a:prstGeom>
          <a:solidFill>
            <a:srgbClr val="111111"/>
          </a:solidFill>
          <a:ln>
            <a:noFill/>
          </a:ln>
        </p:spPr>
      </p:sp>
      <p:sp>
        <p:nvSpPr>
          <p:cNvPr id="71" name="rect 71"/>
          <p:cNvSpPr/>
          <p:nvPr/>
        </p:nvSpPr>
        <p:spPr>
          <a:xfrm>
            <a:off x="14248245" y="3702242"/>
            <a:ext cx="99922" cy="99922"/>
          </a:xfrm>
          <a:prstGeom prst="rect">
            <a:avLst/>
          </a:prstGeom>
          <a:solidFill>
            <a:srgbClr val="111111"/>
          </a:solidFill>
          <a:ln>
            <a:noFill/>
          </a:ln>
        </p:spPr>
      </p:sp>
      <p:sp>
        <p:nvSpPr>
          <p:cNvPr id="72" name="rect 72"/>
          <p:cNvSpPr/>
          <p:nvPr/>
        </p:nvSpPr>
        <p:spPr>
          <a:xfrm>
            <a:off x="14347152" y="3702242"/>
            <a:ext cx="99922" cy="99922"/>
          </a:xfrm>
          <a:prstGeom prst="rect">
            <a:avLst/>
          </a:prstGeom>
          <a:solidFill>
            <a:srgbClr val="111111"/>
          </a:solidFill>
          <a:ln>
            <a:noFill/>
          </a:ln>
        </p:spPr>
      </p:sp>
      <p:sp>
        <p:nvSpPr>
          <p:cNvPr id="73" name="rect 73"/>
          <p:cNvSpPr/>
          <p:nvPr/>
        </p:nvSpPr>
        <p:spPr>
          <a:xfrm>
            <a:off x="14446058" y="3702242"/>
            <a:ext cx="99922" cy="99922"/>
          </a:xfrm>
          <a:prstGeom prst="rect">
            <a:avLst/>
          </a:prstGeom>
          <a:solidFill>
            <a:srgbClr val="111111"/>
          </a:solidFill>
          <a:ln>
            <a:noFill/>
          </a:ln>
        </p:spPr>
      </p:sp>
      <p:sp>
        <p:nvSpPr>
          <p:cNvPr id="74" name="rect 74"/>
          <p:cNvSpPr/>
          <p:nvPr/>
        </p:nvSpPr>
        <p:spPr>
          <a:xfrm>
            <a:off x="14643870" y="3702242"/>
            <a:ext cx="99922" cy="99922"/>
          </a:xfrm>
          <a:prstGeom prst="rect">
            <a:avLst/>
          </a:prstGeom>
          <a:solidFill>
            <a:srgbClr val="111111"/>
          </a:solidFill>
          <a:ln>
            <a:noFill/>
          </a:ln>
        </p:spPr>
      </p:sp>
      <p:sp>
        <p:nvSpPr>
          <p:cNvPr id="75" name="rect 75"/>
          <p:cNvSpPr/>
          <p:nvPr/>
        </p:nvSpPr>
        <p:spPr>
          <a:xfrm>
            <a:off x="12270124" y="3801148"/>
            <a:ext cx="99922" cy="99922"/>
          </a:xfrm>
          <a:prstGeom prst="rect">
            <a:avLst/>
          </a:prstGeom>
          <a:solidFill>
            <a:srgbClr val="111111"/>
          </a:solidFill>
          <a:ln>
            <a:noFill/>
          </a:ln>
        </p:spPr>
      </p:sp>
      <p:sp>
        <p:nvSpPr>
          <p:cNvPr id="76" name="rect 76"/>
          <p:cNvSpPr/>
          <p:nvPr/>
        </p:nvSpPr>
        <p:spPr>
          <a:xfrm>
            <a:off x="12467936" y="3801148"/>
            <a:ext cx="99922" cy="99922"/>
          </a:xfrm>
          <a:prstGeom prst="rect">
            <a:avLst/>
          </a:prstGeom>
          <a:solidFill>
            <a:srgbClr val="111111"/>
          </a:solidFill>
          <a:ln>
            <a:noFill/>
          </a:ln>
        </p:spPr>
      </p:sp>
      <p:sp>
        <p:nvSpPr>
          <p:cNvPr id="77" name="rect 77"/>
          <p:cNvSpPr/>
          <p:nvPr/>
        </p:nvSpPr>
        <p:spPr>
          <a:xfrm>
            <a:off x="12566842" y="3801148"/>
            <a:ext cx="99922" cy="99922"/>
          </a:xfrm>
          <a:prstGeom prst="rect">
            <a:avLst/>
          </a:prstGeom>
          <a:solidFill>
            <a:srgbClr val="111111"/>
          </a:solidFill>
          <a:ln>
            <a:noFill/>
          </a:ln>
        </p:spPr>
      </p:sp>
      <p:sp>
        <p:nvSpPr>
          <p:cNvPr id="78" name="rect 78"/>
          <p:cNvSpPr/>
          <p:nvPr/>
        </p:nvSpPr>
        <p:spPr>
          <a:xfrm>
            <a:off x="12665748" y="3801148"/>
            <a:ext cx="99922" cy="99922"/>
          </a:xfrm>
          <a:prstGeom prst="rect">
            <a:avLst/>
          </a:prstGeom>
          <a:solidFill>
            <a:srgbClr val="111111"/>
          </a:solidFill>
          <a:ln>
            <a:noFill/>
          </a:ln>
        </p:spPr>
      </p:sp>
      <p:sp>
        <p:nvSpPr>
          <p:cNvPr id="79" name="rect 79"/>
          <p:cNvSpPr/>
          <p:nvPr/>
        </p:nvSpPr>
        <p:spPr>
          <a:xfrm>
            <a:off x="12863561" y="3801148"/>
            <a:ext cx="99922" cy="99922"/>
          </a:xfrm>
          <a:prstGeom prst="rect">
            <a:avLst/>
          </a:prstGeom>
          <a:solidFill>
            <a:srgbClr val="111111"/>
          </a:solidFill>
          <a:ln>
            <a:noFill/>
          </a:ln>
        </p:spPr>
      </p:sp>
      <p:sp>
        <p:nvSpPr>
          <p:cNvPr id="80" name="rect 80"/>
          <p:cNvSpPr/>
          <p:nvPr/>
        </p:nvSpPr>
        <p:spPr>
          <a:xfrm>
            <a:off x="13160279" y="3801148"/>
            <a:ext cx="99922" cy="99922"/>
          </a:xfrm>
          <a:prstGeom prst="rect">
            <a:avLst/>
          </a:prstGeom>
          <a:solidFill>
            <a:srgbClr val="111111"/>
          </a:solidFill>
          <a:ln>
            <a:noFill/>
          </a:ln>
        </p:spPr>
      </p:sp>
      <p:sp>
        <p:nvSpPr>
          <p:cNvPr id="81" name="rect 81"/>
          <p:cNvSpPr/>
          <p:nvPr/>
        </p:nvSpPr>
        <p:spPr>
          <a:xfrm>
            <a:off x="13852621" y="3801148"/>
            <a:ext cx="99922" cy="99922"/>
          </a:xfrm>
          <a:prstGeom prst="rect">
            <a:avLst/>
          </a:prstGeom>
          <a:solidFill>
            <a:srgbClr val="111111"/>
          </a:solidFill>
          <a:ln>
            <a:noFill/>
          </a:ln>
        </p:spPr>
      </p:sp>
      <p:sp>
        <p:nvSpPr>
          <p:cNvPr id="82" name="rect 82"/>
          <p:cNvSpPr/>
          <p:nvPr/>
        </p:nvSpPr>
        <p:spPr>
          <a:xfrm>
            <a:off x="14050433" y="3801148"/>
            <a:ext cx="99922" cy="99922"/>
          </a:xfrm>
          <a:prstGeom prst="rect">
            <a:avLst/>
          </a:prstGeom>
          <a:solidFill>
            <a:srgbClr val="111111"/>
          </a:solidFill>
          <a:ln>
            <a:noFill/>
          </a:ln>
        </p:spPr>
      </p:sp>
      <p:sp>
        <p:nvSpPr>
          <p:cNvPr id="83" name="rect 83"/>
          <p:cNvSpPr/>
          <p:nvPr/>
        </p:nvSpPr>
        <p:spPr>
          <a:xfrm>
            <a:off x="14248245" y="3801148"/>
            <a:ext cx="99922" cy="99922"/>
          </a:xfrm>
          <a:prstGeom prst="rect">
            <a:avLst/>
          </a:prstGeom>
          <a:solidFill>
            <a:srgbClr val="111111"/>
          </a:solidFill>
          <a:ln>
            <a:noFill/>
          </a:ln>
        </p:spPr>
      </p:sp>
      <p:sp>
        <p:nvSpPr>
          <p:cNvPr id="84" name="rect 84"/>
          <p:cNvSpPr/>
          <p:nvPr/>
        </p:nvSpPr>
        <p:spPr>
          <a:xfrm>
            <a:off x="14347152" y="3801148"/>
            <a:ext cx="99922" cy="99922"/>
          </a:xfrm>
          <a:prstGeom prst="rect">
            <a:avLst/>
          </a:prstGeom>
          <a:solidFill>
            <a:srgbClr val="111111"/>
          </a:solidFill>
          <a:ln>
            <a:noFill/>
          </a:ln>
        </p:spPr>
      </p:sp>
      <p:sp>
        <p:nvSpPr>
          <p:cNvPr id="85" name="rect 85"/>
          <p:cNvSpPr/>
          <p:nvPr/>
        </p:nvSpPr>
        <p:spPr>
          <a:xfrm>
            <a:off x="14446058" y="3801148"/>
            <a:ext cx="99922" cy="99922"/>
          </a:xfrm>
          <a:prstGeom prst="rect">
            <a:avLst/>
          </a:prstGeom>
          <a:solidFill>
            <a:srgbClr val="111111"/>
          </a:solidFill>
          <a:ln>
            <a:noFill/>
          </a:ln>
        </p:spPr>
      </p:sp>
      <p:sp>
        <p:nvSpPr>
          <p:cNvPr id="86" name="rect 86"/>
          <p:cNvSpPr/>
          <p:nvPr/>
        </p:nvSpPr>
        <p:spPr>
          <a:xfrm>
            <a:off x="14643870" y="3801148"/>
            <a:ext cx="99922" cy="99922"/>
          </a:xfrm>
          <a:prstGeom prst="rect">
            <a:avLst/>
          </a:prstGeom>
          <a:solidFill>
            <a:srgbClr val="111111"/>
          </a:solidFill>
          <a:ln>
            <a:noFill/>
          </a:ln>
        </p:spPr>
      </p:sp>
      <p:sp>
        <p:nvSpPr>
          <p:cNvPr id="87" name="rect 87"/>
          <p:cNvSpPr/>
          <p:nvPr/>
        </p:nvSpPr>
        <p:spPr>
          <a:xfrm>
            <a:off x="12270124" y="3900055"/>
            <a:ext cx="99922" cy="99922"/>
          </a:xfrm>
          <a:prstGeom prst="rect">
            <a:avLst/>
          </a:prstGeom>
          <a:solidFill>
            <a:srgbClr val="111111"/>
          </a:solidFill>
          <a:ln>
            <a:noFill/>
          </a:ln>
        </p:spPr>
      </p:sp>
      <p:sp>
        <p:nvSpPr>
          <p:cNvPr id="88" name="rect 88"/>
          <p:cNvSpPr/>
          <p:nvPr/>
        </p:nvSpPr>
        <p:spPr>
          <a:xfrm>
            <a:off x="12863561" y="3900055"/>
            <a:ext cx="99922" cy="99922"/>
          </a:xfrm>
          <a:prstGeom prst="rect">
            <a:avLst/>
          </a:prstGeom>
          <a:solidFill>
            <a:srgbClr val="111111"/>
          </a:solidFill>
          <a:ln>
            <a:noFill/>
          </a:ln>
        </p:spPr>
      </p:sp>
      <p:sp>
        <p:nvSpPr>
          <p:cNvPr id="89" name="rect 89"/>
          <p:cNvSpPr/>
          <p:nvPr/>
        </p:nvSpPr>
        <p:spPr>
          <a:xfrm>
            <a:off x="13061373" y="3900055"/>
            <a:ext cx="99922" cy="99922"/>
          </a:xfrm>
          <a:prstGeom prst="rect">
            <a:avLst/>
          </a:prstGeom>
          <a:solidFill>
            <a:srgbClr val="111111"/>
          </a:solidFill>
          <a:ln>
            <a:noFill/>
          </a:ln>
        </p:spPr>
      </p:sp>
      <p:sp>
        <p:nvSpPr>
          <p:cNvPr id="90" name="rect 90"/>
          <p:cNvSpPr/>
          <p:nvPr/>
        </p:nvSpPr>
        <p:spPr>
          <a:xfrm>
            <a:off x="13160279" y="3900055"/>
            <a:ext cx="99922" cy="99922"/>
          </a:xfrm>
          <a:prstGeom prst="rect">
            <a:avLst/>
          </a:prstGeom>
          <a:solidFill>
            <a:srgbClr val="111111"/>
          </a:solidFill>
          <a:ln>
            <a:noFill/>
          </a:ln>
        </p:spPr>
      </p:sp>
      <p:sp>
        <p:nvSpPr>
          <p:cNvPr id="91" name="rect 91"/>
          <p:cNvSpPr/>
          <p:nvPr/>
        </p:nvSpPr>
        <p:spPr>
          <a:xfrm>
            <a:off x="13358091" y="3900055"/>
            <a:ext cx="99922" cy="99922"/>
          </a:xfrm>
          <a:prstGeom prst="rect">
            <a:avLst/>
          </a:prstGeom>
          <a:solidFill>
            <a:srgbClr val="111111"/>
          </a:solidFill>
          <a:ln>
            <a:noFill/>
          </a:ln>
        </p:spPr>
      </p:sp>
      <p:sp>
        <p:nvSpPr>
          <p:cNvPr id="92" name="rect 92"/>
          <p:cNvSpPr/>
          <p:nvPr/>
        </p:nvSpPr>
        <p:spPr>
          <a:xfrm>
            <a:off x="13456997" y="3900055"/>
            <a:ext cx="99922" cy="99922"/>
          </a:xfrm>
          <a:prstGeom prst="rect">
            <a:avLst/>
          </a:prstGeom>
          <a:solidFill>
            <a:srgbClr val="111111"/>
          </a:solidFill>
          <a:ln>
            <a:noFill/>
          </a:ln>
        </p:spPr>
      </p:sp>
      <p:sp>
        <p:nvSpPr>
          <p:cNvPr id="93" name="rect 93"/>
          <p:cNvSpPr/>
          <p:nvPr/>
        </p:nvSpPr>
        <p:spPr>
          <a:xfrm>
            <a:off x="13753715" y="3900055"/>
            <a:ext cx="99922" cy="99922"/>
          </a:xfrm>
          <a:prstGeom prst="rect">
            <a:avLst/>
          </a:prstGeom>
          <a:solidFill>
            <a:srgbClr val="111111"/>
          </a:solidFill>
          <a:ln>
            <a:noFill/>
          </a:ln>
        </p:spPr>
      </p:sp>
      <p:sp>
        <p:nvSpPr>
          <p:cNvPr id="94" name="rect 94"/>
          <p:cNvSpPr/>
          <p:nvPr/>
        </p:nvSpPr>
        <p:spPr>
          <a:xfrm>
            <a:off x="14050433" y="3900055"/>
            <a:ext cx="99922" cy="99922"/>
          </a:xfrm>
          <a:prstGeom prst="rect">
            <a:avLst/>
          </a:prstGeom>
          <a:solidFill>
            <a:srgbClr val="111111"/>
          </a:solidFill>
          <a:ln>
            <a:noFill/>
          </a:ln>
        </p:spPr>
      </p:sp>
      <p:sp>
        <p:nvSpPr>
          <p:cNvPr id="95" name="rect 95"/>
          <p:cNvSpPr/>
          <p:nvPr/>
        </p:nvSpPr>
        <p:spPr>
          <a:xfrm>
            <a:off x="14643870" y="3900055"/>
            <a:ext cx="99922" cy="99922"/>
          </a:xfrm>
          <a:prstGeom prst="rect">
            <a:avLst/>
          </a:prstGeom>
          <a:solidFill>
            <a:srgbClr val="111111"/>
          </a:solidFill>
          <a:ln>
            <a:noFill/>
          </a:ln>
        </p:spPr>
      </p:sp>
      <p:sp>
        <p:nvSpPr>
          <p:cNvPr id="96" name="rect 96"/>
          <p:cNvSpPr/>
          <p:nvPr/>
        </p:nvSpPr>
        <p:spPr>
          <a:xfrm>
            <a:off x="12270124" y="3998961"/>
            <a:ext cx="99922" cy="99922"/>
          </a:xfrm>
          <a:prstGeom prst="rect">
            <a:avLst/>
          </a:prstGeom>
          <a:solidFill>
            <a:srgbClr val="111111"/>
          </a:solidFill>
          <a:ln>
            <a:noFill/>
          </a:ln>
        </p:spPr>
      </p:sp>
      <p:sp>
        <p:nvSpPr>
          <p:cNvPr id="97" name="rect 97"/>
          <p:cNvSpPr/>
          <p:nvPr/>
        </p:nvSpPr>
        <p:spPr>
          <a:xfrm>
            <a:off x="12369030" y="3998961"/>
            <a:ext cx="99922" cy="99922"/>
          </a:xfrm>
          <a:prstGeom prst="rect">
            <a:avLst/>
          </a:prstGeom>
          <a:solidFill>
            <a:srgbClr val="111111"/>
          </a:solidFill>
          <a:ln>
            <a:noFill/>
          </a:ln>
        </p:spPr>
      </p:sp>
      <p:sp>
        <p:nvSpPr>
          <p:cNvPr id="98" name="rect 98"/>
          <p:cNvSpPr/>
          <p:nvPr/>
        </p:nvSpPr>
        <p:spPr>
          <a:xfrm>
            <a:off x="12467936" y="3998961"/>
            <a:ext cx="99922" cy="99922"/>
          </a:xfrm>
          <a:prstGeom prst="rect">
            <a:avLst/>
          </a:prstGeom>
          <a:solidFill>
            <a:srgbClr val="111111"/>
          </a:solidFill>
          <a:ln>
            <a:noFill/>
          </a:ln>
        </p:spPr>
      </p:sp>
      <p:sp>
        <p:nvSpPr>
          <p:cNvPr id="99" name="rect 99"/>
          <p:cNvSpPr/>
          <p:nvPr/>
        </p:nvSpPr>
        <p:spPr>
          <a:xfrm>
            <a:off x="12566842" y="3998961"/>
            <a:ext cx="99922" cy="99922"/>
          </a:xfrm>
          <a:prstGeom prst="rect">
            <a:avLst/>
          </a:prstGeom>
          <a:solidFill>
            <a:srgbClr val="111111"/>
          </a:solidFill>
          <a:ln>
            <a:noFill/>
          </a:ln>
        </p:spPr>
      </p:sp>
      <p:sp>
        <p:nvSpPr>
          <p:cNvPr id="100" name="rect 100"/>
          <p:cNvSpPr/>
          <p:nvPr/>
        </p:nvSpPr>
        <p:spPr>
          <a:xfrm>
            <a:off x="12665748" y="3998961"/>
            <a:ext cx="99922" cy="99922"/>
          </a:xfrm>
          <a:prstGeom prst="rect">
            <a:avLst/>
          </a:prstGeom>
          <a:solidFill>
            <a:srgbClr val="111111"/>
          </a:solidFill>
          <a:ln>
            <a:noFill/>
          </a:ln>
        </p:spPr>
      </p:sp>
      <p:sp>
        <p:nvSpPr>
          <p:cNvPr id="101" name="rect 101"/>
          <p:cNvSpPr/>
          <p:nvPr/>
        </p:nvSpPr>
        <p:spPr>
          <a:xfrm>
            <a:off x="12764655" y="3998961"/>
            <a:ext cx="99922" cy="99922"/>
          </a:xfrm>
          <a:prstGeom prst="rect">
            <a:avLst/>
          </a:prstGeom>
          <a:solidFill>
            <a:srgbClr val="111111"/>
          </a:solidFill>
          <a:ln>
            <a:noFill/>
          </a:ln>
        </p:spPr>
      </p:sp>
      <p:sp>
        <p:nvSpPr>
          <p:cNvPr id="102" name="rect 102"/>
          <p:cNvSpPr/>
          <p:nvPr/>
        </p:nvSpPr>
        <p:spPr>
          <a:xfrm>
            <a:off x="12863561" y="3998961"/>
            <a:ext cx="99922" cy="99922"/>
          </a:xfrm>
          <a:prstGeom prst="rect">
            <a:avLst/>
          </a:prstGeom>
          <a:solidFill>
            <a:srgbClr val="111111"/>
          </a:solidFill>
          <a:ln>
            <a:noFill/>
          </a:ln>
        </p:spPr>
      </p:sp>
      <p:sp>
        <p:nvSpPr>
          <p:cNvPr id="103" name="rect 103"/>
          <p:cNvSpPr/>
          <p:nvPr/>
        </p:nvSpPr>
        <p:spPr>
          <a:xfrm>
            <a:off x="13061373" y="3998961"/>
            <a:ext cx="99922" cy="99922"/>
          </a:xfrm>
          <a:prstGeom prst="rect">
            <a:avLst/>
          </a:prstGeom>
          <a:solidFill>
            <a:srgbClr val="111111"/>
          </a:solidFill>
          <a:ln>
            <a:noFill/>
          </a:ln>
        </p:spPr>
      </p:sp>
      <p:sp>
        <p:nvSpPr>
          <p:cNvPr id="104" name="rect 104"/>
          <p:cNvSpPr/>
          <p:nvPr/>
        </p:nvSpPr>
        <p:spPr>
          <a:xfrm>
            <a:off x="13259185" y="3998961"/>
            <a:ext cx="99922" cy="99922"/>
          </a:xfrm>
          <a:prstGeom prst="rect">
            <a:avLst/>
          </a:prstGeom>
          <a:solidFill>
            <a:srgbClr val="111111"/>
          </a:solidFill>
          <a:ln>
            <a:noFill/>
          </a:ln>
        </p:spPr>
      </p:sp>
      <p:sp>
        <p:nvSpPr>
          <p:cNvPr id="105" name="rect 105"/>
          <p:cNvSpPr/>
          <p:nvPr/>
        </p:nvSpPr>
        <p:spPr>
          <a:xfrm>
            <a:off x="13456997" y="3998961"/>
            <a:ext cx="99922" cy="99922"/>
          </a:xfrm>
          <a:prstGeom prst="rect">
            <a:avLst/>
          </a:prstGeom>
          <a:solidFill>
            <a:srgbClr val="111111"/>
          </a:solidFill>
          <a:ln>
            <a:noFill/>
          </a:ln>
        </p:spPr>
      </p:sp>
      <p:sp>
        <p:nvSpPr>
          <p:cNvPr id="106" name="rect 106"/>
          <p:cNvSpPr/>
          <p:nvPr/>
        </p:nvSpPr>
        <p:spPr>
          <a:xfrm>
            <a:off x="13654809" y="3998961"/>
            <a:ext cx="99922" cy="99922"/>
          </a:xfrm>
          <a:prstGeom prst="rect">
            <a:avLst/>
          </a:prstGeom>
          <a:solidFill>
            <a:srgbClr val="111111"/>
          </a:solidFill>
          <a:ln>
            <a:noFill/>
          </a:ln>
        </p:spPr>
      </p:sp>
      <p:sp>
        <p:nvSpPr>
          <p:cNvPr id="107" name="rect 107"/>
          <p:cNvSpPr/>
          <p:nvPr/>
        </p:nvSpPr>
        <p:spPr>
          <a:xfrm>
            <a:off x="13852621" y="3998961"/>
            <a:ext cx="99922" cy="99922"/>
          </a:xfrm>
          <a:prstGeom prst="rect">
            <a:avLst/>
          </a:prstGeom>
          <a:solidFill>
            <a:srgbClr val="111111"/>
          </a:solidFill>
          <a:ln>
            <a:noFill/>
          </a:ln>
        </p:spPr>
      </p:sp>
      <p:sp>
        <p:nvSpPr>
          <p:cNvPr id="108" name="rect 108"/>
          <p:cNvSpPr/>
          <p:nvPr/>
        </p:nvSpPr>
        <p:spPr>
          <a:xfrm>
            <a:off x="14050433" y="3998961"/>
            <a:ext cx="99922" cy="99922"/>
          </a:xfrm>
          <a:prstGeom prst="rect">
            <a:avLst/>
          </a:prstGeom>
          <a:solidFill>
            <a:srgbClr val="111111"/>
          </a:solidFill>
          <a:ln>
            <a:noFill/>
          </a:ln>
        </p:spPr>
      </p:sp>
      <p:sp>
        <p:nvSpPr>
          <p:cNvPr id="109" name="rect 109"/>
          <p:cNvSpPr/>
          <p:nvPr/>
        </p:nvSpPr>
        <p:spPr>
          <a:xfrm>
            <a:off x="14149339" y="3998961"/>
            <a:ext cx="99922" cy="99922"/>
          </a:xfrm>
          <a:prstGeom prst="rect">
            <a:avLst/>
          </a:prstGeom>
          <a:solidFill>
            <a:srgbClr val="111111"/>
          </a:solidFill>
          <a:ln>
            <a:noFill/>
          </a:ln>
        </p:spPr>
      </p:sp>
      <p:sp>
        <p:nvSpPr>
          <p:cNvPr id="110" name="rect 110"/>
          <p:cNvSpPr/>
          <p:nvPr/>
        </p:nvSpPr>
        <p:spPr>
          <a:xfrm>
            <a:off x="14248245" y="3998961"/>
            <a:ext cx="99922" cy="99922"/>
          </a:xfrm>
          <a:prstGeom prst="rect">
            <a:avLst/>
          </a:prstGeom>
          <a:solidFill>
            <a:srgbClr val="111111"/>
          </a:solidFill>
          <a:ln>
            <a:noFill/>
          </a:ln>
        </p:spPr>
      </p:sp>
      <p:sp>
        <p:nvSpPr>
          <p:cNvPr id="111" name="rect 111"/>
          <p:cNvSpPr/>
          <p:nvPr/>
        </p:nvSpPr>
        <p:spPr>
          <a:xfrm>
            <a:off x="14347152" y="3998961"/>
            <a:ext cx="99922" cy="99922"/>
          </a:xfrm>
          <a:prstGeom prst="rect">
            <a:avLst/>
          </a:prstGeom>
          <a:solidFill>
            <a:srgbClr val="111111"/>
          </a:solidFill>
          <a:ln>
            <a:noFill/>
          </a:ln>
        </p:spPr>
      </p:sp>
      <p:sp>
        <p:nvSpPr>
          <p:cNvPr id="112" name="rect 112"/>
          <p:cNvSpPr/>
          <p:nvPr/>
        </p:nvSpPr>
        <p:spPr>
          <a:xfrm>
            <a:off x="14446058" y="3998961"/>
            <a:ext cx="99922" cy="99922"/>
          </a:xfrm>
          <a:prstGeom prst="rect">
            <a:avLst/>
          </a:prstGeom>
          <a:solidFill>
            <a:srgbClr val="111111"/>
          </a:solidFill>
          <a:ln>
            <a:noFill/>
          </a:ln>
        </p:spPr>
      </p:sp>
      <p:sp>
        <p:nvSpPr>
          <p:cNvPr id="113" name="rect 113"/>
          <p:cNvSpPr/>
          <p:nvPr/>
        </p:nvSpPr>
        <p:spPr>
          <a:xfrm>
            <a:off x="14544964" y="3998961"/>
            <a:ext cx="99922" cy="99922"/>
          </a:xfrm>
          <a:prstGeom prst="rect">
            <a:avLst/>
          </a:prstGeom>
          <a:solidFill>
            <a:srgbClr val="111111"/>
          </a:solidFill>
          <a:ln>
            <a:noFill/>
          </a:ln>
        </p:spPr>
      </p:sp>
      <p:sp>
        <p:nvSpPr>
          <p:cNvPr id="114" name="rect 114"/>
          <p:cNvSpPr/>
          <p:nvPr/>
        </p:nvSpPr>
        <p:spPr>
          <a:xfrm>
            <a:off x="14643870" y="3998961"/>
            <a:ext cx="99922" cy="99922"/>
          </a:xfrm>
          <a:prstGeom prst="rect">
            <a:avLst/>
          </a:prstGeom>
          <a:solidFill>
            <a:srgbClr val="111111"/>
          </a:solidFill>
          <a:ln>
            <a:noFill/>
          </a:ln>
        </p:spPr>
      </p:sp>
      <p:sp>
        <p:nvSpPr>
          <p:cNvPr id="115" name="rect 115"/>
          <p:cNvSpPr/>
          <p:nvPr/>
        </p:nvSpPr>
        <p:spPr>
          <a:xfrm>
            <a:off x="13160279" y="4097867"/>
            <a:ext cx="99922" cy="99922"/>
          </a:xfrm>
          <a:prstGeom prst="rect">
            <a:avLst/>
          </a:prstGeom>
          <a:solidFill>
            <a:srgbClr val="111111"/>
          </a:solidFill>
          <a:ln>
            <a:noFill/>
          </a:ln>
        </p:spPr>
      </p:sp>
      <p:sp>
        <p:nvSpPr>
          <p:cNvPr id="116" name="rect 116"/>
          <p:cNvSpPr/>
          <p:nvPr/>
        </p:nvSpPr>
        <p:spPr>
          <a:xfrm>
            <a:off x="13259185" y="4097867"/>
            <a:ext cx="99922" cy="99922"/>
          </a:xfrm>
          <a:prstGeom prst="rect">
            <a:avLst/>
          </a:prstGeom>
          <a:solidFill>
            <a:srgbClr val="111111"/>
          </a:solidFill>
          <a:ln>
            <a:noFill/>
          </a:ln>
        </p:spPr>
      </p:sp>
      <p:sp>
        <p:nvSpPr>
          <p:cNvPr id="117" name="rect 117"/>
          <p:cNvSpPr/>
          <p:nvPr/>
        </p:nvSpPr>
        <p:spPr>
          <a:xfrm>
            <a:off x="13358091" y="4097867"/>
            <a:ext cx="99922" cy="99922"/>
          </a:xfrm>
          <a:prstGeom prst="rect">
            <a:avLst/>
          </a:prstGeom>
          <a:solidFill>
            <a:srgbClr val="111111"/>
          </a:solidFill>
          <a:ln>
            <a:noFill/>
          </a:ln>
        </p:spPr>
      </p:sp>
      <p:sp>
        <p:nvSpPr>
          <p:cNvPr id="118" name="rect 118"/>
          <p:cNvSpPr/>
          <p:nvPr/>
        </p:nvSpPr>
        <p:spPr>
          <a:xfrm>
            <a:off x="13654809" y="4097867"/>
            <a:ext cx="99922" cy="99922"/>
          </a:xfrm>
          <a:prstGeom prst="rect">
            <a:avLst/>
          </a:prstGeom>
          <a:solidFill>
            <a:srgbClr val="111111"/>
          </a:solidFill>
          <a:ln>
            <a:noFill/>
          </a:ln>
        </p:spPr>
      </p:sp>
      <p:sp>
        <p:nvSpPr>
          <p:cNvPr id="119" name="rect 119"/>
          <p:cNvSpPr/>
          <p:nvPr/>
        </p:nvSpPr>
        <p:spPr>
          <a:xfrm>
            <a:off x="13852621" y="4097867"/>
            <a:ext cx="99922" cy="99922"/>
          </a:xfrm>
          <a:prstGeom prst="rect">
            <a:avLst/>
          </a:prstGeom>
          <a:solidFill>
            <a:srgbClr val="111111"/>
          </a:solidFill>
          <a:ln>
            <a:noFill/>
          </a:ln>
        </p:spPr>
      </p:sp>
      <p:sp>
        <p:nvSpPr>
          <p:cNvPr id="120" name="rect 120"/>
          <p:cNvSpPr/>
          <p:nvPr/>
        </p:nvSpPr>
        <p:spPr>
          <a:xfrm>
            <a:off x="12270124" y="4196773"/>
            <a:ext cx="99922" cy="99922"/>
          </a:xfrm>
          <a:prstGeom prst="rect">
            <a:avLst/>
          </a:prstGeom>
          <a:solidFill>
            <a:srgbClr val="111111"/>
          </a:solidFill>
          <a:ln>
            <a:noFill/>
          </a:ln>
        </p:spPr>
      </p:sp>
      <p:sp>
        <p:nvSpPr>
          <p:cNvPr id="121" name="rect 121"/>
          <p:cNvSpPr/>
          <p:nvPr/>
        </p:nvSpPr>
        <p:spPr>
          <a:xfrm>
            <a:off x="12369030" y="4196773"/>
            <a:ext cx="99922" cy="99922"/>
          </a:xfrm>
          <a:prstGeom prst="rect">
            <a:avLst/>
          </a:prstGeom>
          <a:solidFill>
            <a:srgbClr val="111111"/>
          </a:solidFill>
          <a:ln>
            <a:noFill/>
          </a:ln>
        </p:spPr>
      </p:sp>
      <p:sp>
        <p:nvSpPr>
          <p:cNvPr id="122" name="rect 122"/>
          <p:cNvSpPr/>
          <p:nvPr/>
        </p:nvSpPr>
        <p:spPr>
          <a:xfrm>
            <a:off x="12467936" y="4196773"/>
            <a:ext cx="99922" cy="99922"/>
          </a:xfrm>
          <a:prstGeom prst="rect">
            <a:avLst/>
          </a:prstGeom>
          <a:solidFill>
            <a:srgbClr val="111111"/>
          </a:solidFill>
          <a:ln>
            <a:noFill/>
          </a:ln>
        </p:spPr>
      </p:sp>
      <p:sp>
        <p:nvSpPr>
          <p:cNvPr id="123" name="rect 123"/>
          <p:cNvSpPr/>
          <p:nvPr/>
        </p:nvSpPr>
        <p:spPr>
          <a:xfrm>
            <a:off x="12566842" y="4196773"/>
            <a:ext cx="99922" cy="99922"/>
          </a:xfrm>
          <a:prstGeom prst="rect">
            <a:avLst/>
          </a:prstGeom>
          <a:solidFill>
            <a:srgbClr val="111111"/>
          </a:solidFill>
          <a:ln>
            <a:noFill/>
          </a:ln>
        </p:spPr>
      </p:sp>
      <p:sp>
        <p:nvSpPr>
          <p:cNvPr id="124" name="rect 124"/>
          <p:cNvSpPr/>
          <p:nvPr/>
        </p:nvSpPr>
        <p:spPr>
          <a:xfrm>
            <a:off x="12665748" y="4196773"/>
            <a:ext cx="99922" cy="99922"/>
          </a:xfrm>
          <a:prstGeom prst="rect">
            <a:avLst/>
          </a:prstGeom>
          <a:solidFill>
            <a:srgbClr val="111111"/>
          </a:solidFill>
          <a:ln>
            <a:noFill/>
          </a:ln>
        </p:spPr>
      </p:sp>
      <p:sp>
        <p:nvSpPr>
          <p:cNvPr id="125" name="rect 125"/>
          <p:cNvSpPr/>
          <p:nvPr/>
        </p:nvSpPr>
        <p:spPr>
          <a:xfrm>
            <a:off x="12863561" y="4196773"/>
            <a:ext cx="99922" cy="99922"/>
          </a:xfrm>
          <a:prstGeom prst="rect">
            <a:avLst/>
          </a:prstGeom>
          <a:solidFill>
            <a:srgbClr val="111111"/>
          </a:solidFill>
          <a:ln>
            <a:noFill/>
          </a:ln>
        </p:spPr>
      </p:sp>
      <p:sp>
        <p:nvSpPr>
          <p:cNvPr id="126" name="rect 126"/>
          <p:cNvSpPr/>
          <p:nvPr/>
        </p:nvSpPr>
        <p:spPr>
          <a:xfrm>
            <a:off x="12962467" y="4196773"/>
            <a:ext cx="99922" cy="99922"/>
          </a:xfrm>
          <a:prstGeom prst="rect">
            <a:avLst/>
          </a:prstGeom>
          <a:solidFill>
            <a:srgbClr val="111111"/>
          </a:solidFill>
          <a:ln>
            <a:noFill/>
          </a:ln>
        </p:spPr>
      </p:sp>
      <p:sp>
        <p:nvSpPr>
          <p:cNvPr id="127" name="rect 127"/>
          <p:cNvSpPr/>
          <p:nvPr/>
        </p:nvSpPr>
        <p:spPr>
          <a:xfrm>
            <a:off x="13061373" y="4196773"/>
            <a:ext cx="99922" cy="99922"/>
          </a:xfrm>
          <a:prstGeom prst="rect">
            <a:avLst/>
          </a:prstGeom>
          <a:solidFill>
            <a:srgbClr val="111111"/>
          </a:solidFill>
          <a:ln>
            <a:noFill/>
          </a:ln>
        </p:spPr>
      </p:sp>
      <p:sp>
        <p:nvSpPr>
          <p:cNvPr id="128" name="rect 128"/>
          <p:cNvSpPr/>
          <p:nvPr/>
        </p:nvSpPr>
        <p:spPr>
          <a:xfrm>
            <a:off x="13160279" y="4196773"/>
            <a:ext cx="99922" cy="99922"/>
          </a:xfrm>
          <a:prstGeom prst="rect">
            <a:avLst/>
          </a:prstGeom>
          <a:solidFill>
            <a:srgbClr val="111111"/>
          </a:solidFill>
          <a:ln>
            <a:noFill/>
          </a:ln>
        </p:spPr>
      </p:sp>
      <p:sp>
        <p:nvSpPr>
          <p:cNvPr id="129" name="rect 129"/>
          <p:cNvSpPr/>
          <p:nvPr/>
        </p:nvSpPr>
        <p:spPr>
          <a:xfrm>
            <a:off x="13358091" y="4196773"/>
            <a:ext cx="99922" cy="99922"/>
          </a:xfrm>
          <a:prstGeom prst="rect">
            <a:avLst/>
          </a:prstGeom>
          <a:solidFill>
            <a:srgbClr val="111111"/>
          </a:solidFill>
          <a:ln>
            <a:noFill/>
          </a:ln>
        </p:spPr>
      </p:sp>
      <p:sp>
        <p:nvSpPr>
          <p:cNvPr id="130" name="rect 130"/>
          <p:cNvSpPr/>
          <p:nvPr/>
        </p:nvSpPr>
        <p:spPr>
          <a:xfrm>
            <a:off x="13555903" y="4196773"/>
            <a:ext cx="99922" cy="99922"/>
          </a:xfrm>
          <a:prstGeom prst="rect">
            <a:avLst/>
          </a:prstGeom>
          <a:solidFill>
            <a:srgbClr val="111111"/>
          </a:solidFill>
          <a:ln>
            <a:noFill/>
          </a:ln>
        </p:spPr>
      </p:sp>
      <p:sp>
        <p:nvSpPr>
          <p:cNvPr id="131" name="rect 131"/>
          <p:cNvSpPr/>
          <p:nvPr/>
        </p:nvSpPr>
        <p:spPr>
          <a:xfrm>
            <a:off x="13654809" y="4196773"/>
            <a:ext cx="99922" cy="99922"/>
          </a:xfrm>
          <a:prstGeom prst="rect">
            <a:avLst/>
          </a:prstGeom>
          <a:solidFill>
            <a:srgbClr val="111111"/>
          </a:solidFill>
          <a:ln>
            <a:noFill/>
          </a:ln>
        </p:spPr>
      </p:sp>
      <p:sp>
        <p:nvSpPr>
          <p:cNvPr id="132" name="rect 132"/>
          <p:cNvSpPr/>
          <p:nvPr/>
        </p:nvSpPr>
        <p:spPr>
          <a:xfrm>
            <a:off x="13951527" y="4196773"/>
            <a:ext cx="99922" cy="99922"/>
          </a:xfrm>
          <a:prstGeom prst="rect">
            <a:avLst/>
          </a:prstGeom>
          <a:solidFill>
            <a:srgbClr val="111111"/>
          </a:solidFill>
          <a:ln>
            <a:noFill/>
          </a:ln>
        </p:spPr>
      </p:sp>
      <p:sp>
        <p:nvSpPr>
          <p:cNvPr id="133" name="rect 133"/>
          <p:cNvSpPr/>
          <p:nvPr/>
        </p:nvSpPr>
        <p:spPr>
          <a:xfrm>
            <a:off x="14149339" y="4196773"/>
            <a:ext cx="99922" cy="99922"/>
          </a:xfrm>
          <a:prstGeom prst="rect">
            <a:avLst/>
          </a:prstGeom>
          <a:solidFill>
            <a:srgbClr val="111111"/>
          </a:solidFill>
          <a:ln>
            <a:noFill/>
          </a:ln>
        </p:spPr>
      </p:sp>
      <p:sp>
        <p:nvSpPr>
          <p:cNvPr id="134" name="rect 134"/>
          <p:cNvSpPr/>
          <p:nvPr/>
        </p:nvSpPr>
        <p:spPr>
          <a:xfrm>
            <a:off x="14347152" y="4196773"/>
            <a:ext cx="99922" cy="99922"/>
          </a:xfrm>
          <a:prstGeom prst="rect">
            <a:avLst/>
          </a:prstGeom>
          <a:solidFill>
            <a:srgbClr val="111111"/>
          </a:solidFill>
          <a:ln>
            <a:noFill/>
          </a:ln>
        </p:spPr>
      </p:sp>
      <p:sp>
        <p:nvSpPr>
          <p:cNvPr id="135" name="rect 135"/>
          <p:cNvSpPr/>
          <p:nvPr/>
        </p:nvSpPr>
        <p:spPr>
          <a:xfrm>
            <a:off x="14544964" y="4196773"/>
            <a:ext cx="99922" cy="99922"/>
          </a:xfrm>
          <a:prstGeom prst="rect">
            <a:avLst/>
          </a:prstGeom>
          <a:solidFill>
            <a:srgbClr val="111111"/>
          </a:solidFill>
          <a:ln>
            <a:noFill/>
          </a:ln>
        </p:spPr>
      </p:sp>
      <p:sp>
        <p:nvSpPr>
          <p:cNvPr id="136" name="rect 136"/>
          <p:cNvSpPr/>
          <p:nvPr/>
        </p:nvSpPr>
        <p:spPr>
          <a:xfrm>
            <a:off x="12764655" y="4295679"/>
            <a:ext cx="99922" cy="99922"/>
          </a:xfrm>
          <a:prstGeom prst="rect">
            <a:avLst/>
          </a:prstGeom>
          <a:solidFill>
            <a:srgbClr val="111111"/>
          </a:solidFill>
          <a:ln>
            <a:noFill/>
          </a:ln>
        </p:spPr>
      </p:sp>
      <p:sp>
        <p:nvSpPr>
          <p:cNvPr id="137" name="rect 137"/>
          <p:cNvSpPr/>
          <p:nvPr/>
        </p:nvSpPr>
        <p:spPr>
          <a:xfrm>
            <a:off x="13259185" y="4295679"/>
            <a:ext cx="99922" cy="99922"/>
          </a:xfrm>
          <a:prstGeom prst="rect">
            <a:avLst/>
          </a:prstGeom>
          <a:solidFill>
            <a:srgbClr val="111111"/>
          </a:solidFill>
          <a:ln>
            <a:noFill/>
          </a:ln>
        </p:spPr>
      </p:sp>
      <p:sp>
        <p:nvSpPr>
          <p:cNvPr id="138" name="rect 138"/>
          <p:cNvSpPr/>
          <p:nvPr/>
        </p:nvSpPr>
        <p:spPr>
          <a:xfrm>
            <a:off x="13456997" y="4295679"/>
            <a:ext cx="99922" cy="99922"/>
          </a:xfrm>
          <a:prstGeom prst="rect">
            <a:avLst/>
          </a:prstGeom>
          <a:solidFill>
            <a:srgbClr val="111111"/>
          </a:solidFill>
          <a:ln>
            <a:noFill/>
          </a:ln>
        </p:spPr>
      </p:sp>
      <p:sp>
        <p:nvSpPr>
          <p:cNvPr id="139" name="rect 139"/>
          <p:cNvSpPr/>
          <p:nvPr/>
        </p:nvSpPr>
        <p:spPr>
          <a:xfrm>
            <a:off x="13555903" y="4295679"/>
            <a:ext cx="99922" cy="99922"/>
          </a:xfrm>
          <a:prstGeom prst="rect">
            <a:avLst/>
          </a:prstGeom>
          <a:solidFill>
            <a:srgbClr val="111111"/>
          </a:solidFill>
          <a:ln>
            <a:noFill/>
          </a:ln>
        </p:spPr>
      </p:sp>
      <p:sp>
        <p:nvSpPr>
          <p:cNvPr id="140" name="rect 140"/>
          <p:cNvSpPr/>
          <p:nvPr/>
        </p:nvSpPr>
        <p:spPr>
          <a:xfrm>
            <a:off x="13852621" y="4295679"/>
            <a:ext cx="99922" cy="99922"/>
          </a:xfrm>
          <a:prstGeom prst="rect">
            <a:avLst/>
          </a:prstGeom>
          <a:solidFill>
            <a:srgbClr val="111111"/>
          </a:solidFill>
          <a:ln>
            <a:noFill/>
          </a:ln>
        </p:spPr>
      </p:sp>
      <p:sp>
        <p:nvSpPr>
          <p:cNvPr id="141" name="rect 141"/>
          <p:cNvSpPr/>
          <p:nvPr/>
        </p:nvSpPr>
        <p:spPr>
          <a:xfrm>
            <a:off x="14149339" y="4295679"/>
            <a:ext cx="99922" cy="99922"/>
          </a:xfrm>
          <a:prstGeom prst="rect">
            <a:avLst/>
          </a:prstGeom>
          <a:solidFill>
            <a:srgbClr val="111111"/>
          </a:solidFill>
          <a:ln>
            <a:noFill/>
          </a:ln>
        </p:spPr>
      </p:sp>
      <p:sp>
        <p:nvSpPr>
          <p:cNvPr id="142" name="rect 142"/>
          <p:cNvSpPr/>
          <p:nvPr/>
        </p:nvSpPr>
        <p:spPr>
          <a:xfrm>
            <a:off x="14544964" y="4295679"/>
            <a:ext cx="99922" cy="99922"/>
          </a:xfrm>
          <a:prstGeom prst="rect">
            <a:avLst/>
          </a:prstGeom>
          <a:solidFill>
            <a:srgbClr val="111111"/>
          </a:solidFill>
          <a:ln>
            <a:noFill/>
          </a:ln>
        </p:spPr>
      </p:sp>
      <p:sp>
        <p:nvSpPr>
          <p:cNvPr id="143" name="rect 143"/>
          <p:cNvSpPr/>
          <p:nvPr/>
        </p:nvSpPr>
        <p:spPr>
          <a:xfrm>
            <a:off x="12270124" y="4394585"/>
            <a:ext cx="99922" cy="99922"/>
          </a:xfrm>
          <a:prstGeom prst="rect">
            <a:avLst/>
          </a:prstGeom>
          <a:solidFill>
            <a:srgbClr val="111111"/>
          </a:solidFill>
          <a:ln>
            <a:noFill/>
          </a:ln>
        </p:spPr>
      </p:sp>
      <p:sp>
        <p:nvSpPr>
          <p:cNvPr id="144" name="rect 144"/>
          <p:cNvSpPr/>
          <p:nvPr/>
        </p:nvSpPr>
        <p:spPr>
          <a:xfrm>
            <a:off x="12566842" y="4394585"/>
            <a:ext cx="99922" cy="99922"/>
          </a:xfrm>
          <a:prstGeom prst="rect">
            <a:avLst/>
          </a:prstGeom>
          <a:solidFill>
            <a:srgbClr val="111111"/>
          </a:solidFill>
          <a:ln>
            <a:noFill/>
          </a:ln>
        </p:spPr>
      </p:sp>
      <p:sp>
        <p:nvSpPr>
          <p:cNvPr id="145" name="rect 145"/>
          <p:cNvSpPr/>
          <p:nvPr/>
        </p:nvSpPr>
        <p:spPr>
          <a:xfrm>
            <a:off x="12863561" y="4394585"/>
            <a:ext cx="99922" cy="99922"/>
          </a:xfrm>
          <a:prstGeom prst="rect">
            <a:avLst/>
          </a:prstGeom>
          <a:solidFill>
            <a:srgbClr val="111111"/>
          </a:solidFill>
          <a:ln>
            <a:noFill/>
          </a:ln>
        </p:spPr>
      </p:sp>
      <p:sp>
        <p:nvSpPr>
          <p:cNvPr id="146" name="rect 146"/>
          <p:cNvSpPr/>
          <p:nvPr/>
        </p:nvSpPr>
        <p:spPr>
          <a:xfrm>
            <a:off x="13259185" y="4394585"/>
            <a:ext cx="99922" cy="99922"/>
          </a:xfrm>
          <a:prstGeom prst="rect">
            <a:avLst/>
          </a:prstGeom>
          <a:solidFill>
            <a:srgbClr val="111111"/>
          </a:solidFill>
          <a:ln>
            <a:noFill/>
          </a:ln>
        </p:spPr>
      </p:sp>
      <p:sp>
        <p:nvSpPr>
          <p:cNvPr id="147" name="rect 147"/>
          <p:cNvSpPr/>
          <p:nvPr/>
        </p:nvSpPr>
        <p:spPr>
          <a:xfrm>
            <a:off x="13753715" y="4394585"/>
            <a:ext cx="99922" cy="99922"/>
          </a:xfrm>
          <a:prstGeom prst="rect">
            <a:avLst/>
          </a:prstGeom>
          <a:solidFill>
            <a:srgbClr val="111111"/>
          </a:solidFill>
          <a:ln>
            <a:noFill/>
          </a:ln>
        </p:spPr>
      </p:sp>
      <p:sp>
        <p:nvSpPr>
          <p:cNvPr id="148" name="rect 148"/>
          <p:cNvSpPr/>
          <p:nvPr/>
        </p:nvSpPr>
        <p:spPr>
          <a:xfrm>
            <a:off x="13852621" y="4394585"/>
            <a:ext cx="99922" cy="99922"/>
          </a:xfrm>
          <a:prstGeom prst="rect">
            <a:avLst/>
          </a:prstGeom>
          <a:solidFill>
            <a:srgbClr val="111111"/>
          </a:solidFill>
          <a:ln>
            <a:noFill/>
          </a:ln>
        </p:spPr>
      </p:sp>
      <p:sp>
        <p:nvSpPr>
          <p:cNvPr id="149" name="rect 149"/>
          <p:cNvSpPr/>
          <p:nvPr/>
        </p:nvSpPr>
        <p:spPr>
          <a:xfrm>
            <a:off x="14050433" y="4394585"/>
            <a:ext cx="99922" cy="99922"/>
          </a:xfrm>
          <a:prstGeom prst="rect">
            <a:avLst/>
          </a:prstGeom>
          <a:solidFill>
            <a:srgbClr val="111111"/>
          </a:solidFill>
          <a:ln>
            <a:noFill/>
          </a:ln>
        </p:spPr>
      </p:sp>
      <p:sp>
        <p:nvSpPr>
          <p:cNvPr id="150" name="rect 150"/>
          <p:cNvSpPr/>
          <p:nvPr/>
        </p:nvSpPr>
        <p:spPr>
          <a:xfrm>
            <a:off x="14149339" y="4394585"/>
            <a:ext cx="99922" cy="99922"/>
          </a:xfrm>
          <a:prstGeom prst="rect">
            <a:avLst/>
          </a:prstGeom>
          <a:solidFill>
            <a:srgbClr val="111111"/>
          </a:solidFill>
          <a:ln>
            <a:noFill/>
          </a:ln>
        </p:spPr>
      </p:sp>
      <p:sp>
        <p:nvSpPr>
          <p:cNvPr id="151" name="rect 151"/>
          <p:cNvSpPr/>
          <p:nvPr/>
        </p:nvSpPr>
        <p:spPr>
          <a:xfrm>
            <a:off x="14347152" y="4394585"/>
            <a:ext cx="99922" cy="99922"/>
          </a:xfrm>
          <a:prstGeom prst="rect">
            <a:avLst/>
          </a:prstGeom>
          <a:solidFill>
            <a:srgbClr val="111111"/>
          </a:solidFill>
          <a:ln>
            <a:noFill/>
          </a:ln>
        </p:spPr>
      </p:sp>
      <p:sp>
        <p:nvSpPr>
          <p:cNvPr id="152" name="rect 152"/>
          <p:cNvSpPr/>
          <p:nvPr/>
        </p:nvSpPr>
        <p:spPr>
          <a:xfrm>
            <a:off x="14544964" y="4394585"/>
            <a:ext cx="99922" cy="99922"/>
          </a:xfrm>
          <a:prstGeom prst="rect">
            <a:avLst/>
          </a:prstGeom>
          <a:solidFill>
            <a:srgbClr val="111111"/>
          </a:solidFill>
          <a:ln>
            <a:noFill/>
          </a:ln>
        </p:spPr>
      </p:sp>
      <p:sp>
        <p:nvSpPr>
          <p:cNvPr id="153" name="rect 153"/>
          <p:cNvSpPr/>
          <p:nvPr/>
        </p:nvSpPr>
        <p:spPr>
          <a:xfrm>
            <a:off x="14643870" y="4394585"/>
            <a:ext cx="99922" cy="99922"/>
          </a:xfrm>
          <a:prstGeom prst="rect">
            <a:avLst/>
          </a:prstGeom>
          <a:solidFill>
            <a:srgbClr val="111111"/>
          </a:solidFill>
          <a:ln>
            <a:noFill/>
          </a:ln>
        </p:spPr>
      </p:sp>
      <p:sp>
        <p:nvSpPr>
          <p:cNvPr id="154" name="rect 154"/>
          <p:cNvSpPr/>
          <p:nvPr/>
        </p:nvSpPr>
        <p:spPr>
          <a:xfrm>
            <a:off x="12270124" y="4493491"/>
            <a:ext cx="99922" cy="99922"/>
          </a:xfrm>
          <a:prstGeom prst="rect">
            <a:avLst/>
          </a:prstGeom>
          <a:solidFill>
            <a:srgbClr val="111111"/>
          </a:solidFill>
          <a:ln>
            <a:noFill/>
          </a:ln>
        </p:spPr>
      </p:sp>
      <p:sp>
        <p:nvSpPr>
          <p:cNvPr id="155" name="rect 155"/>
          <p:cNvSpPr/>
          <p:nvPr/>
        </p:nvSpPr>
        <p:spPr>
          <a:xfrm>
            <a:off x="12665748" y="4493491"/>
            <a:ext cx="99922" cy="99922"/>
          </a:xfrm>
          <a:prstGeom prst="rect">
            <a:avLst/>
          </a:prstGeom>
          <a:solidFill>
            <a:srgbClr val="111111"/>
          </a:solidFill>
          <a:ln>
            <a:noFill/>
          </a:ln>
        </p:spPr>
      </p:sp>
      <p:sp>
        <p:nvSpPr>
          <p:cNvPr id="156" name="rect 156"/>
          <p:cNvSpPr/>
          <p:nvPr/>
        </p:nvSpPr>
        <p:spPr>
          <a:xfrm>
            <a:off x="13456997" y="4493491"/>
            <a:ext cx="99922" cy="99922"/>
          </a:xfrm>
          <a:prstGeom prst="rect">
            <a:avLst/>
          </a:prstGeom>
          <a:solidFill>
            <a:srgbClr val="111111"/>
          </a:solidFill>
          <a:ln>
            <a:noFill/>
          </a:ln>
        </p:spPr>
      </p:sp>
      <p:sp>
        <p:nvSpPr>
          <p:cNvPr id="157" name="rect 157"/>
          <p:cNvSpPr/>
          <p:nvPr/>
        </p:nvSpPr>
        <p:spPr>
          <a:xfrm>
            <a:off x="13654809" y="4493491"/>
            <a:ext cx="99922" cy="99922"/>
          </a:xfrm>
          <a:prstGeom prst="rect">
            <a:avLst/>
          </a:prstGeom>
          <a:solidFill>
            <a:srgbClr val="111111"/>
          </a:solidFill>
          <a:ln>
            <a:noFill/>
          </a:ln>
        </p:spPr>
      </p:sp>
      <p:sp>
        <p:nvSpPr>
          <p:cNvPr id="158" name="rect 158"/>
          <p:cNvSpPr/>
          <p:nvPr/>
        </p:nvSpPr>
        <p:spPr>
          <a:xfrm>
            <a:off x="13753715" y="4493491"/>
            <a:ext cx="99922" cy="99922"/>
          </a:xfrm>
          <a:prstGeom prst="rect">
            <a:avLst/>
          </a:prstGeom>
          <a:solidFill>
            <a:srgbClr val="111111"/>
          </a:solidFill>
          <a:ln>
            <a:noFill/>
          </a:ln>
        </p:spPr>
      </p:sp>
      <p:sp>
        <p:nvSpPr>
          <p:cNvPr id="159" name="rect 159"/>
          <p:cNvSpPr/>
          <p:nvPr/>
        </p:nvSpPr>
        <p:spPr>
          <a:xfrm>
            <a:off x="13951527" y="4493491"/>
            <a:ext cx="99922" cy="99922"/>
          </a:xfrm>
          <a:prstGeom prst="rect">
            <a:avLst/>
          </a:prstGeom>
          <a:solidFill>
            <a:srgbClr val="111111"/>
          </a:solidFill>
          <a:ln>
            <a:noFill/>
          </a:ln>
        </p:spPr>
      </p:sp>
      <p:sp>
        <p:nvSpPr>
          <p:cNvPr id="160" name="rect 160"/>
          <p:cNvSpPr/>
          <p:nvPr/>
        </p:nvSpPr>
        <p:spPr>
          <a:xfrm>
            <a:off x="14050433" y="4493491"/>
            <a:ext cx="99922" cy="99922"/>
          </a:xfrm>
          <a:prstGeom prst="rect">
            <a:avLst/>
          </a:prstGeom>
          <a:solidFill>
            <a:srgbClr val="111111"/>
          </a:solidFill>
          <a:ln>
            <a:noFill/>
          </a:ln>
        </p:spPr>
      </p:sp>
      <p:sp>
        <p:nvSpPr>
          <p:cNvPr id="161" name="rect 161"/>
          <p:cNvSpPr/>
          <p:nvPr/>
        </p:nvSpPr>
        <p:spPr>
          <a:xfrm>
            <a:off x="14149339" y="4493491"/>
            <a:ext cx="99922" cy="99922"/>
          </a:xfrm>
          <a:prstGeom prst="rect">
            <a:avLst/>
          </a:prstGeom>
          <a:solidFill>
            <a:srgbClr val="111111"/>
          </a:solidFill>
          <a:ln>
            <a:noFill/>
          </a:ln>
        </p:spPr>
      </p:sp>
      <p:sp>
        <p:nvSpPr>
          <p:cNvPr id="162" name="rect 162"/>
          <p:cNvSpPr/>
          <p:nvPr/>
        </p:nvSpPr>
        <p:spPr>
          <a:xfrm>
            <a:off x="14643870" y="4493491"/>
            <a:ext cx="99922" cy="99922"/>
          </a:xfrm>
          <a:prstGeom prst="rect">
            <a:avLst/>
          </a:prstGeom>
          <a:solidFill>
            <a:srgbClr val="111111"/>
          </a:solidFill>
          <a:ln>
            <a:noFill/>
          </a:ln>
        </p:spPr>
      </p:sp>
      <p:sp>
        <p:nvSpPr>
          <p:cNvPr id="163" name="rect 163"/>
          <p:cNvSpPr/>
          <p:nvPr/>
        </p:nvSpPr>
        <p:spPr>
          <a:xfrm>
            <a:off x="12270124" y="4592397"/>
            <a:ext cx="99922" cy="99922"/>
          </a:xfrm>
          <a:prstGeom prst="rect">
            <a:avLst/>
          </a:prstGeom>
          <a:solidFill>
            <a:srgbClr val="111111"/>
          </a:solidFill>
          <a:ln>
            <a:noFill/>
          </a:ln>
        </p:spPr>
      </p:sp>
      <p:sp>
        <p:nvSpPr>
          <p:cNvPr id="164" name="rect 164"/>
          <p:cNvSpPr/>
          <p:nvPr/>
        </p:nvSpPr>
        <p:spPr>
          <a:xfrm>
            <a:off x="12665748" y="4592397"/>
            <a:ext cx="99922" cy="99922"/>
          </a:xfrm>
          <a:prstGeom prst="rect">
            <a:avLst/>
          </a:prstGeom>
          <a:solidFill>
            <a:srgbClr val="111111"/>
          </a:solidFill>
          <a:ln>
            <a:noFill/>
          </a:ln>
        </p:spPr>
      </p:sp>
      <p:sp>
        <p:nvSpPr>
          <p:cNvPr id="165" name="rect 165"/>
          <p:cNvSpPr/>
          <p:nvPr/>
        </p:nvSpPr>
        <p:spPr>
          <a:xfrm>
            <a:off x="12863561" y="4592397"/>
            <a:ext cx="99922" cy="99922"/>
          </a:xfrm>
          <a:prstGeom prst="rect">
            <a:avLst/>
          </a:prstGeom>
          <a:solidFill>
            <a:srgbClr val="111111"/>
          </a:solidFill>
          <a:ln>
            <a:noFill/>
          </a:ln>
        </p:spPr>
      </p:sp>
      <p:sp>
        <p:nvSpPr>
          <p:cNvPr id="166" name="rect 166"/>
          <p:cNvSpPr/>
          <p:nvPr/>
        </p:nvSpPr>
        <p:spPr>
          <a:xfrm>
            <a:off x="12962467" y="4592397"/>
            <a:ext cx="99922" cy="99922"/>
          </a:xfrm>
          <a:prstGeom prst="rect">
            <a:avLst/>
          </a:prstGeom>
          <a:solidFill>
            <a:srgbClr val="111111"/>
          </a:solidFill>
          <a:ln>
            <a:noFill/>
          </a:ln>
        </p:spPr>
      </p:sp>
      <p:sp>
        <p:nvSpPr>
          <p:cNvPr id="167" name="rect 167"/>
          <p:cNvSpPr/>
          <p:nvPr/>
        </p:nvSpPr>
        <p:spPr>
          <a:xfrm>
            <a:off x="13061373" y="4592397"/>
            <a:ext cx="99922" cy="99922"/>
          </a:xfrm>
          <a:prstGeom prst="rect">
            <a:avLst/>
          </a:prstGeom>
          <a:solidFill>
            <a:srgbClr val="111111"/>
          </a:solidFill>
          <a:ln>
            <a:noFill/>
          </a:ln>
        </p:spPr>
      </p:sp>
      <p:sp>
        <p:nvSpPr>
          <p:cNvPr id="168" name="rect 168"/>
          <p:cNvSpPr/>
          <p:nvPr/>
        </p:nvSpPr>
        <p:spPr>
          <a:xfrm>
            <a:off x="13160279" y="4592397"/>
            <a:ext cx="99922" cy="99922"/>
          </a:xfrm>
          <a:prstGeom prst="rect">
            <a:avLst/>
          </a:prstGeom>
          <a:solidFill>
            <a:srgbClr val="111111"/>
          </a:solidFill>
          <a:ln>
            <a:noFill/>
          </a:ln>
        </p:spPr>
      </p:sp>
      <p:sp>
        <p:nvSpPr>
          <p:cNvPr id="169" name="rect 169"/>
          <p:cNvSpPr/>
          <p:nvPr/>
        </p:nvSpPr>
        <p:spPr>
          <a:xfrm>
            <a:off x="13259185" y="4592397"/>
            <a:ext cx="99922" cy="99922"/>
          </a:xfrm>
          <a:prstGeom prst="rect">
            <a:avLst/>
          </a:prstGeom>
          <a:solidFill>
            <a:srgbClr val="111111"/>
          </a:solidFill>
          <a:ln>
            <a:noFill/>
          </a:ln>
        </p:spPr>
      </p:sp>
      <p:sp>
        <p:nvSpPr>
          <p:cNvPr id="170" name="rect 170"/>
          <p:cNvSpPr/>
          <p:nvPr/>
        </p:nvSpPr>
        <p:spPr>
          <a:xfrm>
            <a:off x="13456997" y="4592397"/>
            <a:ext cx="99922" cy="99922"/>
          </a:xfrm>
          <a:prstGeom prst="rect">
            <a:avLst/>
          </a:prstGeom>
          <a:solidFill>
            <a:srgbClr val="111111"/>
          </a:solidFill>
          <a:ln>
            <a:noFill/>
          </a:ln>
        </p:spPr>
      </p:sp>
      <p:sp>
        <p:nvSpPr>
          <p:cNvPr id="171" name="rect 171"/>
          <p:cNvSpPr/>
          <p:nvPr/>
        </p:nvSpPr>
        <p:spPr>
          <a:xfrm>
            <a:off x="13555903" y="4592397"/>
            <a:ext cx="99922" cy="99922"/>
          </a:xfrm>
          <a:prstGeom prst="rect">
            <a:avLst/>
          </a:prstGeom>
          <a:solidFill>
            <a:srgbClr val="111111"/>
          </a:solidFill>
          <a:ln>
            <a:noFill/>
          </a:ln>
        </p:spPr>
      </p:sp>
      <p:sp>
        <p:nvSpPr>
          <p:cNvPr id="172" name="rect 172"/>
          <p:cNvSpPr/>
          <p:nvPr/>
        </p:nvSpPr>
        <p:spPr>
          <a:xfrm>
            <a:off x="13753715" y="4592397"/>
            <a:ext cx="99922" cy="99922"/>
          </a:xfrm>
          <a:prstGeom prst="rect">
            <a:avLst/>
          </a:prstGeom>
          <a:solidFill>
            <a:srgbClr val="111111"/>
          </a:solidFill>
          <a:ln>
            <a:noFill/>
          </a:ln>
        </p:spPr>
      </p:sp>
      <p:sp>
        <p:nvSpPr>
          <p:cNvPr id="173" name="rect 173"/>
          <p:cNvSpPr/>
          <p:nvPr/>
        </p:nvSpPr>
        <p:spPr>
          <a:xfrm>
            <a:off x="13951527" y="4592397"/>
            <a:ext cx="99922" cy="99922"/>
          </a:xfrm>
          <a:prstGeom prst="rect">
            <a:avLst/>
          </a:prstGeom>
          <a:solidFill>
            <a:srgbClr val="111111"/>
          </a:solidFill>
          <a:ln>
            <a:noFill/>
          </a:ln>
        </p:spPr>
      </p:sp>
      <p:sp>
        <p:nvSpPr>
          <p:cNvPr id="174" name="rect 174"/>
          <p:cNvSpPr/>
          <p:nvPr/>
        </p:nvSpPr>
        <p:spPr>
          <a:xfrm>
            <a:off x="14050433" y="4592397"/>
            <a:ext cx="99922" cy="99922"/>
          </a:xfrm>
          <a:prstGeom prst="rect">
            <a:avLst/>
          </a:prstGeom>
          <a:solidFill>
            <a:srgbClr val="111111"/>
          </a:solidFill>
          <a:ln>
            <a:noFill/>
          </a:ln>
        </p:spPr>
      </p:sp>
      <p:sp>
        <p:nvSpPr>
          <p:cNvPr id="175" name="rect 175"/>
          <p:cNvSpPr/>
          <p:nvPr/>
        </p:nvSpPr>
        <p:spPr>
          <a:xfrm>
            <a:off x="14248245" y="4592397"/>
            <a:ext cx="99922" cy="99922"/>
          </a:xfrm>
          <a:prstGeom prst="rect">
            <a:avLst/>
          </a:prstGeom>
          <a:solidFill>
            <a:srgbClr val="111111"/>
          </a:solidFill>
          <a:ln>
            <a:noFill/>
          </a:ln>
        </p:spPr>
      </p:sp>
      <p:sp>
        <p:nvSpPr>
          <p:cNvPr id="176" name="rect 176"/>
          <p:cNvSpPr/>
          <p:nvPr/>
        </p:nvSpPr>
        <p:spPr>
          <a:xfrm>
            <a:off x="14446058" y="4592397"/>
            <a:ext cx="99922" cy="99922"/>
          </a:xfrm>
          <a:prstGeom prst="rect">
            <a:avLst/>
          </a:prstGeom>
          <a:solidFill>
            <a:srgbClr val="111111"/>
          </a:solidFill>
          <a:ln>
            <a:noFill/>
          </a:ln>
        </p:spPr>
      </p:sp>
      <p:sp>
        <p:nvSpPr>
          <p:cNvPr id="177" name="rect 177"/>
          <p:cNvSpPr/>
          <p:nvPr/>
        </p:nvSpPr>
        <p:spPr>
          <a:xfrm>
            <a:off x="14544964" y="4592397"/>
            <a:ext cx="99922" cy="99922"/>
          </a:xfrm>
          <a:prstGeom prst="rect">
            <a:avLst/>
          </a:prstGeom>
          <a:solidFill>
            <a:srgbClr val="111111"/>
          </a:solidFill>
          <a:ln>
            <a:noFill/>
          </a:ln>
        </p:spPr>
      </p:sp>
      <p:sp>
        <p:nvSpPr>
          <p:cNvPr id="178" name="rect 178"/>
          <p:cNvSpPr/>
          <p:nvPr/>
        </p:nvSpPr>
        <p:spPr>
          <a:xfrm>
            <a:off x="14643870" y="4592397"/>
            <a:ext cx="99922" cy="99922"/>
          </a:xfrm>
          <a:prstGeom prst="rect">
            <a:avLst/>
          </a:prstGeom>
          <a:solidFill>
            <a:srgbClr val="111111"/>
          </a:solidFill>
          <a:ln>
            <a:noFill/>
          </a:ln>
        </p:spPr>
      </p:sp>
      <p:sp>
        <p:nvSpPr>
          <p:cNvPr id="179" name="rect 179"/>
          <p:cNvSpPr/>
          <p:nvPr/>
        </p:nvSpPr>
        <p:spPr>
          <a:xfrm>
            <a:off x="12270124" y="4691303"/>
            <a:ext cx="99922" cy="99922"/>
          </a:xfrm>
          <a:prstGeom prst="rect">
            <a:avLst/>
          </a:prstGeom>
          <a:solidFill>
            <a:srgbClr val="111111"/>
          </a:solidFill>
          <a:ln>
            <a:noFill/>
          </a:ln>
        </p:spPr>
      </p:sp>
      <p:sp>
        <p:nvSpPr>
          <p:cNvPr id="180" name="rect 180"/>
          <p:cNvSpPr/>
          <p:nvPr/>
        </p:nvSpPr>
        <p:spPr>
          <a:xfrm>
            <a:off x="12369030" y="4691303"/>
            <a:ext cx="99922" cy="99922"/>
          </a:xfrm>
          <a:prstGeom prst="rect">
            <a:avLst/>
          </a:prstGeom>
          <a:solidFill>
            <a:srgbClr val="111111"/>
          </a:solidFill>
          <a:ln>
            <a:noFill/>
          </a:ln>
        </p:spPr>
      </p:sp>
      <p:sp>
        <p:nvSpPr>
          <p:cNvPr id="181" name="rect 181"/>
          <p:cNvSpPr/>
          <p:nvPr/>
        </p:nvSpPr>
        <p:spPr>
          <a:xfrm>
            <a:off x="12467936" y="4691303"/>
            <a:ext cx="99922" cy="99922"/>
          </a:xfrm>
          <a:prstGeom prst="rect">
            <a:avLst/>
          </a:prstGeom>
          <a:solidFill>
            <a:srgbClr val="111111"/>
          </a:solidFill>
          <a:ln>
            <a:noFill/>
          </a:ln>
        </p:spPr>
      </p:sp>
      <p:sp>
        <p:nvSpPr>
          <p:cNvPr id="182" name="rect 182"/>
          <p:cNvSpPr/>
          <p:nvPr/>
        </p:nvSpPr>
        <p:spPr>
          <a:xfrm>
            <a:off x="12665748" y="4691303"/>
            <a:ext cx="99922" cy="99922"/>
          </a:xfrm>
          <a:prstGeom prst="rect">
            <a:avLst/>
          </a:prstGeom>
          <a:solidFill>
            <a:srgbClr val="111111"/>
          </a:solidFill>
          <a:ln>
            <a:noFill/>
          </a:ln>
        </p:spPr>
      </p:sp>
      <p:sp>
        <p:nvSpPr>
          <p:cNvPr id="183" name="rect 183"/>
          <p:cNvSpPr/>
          <p:nvPr/>
        </p:nvSpPr>
        <p:spPr>
          <a:xfrm>
            <a:off x="12962467" y="4691303"/>
            <a:ext cx="99922" cy="99922"/>
          </a:xfrm>
          <a:prstGeom prst="rect">
            <a:avLst/>
          </a:prstGeom>
          <a:solidFill>
            <a:srgbClr val="111111"/>
          </a:solidFill>
          <a:ln>
            <a:noFill/>
          </a:ln>
        </p:spPr>
      </p:sp>
      <p:sp>
        <p:nvSpPr>
          <p:cNvPr id="184" name="rect 184"/>
          <p:cNvSpPr/>
          <p:nvPr/>
        </p:nvSpPr>
        <p:spPr>
          <a:xfrm>
            <a:off x="13061373" y="4691303"/>
            <a:ext cx="99922" cy="99922"/>
          </a:xfrm>
          <a:prstGeom prst="rect">
            <a:avLst/>
          </a:prstGeom>
          <a:solidFill>
            <a:srgbClr val="111111"/>
          </a:solidFill>
          <a:ln>
            <a:noFill/>
          </a:ln>
        </p:spPr>
      </p:sp>
      <p:sp>
        <p:nvSpPr>
          <p:cNvPr id="185" name="rect 185"/>
          <p:cNvSpPr/>
          <p:nvPr/>
        </p:nvSpPr>
        <p:spPr>
          <a:xfrm>
            <a:off x="13555903" y="4691303"/>
            <a:ext cx="99922" cy="99922"/>
          </a:xfrm>
          <a:prstGeom prst="rect">
            <a:avLst/>
          </a:prstGeom>
          <a:solidFill>
            <a:srgbClr val="111111"/>
          </a:solidFill>
          <a:ln>
            <a:noFill/>
          </a:ln>
        </p:spPr>
      </p:sp>
      <p:sp>
        <p:nvSpPr>
          <p:cNvPr id="186" name="rect 186"/>
          <p:cNvSpPr/>
          <p:nvPr/>
        </p:nvSpPr>
        <p:spPr>
          <a:xfrm>
            <a:off x="13852621" y="4691303"/>
            <a:ext cx="99922" cy="99922"/>
          </a:xfrm>
          <a:prstGeom prst="rect">
            <a:avLst/>
          </a:prstGeom>
          <a:solidFill>
            <a:srgbClr val="111111"/>
          </a:solidFill>
          <a:ln>
            <a:noFill/>
          </a:ln>
        </p:spPr>
      </p:sp>
      <p:sp>
        <p:nvSpPr>
          <p:cNvPr id="187" name="rect 187"/>
          <p:cNvSpPr/>
          <p:nvPr/>
        </p:nvSpPr>
        <p:spPr>
          <a:xfrm>
            <a:off x="13951527" y="4691303"/>
            <a:ext cx="99922" cy="99922"/>
          </a:xfrm>
          <a:prstGeom prst="rect">
            <a:avLst/>
          </a:prstGeom>
          <a:solidFill>
            <a:srgbClr val="111111"/>
          </a:solidFill>
          <a:ln>
            <a:noFill/>
          </a:ln>
        </p:spPr>
      </p:sp>
      <p:sp>
        <p:nvSpPr>
          <p:cNvPr id="188" name="rect 188"/>
          <p:cNvSpPr/>
          <p:nvPr/>
        </p:nvSpPr>
        <p:spPr>
          <a:xfrm>
            <a:off x="14149339" y="4691303"/>
            <a:ext cx="99922" cy="99922"/>
          </a:xfrm>
          <a:prstGeom prst="rect">
            <a:avLst/>
          </a:prstGeom>
          <a:solidFill>
            <a:srgbClr val="111111"/>
          </a:solidFill>
          <a:ln>
            <a:noFill/>
          </a:ln>
        </p:spPr>
      </p:sp>
      <p:sp>
        <p:nvSpPr>
          <p:cNvPr id="189" name="rect 189"/>
          <p:cNvSpPr/>
          <p:nvPr/>
        </p:nvSpPr>
        <p:spPr>
          <a:xfrm>
            <a:off x="14347152" y="4691303"/>
            <a:ext cx="99922" cy="99922"/>
          </a:xfrm>
          <a:prstGeom prst="rect">
            <a:avLst/>
          </a:prstGeom>
          <a:solidFill>
            <a:srgbClr val="111111"/>
          </a:solidFill>
          <a:ln>
            <a:noFill/>
          </a:ln>
        </p:spPr>
      </p:sp>
      <p:sp>
        <p:nvSpPr>
          <p:cNvPr id="190" name="rect 190"/>
          <p:cNvSpPr/>
          <p:nvPr/>
        </p:nvSpPr>
        <p:spPr>
          <a:xfrm>
            <a:off x="14544964" y="4691303"/>
            <a:ext cx="99922" cy="99922"/>
          </a:xfrm>
          <a:prstGeom prst="rect">
            <a:avLst/>
          </a:prstGeom>
          <a:solidFill>
            <a:srgbClr val="111111"/>
          </a:solidFill>
          <a:ln>
            <a:noFill/>
          </a:ln>
        </p:spPr>
      </p:sp>
      <p:sp>
        <p:nvSpPr>
          <p:cNvPr id="191" name="rect 191"/>
          <p:cNvSpPr/>
          <p:nvPr/>
        </p:nvSpPr>
        <p:spPr>
          <a:xfrm>
            <a:off x="12270124" y="4790209"/>
            <a:ext cx="99922" cy="99922"/>
          </a:xfrm>
          <a:prstGeom prst="rect">
            <a:avLst/>
          </a:prstGeom>
          <a:solidFill>
            <a:srgbClr val="111111"/>
          </a:solidFill>
          <a:ln>
            <a:noFill/>
          </a:ln>
        </p:spPr>
      </p:sp>
      <p:sp>
        <p:nvSpPr>
          <p:cNvPr id="192" name="rect 192"/>
          <p:cNvSpPr/>
          <p:nvPr/>
        </p:nvSpPr>
        <p:spPr>
          <a:xfrm>
            <a:off x="12566842" y="4790209"/>
            <a:ext cx="99922" cy="99922"/>
          </a:xfrm>
          <a:prstGeom prst="rect">
            <a:avLst/>
          </a:prstGeom>
          <a:solidFill>
            <a:srgbClr val="111111"/>
          </a:solidFill>
          <a:ln>
            <a:noFill/>
          </a:ln>
        </p:spPr>
      </p:sp>
      <p:sp>
        <p:nvSpPr>
          <p:cNvPr id="193" name="rect 193"/>
          <p:cNvSpPr/>
          <p:nvPr/>
        </p:nvSpPr>
        <p:spPr>
          <a:xfrm>
            <a:off x="12764655" y="4790209"/>
            <a:ext cx="99922" cy="99922"/>
          </a:xfrm>
          <a:prstGeom prst="rect">
            <a:avLst/>
          </a:prstGeom>
          <a:solidFill>
            <a:srgbClr val="111111"/>
          </a:solidFill>
          <a:ln>
            <a:noFill/>
          </a:ln>
        </p:spPr>
      </p:sp>
      <p:sp>
        <p:nvSpPr>
          <p:cNvPr id="194" name="rect 194"/>
          <p:cNvSpPr/>
          <p:nvPr/>
        </p:nvSpPr>
        <p:spPr>
          <a:xfrm>
            <a:off x="12863561" y="4790209"/>
            <a:ext cx="99922" cy="99922"/>
          </a:xfrm>
          <a:prstGeom prst="rect">
            <a:avLst/>
          </a:prstGeom>
          <a:solidFill>
            <a:srgbClr val="111111"/>
          </a:solidFill>
          <a:ln>
            <a:noFill/>
          </a:ln>
        </p:spPr>
      </p:sp>
      <p:sp>
        <p:nvSpPr>
          <p:cNvPr id="195" name="rect 195"/>
          <p:cNvSpPr/>
          <p:nvPr/>
        </p:nvSpPr>
        <p:spPr>
          <a:xfrm>
            <a:off x="12962467" y="4790209"/>
            <a:ext cx="99922" cy="99922"/>
          </a:xfrm>
          <a:prstGeom prst="rect">
            <a:avLst/>
          </a:prstGeom>
          <a:solidFill>
            <a:srgbClr val="111111"/>
          </a:solidFill>
          <a:ln>
            <a:noFill/>
          </a:ln>
        </p:spPr>
      </p:sp>
      <p:sp>
        <p:nvSpPr>
          <p:cNvPr id="196" name="rect 196"/>
          <p:cNvSpPr/>
          <p:nvPr/>
        </p:nvSpPr>
        <p:spPr>
          <a:xfrm>
            <a:off x="13061373" y="4790209"/>
            <a:ext cx="99922" cy="99922"/>
          </a:xfrm>
          <a:prstGeom prst="rect">
            <a:avLst/>
          </a:prstGeom>
          <a:solidFill>
            <a:srgbClr val="111111"/>
          </a:solidFill>
          <a:ln>
            <a:noFill/>
          </a:ln>
        </p:spPr>
      </p:sp>
      <p:sp>
        <p:nvSpPr>
          <p:cNvPr id="197" name="rect 197"/>
          <p:cNvSpPr/>
          <p:nvPr/>
        </p:nvSpPr>
        <p:spPr>
          <a:xfrm>
            <a:off x="13160279" y="4790209"/>
            <a:ext cx="99922" cy="99922"/>
          </a:xfrm>
          <a:prstGeom prst="rect">
            <a:avLst/>
          </a:prstGeom>
          <a:solidFill>
            <a:srgbClr val="111111"/>
          </a:solidFill>
          <a:ln>
            <a:noFill/>
          </a:ln>
        </p:spPr>
      </p:sp>
      <p:sp>
        <p:nvSpPr>
          <p:cNvPr id="198" name="rect 198"/>
          <p:cNvSpPr/>
          <p:nvPr/>
        </p:nvSpPr>
        <p:spPr>
          <a:xfrm>
            <a:off x="13259185" y="4790209"/>
            <a:ext cx="99922" cy="99922"/>
          </a:xfrm>
          <a:prstGeom prst="rect">
            <a:avLst/>
          </a:prstGeom>
          <a:solidFill>
            <a:srgbClr val="111111"/>
          </a:solidFill>
          <a:ln>
            <a:noFill/>
          </a:ln>
        </p:spPr>
      </p:sp>
      <p:sp>
        <p:nvSpPr>
          <p:cNvPr id="199" name="rect 199"/>
          <p:cNvSpPr/>
          <p:nvPr/>
        </p:nvSpPr>
        <p:spPr>
          <a:xfrm>
            <a:off x="13358091" y="4790209"/>
            <a:ext cx="99922" cy="99922"/>
          </a:xfrm>
          <a:prstGeom prst="rect">
            <a:avLst/>
          </a:prstGeom>
          <a:solidFill>
            <a:srgbClr val="111111"/>
          </a:solidFill>
          <a:ln>
            <a:noFill/>
          </a:ln>
        </p:spPr>
      </p:sp>
      <p:sp>
        <p:nvSpPr>
          <p:cNvPr id="200" name="rect 200"/>
          <p:cNvSpPr/>
          <p:nvPr/>
        </p:nvSpPr>
        <p:spPr>
          <a:xfrm>
            <a:off x="13456997" y="4790209"/>
            <a:ext cx="99922" cy="99922"/>
          </a:xfrm>
          <a:prstGeom prst="rect">
            <a:avLst/>
          </a:prstGeom>
          <a:solidFill>
            <a:srgbClr val="111111"/>
          </a:solidFill>
          <a:ln>
            <a:noFill/>
          </a:ln>
        </p:spPr>
      </p:sp>
      <p:sp>
        <p:nvSpPr>
          <p:cNvPr id="201" name="rect 201"/>
          <p:cNvSpPr/>
          <p:nvPr/>
        </p:nvSpPr>
        <p:spPr>
          <a:xfrm>
            <a:off x="13555903" y="4790209"/>
            <a:ext cx="99922" cy="99922"/>
          </a:xfrm>
          <a:prstGeom prst="rect">
            <a:avLst/>
          </a:prstGeom>
          <a:solidFill>
            <a:srgbClr val="111111"/>
          </a:solidFill>
          <a:ln>
            <a:noFill/>
          </a:ln>
        </p:spPr>
      </p:sp>
      <p:sp>
        <p:nvSpPr>
          <p:cNvPr id="202" name="rect 202"/>
          <p:cNvSpPr/>
          <p:nvPr/>
        </p:nvSpPr>
        <p:spPr>
          <a:xfrm>
            <a:off x="13654809" y="4790209"/>
            <a:ext cx="99922" cy="99922"/>
          </a:xfrm>
          <a:prstGeom prst="rect">
            <a:avLst/>
          </a:prstGeom>
          <a:solidFill>
            <a:srgbClr val="111111"/>
          </a:solidFill>
          <a:ln>
            <a:noFill/>
          </a:ln>
        </p:spPr>
      </p:sp>
      <p:sp>
        <p:nvSpPr>
          <p:cNvPr id="203" name="rect 203"/>
          <p:cNvSpPr/>
          <p:nvPr/>
        </p:nvSpPr>
        <p:spPr>
          <a:xfrm>
            <a:off x="13753715" y="4790209"/>
            <a:ext cx="99922" cy="99922"/>
          </a:xfrm>
          <a:prstGeom prst="rect">
            <a:avLst/>
          </a:prstGeom>
          <a:solidFill>
            <a:srgbClr val="111111"/>
          </a:solidFill>
          <a:ln>
            <a:noFill/>
          </a:ln>
        </p:spPr>
      </p:sp>
      <p:sp>
        <p:nvSpPr>
          <p:cNvPr id="204" name="rect 204"/>
          <p:cNvSpPr/>
          <p:nvPr/>
        </p:nvSpPr>
        <p:spPr>
          <a:xfrm>
            <a:off x="14050433" y="4790209"/>
            <a:ext cx="99922" cy="99922"/>
          </a:xfrm>
          <a:prstGeom prst="rect">
            <a:avLst/>
          </a:prstGeom>
          <a:solidFill>
            <a:srgbClr val="111111"/>
          </a:solidFill>
          <a:ln>
            <a:noFill/>
          </a:ln>
        </p:spPr>
      </p:sp>
      <p:sp>
        <p:nvSpPr>
          <p:cNvPr id="205" name="rect 205"/>
          <p:cNvSpPr/>
          <p:nvPr/>
        </p:nvSpPr>
        <p:spPr>
          <a:xfrm>
            <a:off x="14149339" y="4790209"/>
            <a:ext cx="99922" cy="99922"/>
          </a:xfrm>
          <a:prstGeom prst="rect">
            <a:avLst/>
          </a:prstGeom>
          <a:solidFill>
            <a:srgbClr val="111111"/>
          </a:solidFill>
          <a:ln>
            <a:noFill/>
          </a:ln>
        </p:spPr>
      </p:sp>
      <p:sp>
        <p:nvSpPr>
          <p:cNvPr id="206" name="rect 206"/>
          <p:cNvSpPr/>
          <p:nvPr/>
        </p:nvSpPr>
        <p:spPr>
          <a:xfrm>
            <a:off x="14248245" y="4790209"/>
            <a:ext cx="99922" cy="99922"/>
          </a:xfrm>
          <a:prstGeom prst="rect">
            <a:avLst/>
          </a:prstGeom>
          <a:solidFill>
            <a:srgbClr val="111111"/>
          </a:solidFill>
          <a:ln>
            <a:noFill/>
          </a:ln>
        </p:spPr>
      </p:sp>
      <p:sp>
        <p:nvSpPr>
          <p:cNvPr id="207" name="rect 207"/>
          <p:cNvSpPr/>
          <p:nvPr/>
        </p:nvSpPr>
        <p:spPr>
          <a:xfrm>
            <a:off x="14347152" y="4790209"/>
            <a:ext cx="99922" cy="99922"/>
          </a:xfrm>
          <a:prstGeom prst="rect">
            <a:avLst/>
          </a:prstGeom>
          <a:solidFill>
            <a:srgbClr val="111111"/>
          </a:solidFill>
          <a:ln>
            <a:noFill/>
          </a:ln>
        </p:spPr>
      </p:sp>
      <p:sp>
        <p:nvSpPr>
          <p:cNvPr id="208" name="rect 208"/>
          <p:cNvSpPr/>
          <p:nvPr/>
        </p:nvSpPr>
        <p:spPr>
          <a:xfrm>
            <a:off x="14544964" y="4790209"/>
            <a:ext cx="99922" cy="99922"/>
          </a:xfrm>
          <a:prstGeom prst="rect">
            <a:avLst/>
          </a:prstGeom>
          <a:solidFill>
            <a:srgbClr val="111111"/>
          </a:solidFill>
          <a:ln>
            <a:noFill/>
          </a:ln>
        </p:spPr>
      </p:sp>
      <p:sp>
        <p:nvSpPr>
          <p:cNvPr id="209" name="rect 209"/>
          <p:cNvSpPr/>
          <p:nvPr/>
        </p:nvSpPr>
        <p:spPr>
          <a:xfrm>
            <a:off x="14643870" y="4790209"/>
            <a:ext cx="99922" cy="99922"/>
          </a:xfrm>
          <a:prstGeom prst="rect">
            <a:avLst/>
          </a:prstGeom>
          <a:solidFill>
            <a:srgbClr val="111111"/>
          </a:solidFill>
          <a:ln>
            <a:noFill/>
          </a:ln>
        </p:spPr>
      </p:sp>
      <p:sp>
        <p:nvSpPr>
          <p:cNvPr id="210" name="rect 210"/>
          <p:cNvSpPr/>
          <p:nvPr/>
        </p:nvSpPr>
        <p:spPr>
          <a:xfrm>
            <a:off x="12270124" y="4889115"/>
            <a:ext cx="99922" cy="99922"/>
          </a:xfrm>
          <a:prstGeom prst="rect">
            <a:avLst/>
          </a:prstGeom>
          <a:solidFill>
            <a:srgbClr val="111111"/>
          </a:solidFill>
          <a:ln>
            <a:noFill/>
          </a:ln>
        </p:spPr>
      </p:sp>
      <p:sp>
        <p:nvSpPr>
          <p:cNvPr id="211" name="rect 211"/>
          <p:cNvSpPr/>
          <p:nvPr/>
        </p:nvSpPr>
        <p:spPr>
          <a:xfrm>
            <a:off x="12467936" y="4889115"/>
            <a:ext cx="99922" cy="99922"/>
          </a:xfrm>
          <a:prstGeom prst="rect">
            <a:avLst/>
          </a:prstGeom>
          <a:solidFill>
            <a:srgbClr val="111111"/>
          </a:solidFill>
          <a:ln>
            <a:noFill/>
          </a:ln>
        </p:spPr>
      </p:sp>
      <p:sp>
        <p:nvSpPr>
          <p:cNvPr id="212" name="rect 212"/>
          <p:cNvSpPr/>
          <p:nvPr/>
        </p:nvSpPr>
        <p:spPr>
          <a:xfrm>
            <a:off x="12566842" y="4889115"/>
            <a:ext cx="99922" cy="99922"/>
          </a:xfrm>
          <a:prstGeom prst="rect">
            <a:avLst/>
          </a:prstGeom>
          <a:solidFill>
            <a:srgbClr val="111111"/>
          </a:solidFill>
          <a:ln>
            <a:noFill/>
          </a:ln>
        </p:spPr>
      </p:sp>
      <p:sp>
        <p:nvSpPr>
          <p:cNvPr id="213" name="rect 213"/>
          <p:cNvSpPr/>
          <p:nvPr/>
        </p:nvSpPr>
        <p:spPr>
          <a:xfrm>
            <a:off x="12764655" y="4889115"/>
            <a:ext cx="99922" cy="99922"/>
          </a:xfrm>
          <a:prstGeom prst="rect">
            <a:avLst/>
          </a:prstGeom>
          <a:solidFill>
            <a:srgbClr val="111111"/>
          </a:solidFill>
          <a:ln>
            <a:noFill/>
          </a:ln>
        </p:spPr>
      </p:sp>
      <p:sp>
        <p:nvSpPr>
          <p:cNvPr id="214" name="rect 214"/>
          <p:cNvSpPr/>
          <p:nvPr/>
        </p:nvSpPr>
        <p:spPr>
          <a:xfrm>
            <a:off x="12962467" y="4889115"/>
            <a:ext cx="99922" cy="99922"/>
          </a:xfrm>
          <a:prstGeom prst="rect">
            <a:avLst/>
          </a:prstGeom>
          <a:solidFill>
            <a:srgbClr val="111111"/>
          </a:solidFill>
          <a:ln>
            <a:noFill/>
          </a:ln>
        </p:spPr>
      </p:sp>
      <p:sp>
        <p:nvSpPr>
          <p:cNvPr id="215" name="rect 215"/>
          <p:cNvSpPr/>
          <p:nvPr/>
        </p:nvSpPr>
        <p:spPr>
          <a:xfrm>
            <a:off x="13259185" y="4889115"/>
            <a:ext cx="99922" cy="99922"/>
          </a:xfrm>
          <a:prstGeom prst="rect">
            <a:avLst/>
          </a:prstGeom>
          <a:solidFill>
            <a:srgbClr val="111111"/>
          </a:solidFill>
          <a:ln>
            <a:noFill/>
          </a:ln>
        </p:spPr>
      </p:sp>
      <p:sp>
        <p:nvSpPr>
          <p:cNvPr id="216" name="rect 216"/>
          <p:cNvSpPr/>
          <p:nvPr/>
        </p:nvSpPr>
        <p:spPr>
          <a:xfrm>
            <a:off x="13358091" y="4889115"/>
            <a:ext cx="99922" cy="99922"/>
          </a:xfrm>
          <a:prstGeom prst="rect">
            <a:avLst/>
          </a:prstGeom>
          <a:solidFill>
            <a:srgbClr val="111111"/>
          </a:solidFill>
          <a:ln>
            <a:noFill/>
          </a:ln>
        </p:spPr>
      </p:sp>
      <p:sp>
        <p:nvSpPr>
          <p:cNvPr id="217" name="rect 217"/>
          <p:cNvSpPr/>
          <p:nvPr/>
        </p:nvSpPr>
        <p:spPr>
          <a:xfrm>
            <a:off x="13654809" y="4889115"/>
            <a:ext cx="99922" cy="99922"/>
          </a:xfrm>
          <a:prstGeom prst="rect">
            <a:avLst/>
          </a:prstGeom>
          <a:solidFill>
            <a:srgbClr val="111111"/>
          </a:solidFill>
          <a:ln>
            <a:noFill/>
          </a:ln>
        </p:spPr>
      </p:sp>
      <p:sp>
        <p:nvSpPr>
          <p:cNvPr id="218" name="rect 218"/>
          <p:cNvSpPr/>
          <p:nvPr/>
        </p:nvSpPr>
        <p:spPr>
          <a:xfrm>
            <a:off x="13753715" y="4889115"/>
            <a:ext cx="99922" cy="99922"/>
          </a:xfrm>
          <a:prstGeom prst="rect">
            <a:avLst/>
          </a:prstGeom>
          <a:solidFill>
            <a:srgbClr val="111111"/>
          </a:solidFill>
          <a:ln>
            <a:noFill/>
          </a:ln>
        </p:spPr>
      </p:sp>
      <p:sp>
        <p:nvSpPr>
          <p:cNvPr id="219" name="rect 219"/>
          <p:cNvSpPr/>
          <p:nvPr/>
        </p:nvSpPr>
        <p:spPr>
          <a:xfrm>
            <a:off x="13852621" y="4889115"/>
            <a:ext cx="99922" cy="99922"/>
          </a:xfrm>
          <a:prstGeom prst="rect">
            <a:avLst/>
          </a:prstGeom>
          <a:solidFill>
            <a:srgbClr val="111111"/>
          </a:solidFill>
          <a:ln>
            <a:noFill/>
          </a:ln>
        </p:spPr>
      </p:sp>
      <p:sp>
        <p:nvSpPr>
          <p:cNvPr id="220" name="rect 220"/>
          <p:cNvSpPr/>
          <p:nvPr/>
        </p:nvSpPr>
        <p:spPr>
          <a:xfrm>
            <a:off x="14149339" y="4889115"/>
            <a:ext cx="99922" cy="99922"/>
          </a:xfrm>
          <a:prstGeom prst="rect">
            <a:avLst/>
          </a:prstGeom>
          <a:solidFill>
            <a:srgbClr val="111111"/>
          </a:solidFill>
          <a:ln>
            <a:noFill/>
          </a:ln>
        </p:spPr>
      </p:sp>
      <p:sp>
        <p:nvSpPr>
          <p:cNvPr id="221" name="rect 221"/>
          <p:cNvSpPr/>
          <p:nvPr/>
        </p:nvSpPr>
        <p:spPr>
          <a:xfrm>
            <a:off x="14248245" y="4889115"/>
            <a:ext cx="99922" cy="99922"/>
          </a:xfrm>
          <a:prstGeom prst="rect">
            <a:avLst/>
          </a:prstGeom>
          <a:solidFill>
            <a:srgbClr val="111111"/>
          </a:solidFill>
          <a:ln>
            <a:noFill/>
          </a:ln>
        </p:spPr>
      </p:sp>
      <p:sp>
        <p:nvSpPr>
          <p:cNvPr id="222" name="rect 222"/>
          <p:cNvSpPr/>
          <p:nvPr/>
        </p:nvSpPr>
        <p:spPr>
          <a:xfrm>
            <a:off x="14643870" y="4889115"/>
            <a:ext cx="99922" cy="99922"/>
          </a:xfrm>
          <a:prstGeom prst="rect">
            <a:avLst/>
          </a:prstGeom>
          <a:solidFill>
            <a:srgbClr val="111111"/>
          </a:solidFill>
          <a:ln>
            <a:noFill/>
          </a:ln>
        </p:spPr>
      </p:sp>
      <p:sp>
        <p:nvSpPr>
          <p:cNvPr id="223" name="rect 223"/>
          <p:cNvSpPr/>
          <p:nvPr/>
        </p:nvSpPr>
        <p:spPr>
          <a:xfrm>
            <a:off x="12270124" y="4988021"/>
            <a:ext cx="99922" cy="99922"/>
          </a:xfrm>
          <a:prstGeom prst="rect">
            <a:avLst/>
          </a:prstGeom>
          <a:solidFill>
            <a:srgbClr val="111111"/>
          </a:solidFill>
          <a:ln>
            <a:noFill/>
          </a:ln>
        </p:spPr>
      </p:sp>
      <p:sp>
        <p:nvSpPr>
          <p:cNvPr id="224" name="rect 224"/>
          <p:cNvSpPr/>
          <p:nvPr/>
        </p:nvSpPr>
        <p:spPr>
          <a:xfrm>
            <a:off x="12467936" y="4988021"/>
            <a:ext cx="99922" cy="99922"/>
          </a:xfrm>
          <a:prstGeom prst="rect">
            <a:avLst/>
          </a:prstGeom>
          <a:solidFill>
            <a:srgbClr val="111111"/>
          </a:solidFill>
          <a:ln>
            <a:noFill/>
          </a:ln>
        </p:spPr>
      </p:sp>
      <p:sp>
        <p:nvSpPr>
          <p:cNvPr id="225" name="rect 225"/>
          <p:cNvSpPr/>
          <p:nvPr/>
        </p:nvSpPr>
        <p:spPr>
          <a:xfrm>
            <a:off x="12863561" y="4988021"/>
            <a:ext cx="99922" cy="99922"/>
          </a:xfrm>
          <a:prstGeom prst="rect">
            <a:avLst/>
          </a:prstGeom>
          <a:solidFill>
            <a:srgbClr val="111111"/>
          </a:solidFill>
          <a:ln>
            <a:noFill/>
          </a:ln>
        </p:spPr>
      </p:sp>
      <p:sp>
        <p:nvSpPr>
          <p:cNvPr id="226" name="rect 226"/>
          <p:cNvSpPr/>
          <p:nvPr/>
        </p:nvSpPr>
        <p:spPr>
          <a:xfrm>
            <a:off x="13061373" y="4988021"/>
            <a:ext cx="99922" cy="99922"/>
          </a:xfrm>
          <a:prstGeom prst="rect">
            <a:avLst/>
          </a:prstGeom>
          <a:solidFill>
            <a:srgbClr val="111111"/>
          </a:solidFill>
          <a:ln>
            <a:noFill/>
          </a:ln>
        </p:spPr>
      </p:sp>
      <p:sp>
        <p:nvSpPr>
          <p:cNvPr id="227" name="rect 227"/>
          <p:cNvSpPr/>
          <p:nvPr/>
        </p:nvSpPr>
        <p:spPr>
          <a:xfrm>
            <a:off x="13259185" y="4988021"/>
            <a:ext cx="99922" cy="99922"/>
          </a:xfrm>
          <a:prstGeom prst="rect">
            <a:avLst/>
          </a:prstGeom>
          <a:solidFill>
            <a:srgbClr val="111111"/>
          </a:solidFill>
          <a:ln>
            <a:noFill/>
          </a:ln>
        </p:spPr>
      </p:sp>
      <p:sp>
        <p:nvSpPr>
          <p:cNvPr id="228" name="rect 228"/>
          <p:cNvSpPr/>
          <p:nvPr/>
        </p:nvSpPr>
        <p:spPr>
          <a:xfrm>
            <a:off x="13358091" y="4988021"/>
            <a:ext cx="99922" cy="99922"/>
          </a:xfrm>
          <a:prstGeom prst="rect">
            <a:avLst/>
          </a:prstGeom>
          <a:solidFill>
            <a:srgbClr val="111111"/>
          </a:solidFill>
          <a:ln>
            <a:noFill/>
          </a:ln>
        </p:spPr>
      </p:sp>
      <p:sp>
        <p:nvSpPr>
          <p:cNvPr id="229" name="rect 229"/>
          <p:cNvSpPr/>
          <p:nvPr/>
        </p:nvSpPr>
        <p:spPr>
          <a:xfrm>
            <a:off x="13456997" y="4988021"/>
            <a:ext cx="99922" cy="99922"/>
          </a:xfrm>
          <a:prstGeom prst="rect">
            <a:avLst/>
          </a:prstGeom>
          <a:solidFill>
            <a:srgbClr val="111111"/>
          </a:solidFill>
          <a:ln>
            <a:noFill/>
          </a:ln>
        </p:spPr>
      </p:sp>
      <p:sp>
        <p:nvSpPr>
          <p:cNvPr id="230" name="rect 230"/>
          <p:cNvSpPr/>
          <p:nvPr/>
        </p:nvSpPr>
        <p:spPr>
          <a:xfrm>
            <a:off x="13555903" y="4988021"/>
            <a:ext cx="99922" cy="99922"/>
          </a:xfrm>
          <a:prstGeom prst="rect">
            <a:avLst/>
          </a:prstGeom>
          <a:solidFill>
            <a:srgbClr val="111111"/>
          </a:solidFill>
          <a:ln>
            <a:noFill/>
          </a:ln>
        </p:spPr>
      </p:sp>
      <p:sp>
        <p:nvSpPr>
          <p:cNvPr id="231" name="rect 231"/>
          <p:cNvSpPr/>
          <p:nvPr/>
        </p:nvSpPr>
        <p:spPr>
          <a:xfrm>
            <a:off x="13654809" y="4988021"/>
            <a:ext cx="99922" cy="99922"/>
          </a:xfrm>
          <a:prstGeom prst="rect">
            <a:avLst/>
          </a:prstGeom>
          <a:solidFill>
            <a:srgbClr val="111111"/>
          </a:solidFill>
          <a:ln>
            <a:noFill/>
          </a:ln>
        </p:spPr>
      </p:sp>
      <p:sp>
        <p:nvSpPr>
          <p:cNvPr id="232" name="rect 232"/>
          <p:cNvSpPr/>
          <p:nvPr/>
        </p:nvSpPr>
        <p:spPr>
          <a:xfrm>
            <a:off x="13852621" y="4988021"/>
            <a:ext cx="99922" cy="99922"/>
          </a:xfrm>
          <a:prstGeom prst="rect">
            <a:avLst/>
          </a:prstGeom>
          <a:solidFill>
            <a:srgbClr val="111111"/>
          </a:solidFill>
          <a:ln>
            <a:noFill/>
          </a:ln>
        </p:spPr>
      </p:sp>
      <p:sp>
        <p:nvSpPr>
          <p:cNvPr id="233" name="rect 233"/>
          <p:cNvSpPr/>
          <p:nvPr/>
        </p:nvSpPr>
        <p:spPr>
          <a:xfrm>
            <a:off x="13951527" y="4988021"/>
            <a:ext cx="99922" cy="99922"/>
          </a:xfrm>
          <a:prstGeom prst="rect">
            <a:avLst/>
          </a:prstGeom>
          <a:solidFill>
            <a:srgbClr val="111111"/>
          </a:solidFill>
          <a:ln>
            <a:noFill/>
          </a:ln>
        </p:spPr>
      </p:sp>
      <p:sp>
        <p:nvSpPr>
          <p:cNvPr id="234" name="rect 234"/>
          <p:cNvSpPr/>
          <p:nvPr/>
        </p:nvSpPr>
        <p:spPr>
          <a:xfrm>
            <a:off x="14050433" y="4988021"/>
            <a:ext cx="99922" cy="99922"/>
          </a:xfrm>
          <a:prstGeom prst="rect">
            <a:avLst/>
          </a:prstGeom>
          <a:solidFill>
            <a:srgbClr val="111111"/>
          </a:solidFill>
          <a:ln>
            <a:noFill/>
          </a:ln>
        </p:spPr>
      </p:sp>
      <p:sp>
        <p:nvSpPr>
          <p:cNvPr id="235" name="rect 235"/>
          <p:cNvSpPr/>
          <p:nvPr/>
        </p:nvSpPr>
        <p:spPr>
          <a:xfrm>
            <a:off x="14149339" y="4988021"/>
            <a:ext cx="99922" cy="99922"/>
          </a:xfrm>
          <a:prstGeom prst="rect">
            <a:avLst/>
          </a:prstGeom>
          <a:solidFill>
            <a:srgbClr val="111111"/>
          </a:solidFill>
          <a:ln>
            <a:noFill/>
          </a:ln>
        </p:spPr>
      </p:sp>
      <p:sp>
        <p:nvSpPr>
          <p:cNvPr id="236" name="rect 236"/>
          <p:cNvSpPr/>
          <p:nvPr/>
        </p:nvSpPr>
        <p:spPr>
          <a:xfrm>
            <a:off x="14248245" y="4988021"/>
            <a:ext cx="99922" cy="99922"/>
          </a:xfrm>
          <a:prstGeom prst="rect">
            <a:avLst/>
          </a:prstGeom>
          <a:solidFill>
            <a:srgbClr val="111111"/>
          </a:solidFill>
          <a:ln>
            <a:noFill/>
          </a:ln>
        </p:spPr>
      </p:sp>
      <p:sp>
        <p:nvSpPr>
          <p:cNvPr id="237" name="rect 237"/>
          <p:cNvSpPr/>
          <p:nvPr/>
        </p:nvSpPr>
        <p:spPr>
          <a:xfrm>
            <a:off x="14446058" y="4988021"/>
            <a:ext cx="99922" cy="99922"/>
          </a:xfrm>
          <a:prstGeom prst="rect">
            <a:avLst/>
          </a:prstGeom>
          <a:solidFill>
            <a:srgbClr val="111111"/>
          </a:solidFill>
          <a:ln>
            <a:noFill/>
          </a:ln>
        </p:spPr>
      </p:sp>
      <p:sp>
        <p:nvSpPr>
          <p:cNvPr id="238" name="rect 238"/>
          <p:cNvSpPr/>
          <p:nvPr/>
        </p:nvSpPr>
        <p:spPr>
          <a:xfrm>
            <a:off x="13061373" y="5086927"/>
            <a:ext cx="99922" cy="99922"/>
          </a:xfrm>
          <a:prstGeom prst="rect">
            <a:avLst/>
          </a:prstGeom>
          <a:solidFill>
            <a:srgbClr val="111111"/>
          </a:solidFill>
          <a:ln>
            <a:noFill/>
          </a:ln>
        </p:spPr>
      </p:sp>
      <p:sp>
        <p:nvSpPr>
          <p:cNvPr id="239" name="rect 239"/>
          <p:cNvSpPr/>
          <p:nvPr/>
        </p:nvSpPr>
        <p:spPr>
          <a:xfrm>
            <a:off x="13160279" y="5086927"/>
            <a:ext cx="99922" cy="99922"/>
          </a:xfrm>
          <a:prstGeom prst="rect">
            <a:avLst/>
          </a:prstGeom>
          <a:solidFill>
            <a:srgbClr val="111111"/>
          </a:solidFill>
          <a:ln>
            <a:noFill/>
          </a:ln>
        </p:spPr>
      </p:sp>
      <p:sp>
        <p:nvSpPr>
          <p:cNvPr id="240" name="rect 240"/>
          <p:cNvSpPr/>
          <p:nvPr/>
        </p:nvSpPr>
        <p:spPr>
          <a:xfrm>
            <a:off x="13259185" y="5086927"/>
            <a:ext cx="99922" cy="99922"/>
          </a:xfrm>
          <a:prstGeom prst="rect">
            <a:avLst/>
          </a:prstGeom>
          <a:solidFill>
            <a:srgbClr val="111111"/>
          </a:solidFill>
          <a:ln>
            <a:noFill/>
          </a:ln>
        </p:spPr>
      </p:sp>
      <p:sp>
        <p:nvSpPr>
          <p:cNvPr id="241" name="rect 241"/>
          <p:cNvSpPr/>
          <p:nvPr/>
        </p:nvSpPr>
        <p:spPr>
          <a:xfrm>
            <a:off x="13456997" y="5086927"/>
            <a:ext cx="99922" cy="99922"/>
          </a:xfrm>
          <a:prstGeom prst="rect">
            <a:avLst/>
          </a:prstGeom>
          <a:solidFill>
            <a:srgbClr val="111111"/>
          </a:solidFill>
          <a:ln>
            <a:noFill/>
          </a:ln>
        </p:spPr>
      </p:sp>
      <p:sp>
        <p:nvSpPr>
          <p:cNvPr id="242" name="rect 242"/>
          <p:cNvSpPr/>
          <p:nvPr/>
        </p:nvSpPr>
        <p:spPr>
          <a:xfrm>
            <a:off x="13753715" y="5086927"/>
            <a:ext cx="99922" cy="99922"/>
          </a:xfrm>
          <a:prstGeom prst="rect">
            <a:avLst/>
          </a:prstGeom>
          <a:solidFill>
            <a:srgbClr val="111111"/>
          </a:solidFill>
          <a:ln>
            <a:noFill/>
          </a:ln>
        </p:spPr>
      </p:sp>
      <p:sp>
        <p:nvSpPr>
          <p:cNvPr id="243" name="rect 243"/>
          <p:cNvSpPr/>
          <p:nvPr/>
        </p:nvSpPr>
        <p:spPr>
          <a:xfrm>
            <a:off x="13852621" y="5086927"/>
            <a:ext cx="99922" cy="99922"/>
          </a:xfrm>
          <a:prstGeom prst="rect">
            <a:avLst/>
          </a:prstGeom>
          <a:solidFill>
            <a:srgbClr val="111111"/>
          </a:solidFill>
          <a:ln>
            <a:noFill/>
          </a:ln>
        </p:spPr>
      </p:sp>
      <p:sp>
        <p:nvSpPr>
          <p:cNvPr id="244" name="rect 244"/>
          <p:cNvSpPr/>
          <p:nvPr/>
        </p:nvSpPr>
        <p:spPr>
          <a:xfrm>
            <a:off x="14248245" y="5086927"/>
            <a:ext cx="99922" cy="99922"/>
          </a:xfrm>
          <a:prstGeom prst="rect">
            <a:avLst/>
          </a:prstGeom>
          <a:solidFill>
            <a:srgbClr val="111111"/>
          </a:solidFill>
          <a:ln>
            <a:noFill/>
          </a:ln>
        </p:spPr>
      </p:sp>
      <p:sp>
        <p:nvSpPr>
          <p:cNvPr id="245" name="rect 245"/>
          <p:cNvSpPr/>
          <p:nvPr/>
        </p:nvSpPr>
        <p:spPr>
          <a:xfrm>
            <a:off x="14347152" y="5086927"/>
            <a:ext cx="99922" cy="99922"/>
          </a:xfrm>
          <a:prstGeom prst="rect">
            <a:avLst/>
          </a:prstGeom>
          <a:solidFill>
            <a:srgbClr val="111111"/>
          </a:solidFill>
          <a:ln>
            <a:noFill/>
          </a:ln>
        </p:spPr>
      </p:sp>
      <p:sp>
        <p:nvSpPr>
          <p:cNvPr id="246" name="rect 246"/>
          <p:cNvSpPr/>
          <p:nvPr/>
        </p:nvSpPr>
        <p:spPr>
          <a:xfrm>
            <a:off x="12270124" y="5185833"/>
            <a:ext cx="99922" cy="99922"/>
          </a:xfrm>
          <a:prstGeom prst="rect">
            <a:avLst/>
          </a:prstGeom>
          <a:solidFill>
            <a:srgbClr val="111111"/>
          </a:solidFill>
          <a:ln>
            <a:noFill/>
          </a:ln>
        </p:spPr>
      </p:sp>
      <p:sp>
        <p:nvSpPr>
          <p:cNvPr id="247" name="rect 247"/>
          <p:cNvSpPr/>
          <p:nvPr/>
        </p:nvSpPr>
        <p:spPr>
          <a:xfrm>
            <a:off x="12369030" y="5185833"/>
            <a:ext cx="99922" cy="99922"/>
          </a:xfrm>
          <a:prstGeom prst="rect">
            <a:avLst/>
          </a:prstGeom>
          <a:solidFill>
            <a:srgbClr val="111111"/>
          </a:solidFill>
          <a:ln>
            <a:noFill/>
          </a:ln>
        </p:spPr>
      </p:sp>
      <p:sp>
        <p:nvSpPr>
          <p:cNvPr id="248" name="rect 248"/>
          <p:cNvSpPr/>
          <p:nvPr/>
        </p:nvSpPr>
        <p:spPr>
          <a:xfrm>
            <a:off x="12467936" y="5185833"/>
            <a:ext cx="99922" cy="99922"/>
          </a:xfrm>
          <a:prstGeom prst="rect">
            <a:avLst/>
          </a:prstGeom>
          <a:solidFill>
            <a:srgbClr val="111111"/>
          </a:solidFill>
          <a:ln>
            <a:noFill/>
          </a:ln>
        </p:spPr>
      </p:sp>
      <p:sp>
        <p:nvSpPr>
          <p:cNvPr id="249" name="rect 249"/>
          <p:cNvSpPr/>
          <p:nvPr/>
        </p:nvSpPr>
        <p:spPr>
          <a:xfrm>
            <a:off x="12566842" y="5185833"/>
            <a:ext cx="99922" cy="99922"/>
          </a:xfrm>
          <a:prstGeom prst="rect">
            <a:avLst/>
          </a:prstGeom>
          <a:solidFill>
            <a:srgbClr val="111111"/>
          </a:solidFill>
          <a:ln>
            <a:noFill/>
          </a:ln>
        </p:spPr>
      </p:sp>
      <p:sp>
        <p:nvSpPr>
          <p:cNvPr id="250" name="rect 250"/>
          <p:cNvSpPr/>
          <p:nvPr/>
        </p:nvSpPr>
        <p:spPr>
          <a:xfrm>
            <a:off x="12665748" y="5185833"/>
            <a:ext cx="99922" cy="99922"/>
          </a:xfrm>
          <a:prstGeom prst="rect">
            <a:avLst/>
          </a:prstGeom>
          <a:solidFill>
            <a:srgbClr val="111111"/>
          </a:solidFill>
          <a:ln>
            <a:noFill/>
          </a:ln>
        </p:spPr>
      </p:sp>
      <p:sp>
        <p:nvSpPr>
          <p:cNvPr id="251" name="rect 251"/>
          <p:cNvSpPr/>
          <p:nvPr/>
        </p:nvSpPr>
        <p:spPr>
          <a:xfrm>
            <a:off x="12764655" y="5185833"/>
            <a:ext cx="99922" cy="99922"/>
          </a:xfrm>
          <a:prstGeom prst="rect">
            <a:avLst/>
          </a:prstGeom>
          <a:solidFill>
            <a:srgbClr val="111111"/>
          </a:solidFill>
          <a:ln>
            <a:noFill/>
          </a:ln>
        </p:spPr>
      </p:sp>
      <p:sp>
        <p:nvSpPr>
          <p:cNvPr id="252" name="rect 252"/>
          <p:cNvSpPr/>
          <p:nvPr/>
        </p:nvSpPr>
        <p:spPr>
          <a:xfrm>
            <a:off x="12863561" y="5185833"/>
            <a:ext cx="99922" cy="99922"/>
          </a:xfrm>
          <a:prstGeom prst="rect">
            <a:avLst/>
          </a:prstGeom>
          <a:solidFill>
            <a:srgbClr val="111111"/>
          </a:solidFill>
          <a:ln>
            <a:noFill/>
          </a:ln>
        </p:spPr>
      </p:sp>
      <p:sp>
        <p:nvSpPr>
          <p:cNvPr id="253" name="rect 253"/>
          <p:cNvSpPr/>
          <p:nvPr/>
        </p:nvSpPr>
        <p:spPr>
          <a:xfrm>
            <a:off x="13061373" y="5185833"/>
            <a:ext cx="99922" cy="99922"/>
          </a:xfrm>
          <a:prstGeom prst="rect">
            <a:avLst/>
          </a:prstGeom>
          <a:solidFill>
            <a:srgbClr val="111111"/>
          </a:solidFill>
          <a:ln>
            <a:noFill/>
          </a:ln>
        </p:spPr>
      </p:sp>
      <p:sp>
        <p:nvSpPr>
          <p:cNvPr id="254" name="rect 254"/>
          <p:cNvSpPr/>
          <p:nvPr/>
        </p:nvSpPr>
        <p:spPr>
          <a:xfrm>
            <a:off x="13160279" y="5185833"/>
            <a:ext cx="99922" cy="99922"/>
          </a:xfrm>
          <a:prstGeom prst="rect">
            <a:avLst/>
          </a:prstGeom>
          <a:solidFill>
            <a:srgbClr val="111111"/>
          </a:solidFill>
          <a:ln>
            <a:noFill/>
          </a:ln>
        </p:spPr>
      </p:sp>
      <p:sp>
        <p:nvSpPr>
          <p:cNvPr id="255" name="rect 255"/>
          <p:cNvSpPr/>
          <p:nvPr/>
        </p:nvSpPr>
        <p:spPr>
          <a:xfrm>
            <a:off x="13555903" y="5185833"/>
            <a:ext cx="99922" cy="99922"/>
          </a:xfrm>
          <a:prstGeom prst="rect">
            <a:avLst/>
          </a:prstGeom>
          <a:solidFill>
            <a:srgbClr val="111111"/>
          </a:solidFill>
          <a:ln>
            <a:noFill/>
          </a:ln>
        </p:spPr>
      </p:sp>
      <p:sp>
        <p:nvSpPr>
          <p:cNvPr id="256" name="rect 256"/>
          <p:cNvSpPr/>
          <p:nvPr/>
        </p:nvSpPr>
        <p:spPr>
          <a:xfrm>
            <a:off x="13852621" y="5185833"/>
            <a:ext cx="99922" cy="99922"/>
          </a:xfrm>
          <a:prstGeom prst="rect">
            <a:avLst/>
          </a:prstGeom>
          <a:solidFill>
            <a:srgbClr val="111111"/>
          </a:solidFill>
          <a:ln>
            <a:noFill/>
          </a:ln>
        </p:spPr>
      </p:sp>
      <p:sp>
        <p:nvSpPr>
          <p:cNvPr id="257" name="rect 257"/>
          <p:cNvSpPr/>
          <p:nvPr/>
        </p:nvSpPr>
        <p:spPr>
          <a:xfrm>
            <a:off x="14050433" y="5185833"/>
            <a:ext cx="99922" cy="99922"/>
          </a:xfrm>
          <a:prstGeom prst="rect">
            <a:avLst/>
          </a:prstGeom>
          <a:solidFill>
            <a:srgbClr val="111111"/>
          </a:solidFill>
          <a:ln>
            <a:noFill/>
          </a:ln>
        </p:spPr>
      </p:sp>
      <p:sp>
        <p:nvSpPr>
          <p:cNvPr id="258" name="rect 258"/>
          <p:cNvSpPr/>
          <p:nvPr/>
        </p:nvSpPr>
        <p:spPr>
          <a:xfrm>
            <a:off x="14248245" y="5185833"/>
            <a:ext cx="99922" cy="99922"/>
          </a:xfrm>
          <a:prstGeom prst="rect">
            <a:avLst/>
          </a:prstGeom>
          <a:solidFill>
            <a:srgbClr val="111111"/>
          </a:solidFill>
          <a:ln>
            <a:noFill/>
          </a:ln>
        </p:spPr>
      </p:sp>
      <p:sp>
        <p:nvSpPr>
          <p:cNvPr id="259" name="rect 259"/>
          <p:cNvSpPr/>
          <p:nvPr/>
        </p:nvSpPr>
        <p:spPr>
          <a:xfrm>
            <a:off x="14446058" y="5185833"/>
            <a:ext cx="99922" cy="99922"/>
          </a:xfrm>
          <a:prstGeom prst="rect">
            <a:avLst/>
          </a:prstGeom>
          <a:solidFill>
            <a:srgbClr val="111111"/>
          </a:solidFill>
          <a:ln>
            <a:noFill/>
          </a:ln>
        </p:spPr>
      </p:sp>
      <p:sp>
        <p:nvSpPr>
          <p:cNvPr id="260" name="rect 260"/>
          <p:cNvSpPr/>
          <p:nvPr/>
        </p:nvSpPr>
        <p:spPr>
          <a:xfrm>
            <a:off x="14544964" y="5185833"/>
            <a:ext cx="99922" cy="99922"/>
          </a:xfrm>
          <a:prstGeom prst="rect">
            <a:avLst/>
          </a:prstGeom>
          <a:solidFill>
            <a:srgbClr val="111111"/>
          </a:solidFill>
          <a:ln>
            <a:noFill/>
          </a:ln>
        </p:spPr>
      </p:sp>
      <p:sp>
        <p:nvSpPr>
          <p:cNvPr id="261" name="rect 261"/>
          <p:cNvSpPr/>
          <p:nvPr/>
        </p:nvSpPr>
        <p:spPr>
          <a:xfrm>
            <a:off x="14643870" y="5185833"/>
            <a:ext cx="99922" cy="99922"/>
          </a:xfrm>
          <a:prstGeom prst="rect">
            <a:avLst/>
          </a:prstGeom>
          <a:solidFill>
            <a:srgbClr val="111111"/>
          </a:solidFill>
          <a:ln>
            <a:noFill/>
          </a:ln>
        </p:spPr>
      </p:sp>
      <p:sp>
        <p:nvSpPr>
          <p:cNvPr id="262" name="rect 262"/>
          <p:cNvSpPr/>
          <p:nvPr/>
        </p:nvSpPr>
        <p:spPr>
          <a:xfrm>
            <a:off x="12270124" y="5284739"/>
            <a:ext cx="99922" cy="99922"/>
          </a:xfrm>
          <a:prstGeom prst="rect">
            <a:avLst/>
          </a:prstGeom>
          <a:solidFill>
            <a:srgbClr val="111111"/>
          </a:solidFill>
          <a:ln>
            <a:noFill/>
          </a:ln>
        </p:spPr>
      </p:sp>
      <p:sp>
        <p:nvSpPr>
          <p:cNvPr id="263" name="rect 263"/>
          <p:cNvSpPr/>
          <p:nvPr/>
        </p:nvSpPr>
        <p:spPr>
          <a:xfrm>
            <a:off x="12863561" y="5284739"/>
            <a:ext cx="99922" cy="99922"/>
          </a:xfrm>
          <a:prstGeom prst="rect">
            <a:avLst/>
          </a:prstGeom>
          <a:solidFill>
            <a:srgbClr val="111111"/>
          </a:solidFill>
          <a:ln>
            <a:noFill/>
          </a:ln>
        </p:spPr>
      </p:sp>
      <p:sp>
        <p:nvSpPr>
          <p:cNvPr id="264" name="rect 264"/>
          <p:cNvSpPr/>
          <p:nvPr/>
        </p:nvSpPr>
        <p:spPr>
          <a:xfrm>
            <a:off x="13259185" y="5284739"/>
            <a:ext cx="99922" cy="99922"/>
          </a:xfrm>
          <a:prstGeom prst="rect">
            <a:avLst/>
          </a:prstGeom>
          <a:solidFill>
            <a:srgbClr val="111111"/>
          </a:solidFill>
          <a:ln>
            <a:noFill/>
          </a:ln>
        </p:spPr>
      </p:sp>
      <p:sp>
        <p:nvSpPr>
          <p:cNvPr id="265" name="rect 265"/>
          <p:cNvSpPr/>
          <p:nvPr/>
        </p:nvSpPr>
        <p:spPr>
          <a:xfrm>
            <a:off x="13358091" y="5284739"/>
            <a:ext cx="99922" cy="99922"/>
          </a:xfrm>
          <a:prstGeom prst="rect">
            <a:avLst/>
          </a:prstGeom>
          <a:solidFill>
            <a:srgbClr val="111111"/>
          </a:solidFill>
          <a:ln>
            <a:noFill/>
          </a:ln>
        </p:spPr>
      </p:sp>
      <p:sp>
        <p:nvSpPr>
          <p:cNvPr id="266" name="rect 266"/>
          <p:cNvSpPr/>
          <p:nvPr/>
        </p:nvSpPr>
        <p:spPr>
          <a:xfrm>
            <a:off x="13654809" y="5284739"/>
            <a:ext cx="99922" cy="99922"/>
          </a:xfrm>
          <a:prstGeom prst="rect">
            <a:avLst/>
          </a:prstGeom>
          <a:solidFill>
            <a:srgbClr val="111111"/>
          </a:solidFill>
          <a:ln>
            <a:noFill/>
          </a:ln>
        </p:spPr>
      </p:sp>
      <p:sp>
        <p:nvSpPr>
          <p:cNvPr id="267" name="rect 267"/>
          <p:cNvSpPr/>
          <p:nvPr/>
        </p:nvSpPr>
        <p:spPr>
          <a:xfrm>
            <a:off x="13852621" y="5284739"/>
            <a:ext cx="99922" cy="99922"/>
          </a:xfrm>
          <a:prstGeom prst="rect">
            <a:avLst/>
          </a:prstGeom>
          <a:solidFill>
            <a:srgbClr val="111111"/>
          </a:solidFill>
          <a:ln>
            <a:noFill/>
          </a:ln>
        </p:spPr>
      </p:sp>
      <p:sp>
        <p:nvSpPr>
          <p:cNvPr id="268" name="rect 268"/>
          <p:cNvSpPr/>
          <p:nvPr/>
        </p:nvSpPr>
        <p:spPr>
          <a:xfrm>
            <a:off x="14248245" y="5284739"/>
            <a:ext cx="99922" cy="99922"/>
          </a:xfrm>
          <a:prstGeom prst="rect">
            <a:avLst/>
          </a:prstGeom>
          <a:solidFill>
            <a:srgbClr val="111111"/>
          </a:solidFill>
          <a:ln>
            <a:noFill/>
          </a:ln>
        </p:spPr>
      </p:sp>
      <p:sp>
        <p:nvSpPr>
          <p:cNvPr id="269" name="rect 269"/>
          <p:cNvSpPr/>
          <p:nvPr/>
        </p:nvSpPr>
        <p:spPr>
          <a:xfrm>
            <a:off x="14347152" y="5284739"/>
            <a:ext cx="99922" cy="99922"/>
          </a:xfrm>
          <a:prstGeom prst="rect">
            <a:avLst/>
          </a:prstGeom>
          <a:solidFill>
            <a:srgbClr val="111111"/>
          </a:solidFill>
          <a:ln>
            <a:noFill/>
          </a:ln>
        </p:spPr>
      </p:sp>
      <p:sp>
        <p:nvSpPr>
          <p:cNvPr id="270" name="rect 270"/>
          <p:cNvSpPr/>
          <p:nvPr/>
        </p:nvSpPr>
        <p:spPr>
          <a:xfrm>
            <a:off x="14544964" y="5284739"/>
            <a:ext cx="99922" cy="99922"/>
          </a:xfrm>
          <a:prstGeom prst="rect">
            <a:avLst/>
          </a:prstGeom>
          <a:solidFill>
            <a:srgbClr val="111111"/>
          </a:solidFill>
          <a:ln>
            <a:noFill/>
          </a:ln>
        </p:spPr>
      </p:sp>
      <p:sp>
        <p:nvSpPr>
          <p:cNvPr id="271" name="rect 271"/>
          <p:cNvSpPr/>
          <p:nvPr/>
        </p:nvSpPr>
        <p:spPr>
          <a:xfrm>
            <a:off x="14643870" y="5284739"/>
            <a:ext cx="99922" cy="99922"/>
          </a:xfrm>
          <a:prstGeom prst="rect">
            <a:avLst/>
          </a:prstGeom>
          <a:solidFill>
            <a:srgbClr val="111111"/>
          </a:solidFill>
          <a:ln>
            <a:noFill/>
          </a:ln>
        </p:spPr>
      </p:sp>
      <p:sp>
        <p:nvSpPr>
          <p:cNvPr id="272" name="rect 272"/>
          <p:cNvSpPr/>
          <p:nvPr/>
        </p:nvSpPr>
        <p:spPr>
          <a:xfrm>
            <a:off x="12270124" y="5383645"/>
            <a:ext cx="99922" cy="99922"/>
          </a:xfrm>
          <a:prstGeom prst="rect">
            <a:avLst/>
          </a:prstGeom>
          <a:solidFill>
            <a:srgbClr val="111111"/>
          </a:solidFill>
          <a:ln>
            <a:noFill/>
          </a:ln>
        </p:spPr>
      </p:sp>
      <p:sp>
        <p:nvSpPr>
          <p:cNvPr id="273" name="rect 273"/>
          <p:cNvSpPr/>
          <p:nvPr/>
        </p:nvSpPr>
        <p:spPr>
          <a:xfrm>
            <a:off x="12467936" y="5383645"/>
            <a:ext cx="99922" cy="99922"/>
          </a:xfrm>
          <a:prstGeom prst="rect">
            <a:avLst/>
          </a:prstGeom>
          <a:solidFill>
            <a:srgbClr val="111111"/>
          </a:solidFill>
          <a:ln>
            <a:noFill/>
          </a:ln>
        </p:spPr>
      </p:sp>
      <p:sp>
        <p:nvSpPr>
          <p:cNvPr id="274" name="rect 274"/>
          <p:cNvSpPr/>
          <p:nvPr/>
        </p:nvSpPr>
        <p:spPr>
          <a:xfrm>
            <a:off x="12566842" y="5383645"/>
            <a:ext cx="99922" cy="99922"/>
          </a:xfrm>
          <a:prstGeom prst="rect">
            <a:avLst/>
          </a:prstGeom>
          <a:solidFill>
            <a:srgbClr val="111111"/>
          </a:solidFill>
          <a:ln>
            <a:noFill/>
          </a:ln>
        </p:spPr>
      </p:sp>
      <p:sp>
        <p:nvSpPr>
          <p:cNvPr id="275" name="rect 275"/>
          <p:cNvSpPr/>
          <p:nvPr/>
        </p:nvSpPr>
        <p:spPr>
          <a:xfrm>
            <a:off x="12665748" y="5383645"/>
            <a:ext cx="99922" cy="99922"/>
          </a:xfrm>
          <a:prstGeom prst="rect">
            <a:avLst/>
          </a:prstGeom>
          <a:solidFill>
            <a:srgbClr val="111111"/>
          </a:solidFill>
          <a:ln>
            <a:noFill/>
          </a:ln>
        </p:spPr>
      </p:sp>
      <p:sp>
        <p:nvSpPr>
          <p:cNvPr id="276" name="rect 276"/>
          <p:cNvSpPr/>
          <p:nvPr/>
        </p:nvSpPr>
        <p:spPr>
          <a:xfrm>
            <a:off x="12863561" y="5383645"/>
            <a:ext cx="99922" cy="99922"/>
          </a:xfrm>
          <a:prstGeom prst="rect">
            <a:avLst/>
          </a:prstGeom>
          <a:solidFill>
            <a:srgbClr val="111111"/>
          </a:solidFill>
          <a:ln>
            <a:noFill/>
          </a:ln>
        </p:spPr>
      </p:sp>
      <p:sp>
        <p:nvSpPr>
          <p:cNvPr id="277" name="rect 277"/>
          <p:cNvSpPr/>
          <p:nvPr/>
        </p:nvSpPr>
        <p:spPr>
          <a:xfrm>
            <a:off x="13061373" y="5383645"/>
            <a:ext cx="99922" cy="99922"/>
          </a:xfrm>
          <a:prstGeom prst="rect">
            <a:avLst/>
          </a:prstGeom>
          <a:solidFill>
            <a:srgbClr val="111111"/>
          </a:solidFill>
          <a:ln>
            <a:noFill/>
          </a:ln>
        </p:spPr>
      </p:sp>
      <p:sp>
        <p:nvSpPr>
          <p:cNvPr id="278" name="rect 278"/>
          <p:cNvSpPr/>
          <p:nvPr/>
        </p:nvSpPr>
        <p:spPr>
          <a:xfrm>
            <a:off x="13259185" y="5383645"/>
            <a:ext cx="99922" cy="99922"/>
          </a:xfrm>
          <a:prstGeom prst="rect">
            <a:avLst/>
          </a:prstGeom>
          <a:solidFill>
            <a:srgbClr val="111111"/>
          </a:solidFill>
          <a:ln>
            <a:noFill/>
          </a:ln>
        </p:spPr>
      </p:sp>
      <p:sp>
        <p:nvSpPr>
          <p:cNvPr id="279" name="rect 279"/>
          <p:cNvSpPr/>
          <p:nvPr/>
        </p:nvSpPr>
        <p:spPr>
          <a:xfrm>
            <a:off x="13358091" y="5383645"/>
            <a:ext cx="99922" cy="99922"/>
          </a:xfrm>
          <a:prstGeom prst="rect">
            <a:avLst/>
          </a:prstGeom>
          <a:solidFill>
            <a:srgbClr val="111111"/>
          </a:solidFill>
          <a:ln>
            <a:noFill/>
          </a:ln>
        </p:spPr>
      </p:sp>
      <p:sp>
        <p:nvSpPr>
          <p:cNvPr id="280" name="rect 280"/>
          <p:cNvSpPr/>
          <p:nvPr/>
        </p:nvSpPr>
        <p:spPr>
          <a:xfrm>
            <a:off x="13456997" y="5383645"/>
            <a:ext cx="99922" cy="99922"/>
          </a:xfrm>
          <a:prstGeom prst="rect">
            <a:avLst/>
          </a:prstGeom>
          <a:solidFill>
            <a:srgbClr val="111111"/>
          </a:solidFill>
          <a:ln>
            <a:noFill/>
          </a:ln>
        </p:spPr>
      </p:sp>
      <p:sp>
        <p:nvSpPr>
          <p:cNvPr id="281" name="rect 281"/>
          <p:cNvSpPr/>
          <p:nvPr/>
        </p:nvSpPr>
        <p:spPr>
          <a:xfrm>
            <a:off x="13555903" y="5383645"/>
            <a:ext cx="99922" cy="99922"/>
          </a:xfrm>
          <a:prstGeom prst="rect">
            <a:avLst/>
          </a:prstGeom>
          <a:solidFill>
            <a:srgbClr val="111111"/>
          </a:solidFill>
          <a:ln>
            <a:noFill/>
          </a:ln>
        </p:spPr>
      </p:sp>
      <p:sp>
        <p:nvSpPr>
          <p:cNvPr id="282" name="rect 282"/>
          <p:cNvSpPr/>
          <p:nvPr/>
        </p:nvSpPr>
        <p:spPr>
          <a:xfrm>
            <a:off x="13654809" y="5383645"/>
            <a:ext cx="99922" cy="99922"/>
          </a:xfrm>
          <a:prstGeom prst="rect">
            <a:avLst/>
          </a:prstGeom>
          <a:solidFill>
            <a:srgbClr val="111111"/>
          </a:solidFill>
          <a:ln>
            <a:noFill/>
          </a:ln>
        </p:spPr>
      </p:sp>
      <p:sp>
        <p:nvSpPr>
          <p:cNvPr id="283" name="rect 283"/>
          <p:cNvSpPr/>
          <p:nvPr/>
        </p:nvSpPr>
        <p:spPr>
          <a:xfrm>
            <a:off x="13753715" y="5383645"/>
            <a:ext cx="99922" cy="99922"/>
          </a:xfrm>
          <a:prstGeom prst="rect">
            <a:avLst/>
          </a:prstGeom>
          <a:solidFill>
            <a:srgbClr val="111111"/>
          </a:solidFill>
          <a:ln>
            <a:noFill/>
          </a:ln>
        </p:spPr>
      </p:sp>
      <p:sp>
        <p:nvSpPr>
          <p:cNvPr id="284" name="rect 284"/>
          <p:cNvSpPr/>
          <p:nvPr/>
        </p:nvSpPr>
        <p:spPr>
          <a:xfrm>
            <a:off x="13852621" y="5383645"/>
            <a:ext cx="99922" cy="99922"/>
          </a:xfrm>
          <a:prstGeom prst="rect">
            <a:avLst/>
          </a:prstGeom>
          <a:solidFill>
            <a:srgbClr val="111111"/>
          </a:solidFill>
          <a:ln>
            <a:noFill/>
          </a:ln>
        </p:spPr>
      </p:sp>
      <p:sp>
        <p:nvSpPr>
          <p:cNvPr id="285" name="rect 285"/>
          <p:cNvSpPr/>
          <p:nvPr/>
        </p:nvSpPr>
        <p:spPr>
          <a:xfrm>
            <a:off x="13951527" y="5383645"/>
            <a:ext cx="99922" cy="99922"/>
          </a:xfrm>
          <a:prstGeom prst="rect">
            <a:avLst/>
          </a:prstGeom>
          <a:solidFill>
            <a:srgbClr val="111111"/>
          </a:solidFill>
          <a:ln>
            <a:noFill/>
          </a:ln>
        </p:spPr>
      </p:sp>
      <p:sp>
        <p:nvSpPr>
          <p:cNvPr id="286" name="rect 286"/>
          <p:cNvSpPr/>
          <p:nvPr/>
        </p:nvSpPr>
        <p:spPr>
          <a:xfrm>
            <a:off x="14050433" y="5383645"/>
            <a:ext cx="99922" cy="99922"/>
          </a:xfrm>
          <a:prstGeom prst="rect">
            <a:avLst/>
          </a:prstGeom>
          <a:solidFill>
            <a:srgbClr val="111111"/>
          </a:solidFill>
          <a:ln>
            <a:noFill/>
          </a:ln>
        </p:spPr>
      </p:sp>
      <p:sp>
        <p:nvSpPr>
          <p:cNvPr id="287" name="rect 287"/>
          <p:cNvSpPr/>
          <p:nvPr/>
        </p:nvSpPr>
        <p:spPr>
          <a:xfrm>
            <a:off x="14149339" y="5383645"/>
            <a:ext cx="99922" cy="99922"/>
          </a:xfrm>
          <a:prstGeom prst="rect">
            <a:avLst/>
          </a:prstGeom>
          <a:solidFill>
            <a:srgbClr val="111111"/>
          </a:solidFill>
          <a:ln>
            <a:noFill/>
          </a:ln>
        </p:spPr>
      </p:sp>
      <p:sp>
        <p:nvSpPr>
          <p:cNvPr id="288" name="rect 288"/>
          <p:cNvSpPr/>
          <p:nvPr/>
        </p:nvSpPr>
        <p:spPr>
          <a:xfrm>
            <a:off x="14248245" y="5383645"/>
            <a:ext cx="99922" cy="99922"/>
          </a:xfrm>
          <a:prstGeom prst="rect">
            <a:avLst/>
          </a:prstGeom>
          <a:solidFill>
            <a:srgbClr val="111111"/>
          </a:solidFill>
          <a:ln>
            <a:noFill/>
          </a:ln>
        </p:spPr>
      </p:sp>
      <p:sp>
        <p:nvSpPr>
          <p:cNvPr id="289" name="rect 289"/>
          <p:cNvSpPr/>
          <p:nvPr/>
        </p:nvSpPr>
        <p:spPr>
          <a:xfrm>
            <a:off x="14446058" y="5383645"/>
            <a:ext cx="99922" cy="99922"/>
          </a:xfrm>
          <a:prstGeom prst="rect">
            <a:avLst/>
          </a:prstGeom>
          <a:solidFill>
            <a:srgbClr val="111111"/>
          </a:solidFill>
          <a:ln>
            <a:noFill/>
          </a:ln>
        </p:spPr>
      </p:sp>
      <p:sp>
        <p:nvSpPr>
          <p:cNvPr id="290" name="rect 290"/>
          <p:cNvSpPr/>
          <p:nvPr/>
        </p:nvSpPr>
        <p:spPr>
          <a:xfrm>
            <a:off x="12270124" y="5482552"/>
            <a:ext cx="99922" cy="99922"/>
          </a:xfrm>
          <a:prstGeom prst="rect">
            <a:avLst/>
          </a:prstGeom>
          <a:solidFill>
            <a:srgbClr val="111111"/>
          </a:solidFill>
          <a:ln>
            <a:noFill/>
          </a:ln>
        </p:spPr>
      </p:sp>
      <p:sp>
        <p:nvSpPr>
          <p:cNvPr id="291" name="rect 291"/>
          <p:cNvSpPr/>
          <p:nvPr/>
        </p:nvSpPr>
        <p:spPr>
          <a:xfrm>
            <a:off x="12467936" y="5482552"/>
            <a:ext cx="99922" cy="99922"/>
          </a:xfrm>
          <a:prstGeom prst="rect">
            <a:avLst/>
          </a:prstGeom>
          <a:solidFill>
            <a:srgbClr val="111111"/>
          </a:solidFill>
          <a:ln>
            <a:noFill/>
          </a:ln>
        </p:spPr>
      </p:sp>
      <p:sp>
        <p:nvSpPr>
          <p:cNvPr id="292" name="rect 292"/>
          <p:cNvSpPr/>
          <p:nvPr/>
        </p:nvSpPr>
        <p:spPr>
          <a:xfrm>
            <a:off x="12566842" y="5482552"/>
            <a:ext cx="99922" cy="99922"/>
          </a:xfrm>
          <a:prstGeom prst="rect">
            <a:avLst/>
          </a:prstGeom>
          <a:solidFill>
            <a:srgbClr val="111111"/>
          </a:solidFill>
          <a:ln>
            <a:noFill/>
          </a:ln>
        </p:spPr>
      </p:sp>
      <p:sp>
        <p:nvSpPr>
          <p:cNvPr id="293" name="rect 293"/>
          <p:cNvSpPr/>
          <p:nvPr/>
        </p:nvSpPr>
        <p:spPr>
          <a:xfrm>
            <a:off x="12665748" y="5482552"/>
            <a:ext cx="99922" cy="99922"/>
          </a:xfrm>
          <a:prstGeom prst="rect">
            <a:avLst/>
          </a:prstGeom>
          <a:solidFill>
            <a:srgbClr val="111111"/>
          </a:solidFill>
          <a:ln>
            <a:noFill/>
          </a:ln>
        </p:spPr>
      </p:sp>
      <p:sp>
        <p:nvSpPr>
          <p:cNvPr id="294" name="rect 294"/>
          <p:cNvSpPr/>
          <p:nvPr/>
        </p:nvSpPr>
        <p:spPr>
          <a:xfrm>
            <a:off x="12863561" y="5482552"/>
            <a:ext cx="99922" cy="99922"/>
          </a:xfrm>
          <a:prstGeom prst="rect">
            <a:avLst/>
          </a:prstGeom>
          <a:solidFill>
            <a:srgbClr val="111111"/>
          </a:solidFill>
          <a:ln>
            <a:noFill/>
          </a:ln>
        </p:spPr>
      </p:sp>
      <p:sp>
        <p:nvSpPr>
          <p:cNvPr id="295" name="rect 295"/>
          <p:cNvSpPr/>
          <p:nvPr/>
        </p:nvSpPr>
        <p:spPr>
          <a:xfrm>
            <a:off x="13061373" y="5482552"/>
            <a:ext cx="99922" cy="99922"/>
          </a:xfrm>
          <a:prstGeom prst="rect">
            <a:avLst/>
          </a:prstGeom>
          <a:solidFill>
            <a:srgbClr val="111111"/>
          </a:solidFill>
          <a:ln>
            <a:noFill/>
          </a:ln>
        </p:spPr>
      </p:sp>
      <p:sp>
        <p:nvSpPr>
          <p:cNvPr id="296" name="rect 296"/>
          <p:cNvSpPr/>
          <p:nvPr/>
        </p:nvSpPr>
        <p:spPr>
          <a:xfrm>
            <a:off x="13259185" y="5482552"/>
            <a:ext cx="99922" cy="99922"/>
          </a:xfrm>
          <a:prstGeom prst="rect">
            <a:avLst/>
          </a:prstGeom>
          <a:solidFill>
            <a:srgbClr val="111111"/>
          </a:solidFill>
          <a:ln>
            <a:noFill/>
          </a:ln>
        </p:spPr>
      </p:sp>
      <p:sp>
        <p:nvSpPr>
          <p:cNvPr id="297" name="rect 297"/>
          <p:cNvSpPr/>
          <p:nvPr/>
        </p:nvSpPr>
        <p:spPr>
          <a:xfrm>
            <a:off x="13358091" y="5482552"/>
            <a:ext cx="99922" cy="99922"/>
          </a:xfrm>
          <a:prstGeom prst="rect">
            <a:avLst/>
          </a:prstGeom>
          <a:solidFill>
            <a:srgbClr val="111111"/>
          </a:solidFill>
          <a:ln>
            <a:noFill/>
          </a:ln>
        </p:spPr>
      </p:sp>
      <p:sp>
        <p:nvSpPr>
          <p:cNvPr id="298" name="rect 298"/>
          <p:cNvSpPr/>
          <p:nvPr/>
        </p:nvSpPr>
        <p:spPr>
          <a:xfrm>
            <a:off x="13456997" y="5482552"/>
            <a:ext cx="99922" cy="99922"/>
          </a:xfrm>
          <a:prstGeom prst="rect">
            <a:avLst/>
          </a:prstGeom>
          <a:solidFill>
            <a:srgbClr val="111111"/>
          </a:solidFill>
          <a:ln>
            <a:noFill/>
          </a:ln>
        </p:spPr>
      </p:sp>
      <p:sp>
        <p:nvSpPr>
          <p:cNvPr id="299" name="rect 299"/>
          <p:cNvSpPr/>
          <p:nvPr/>
        </p:nvSpPr>
        <p:spPr>
          <a:xfrm>
            <a:off x="13753715" y="5482552"/>
            <a:ext cx="99922" cy="99922"/>
          </a:xfrm>
          <a:prstGeom prst="rect">
            <a:avLst/>
          </a:prstGeom>
          <a:solidFill>
            <a:srgbClr val="111111"/>
          </a:solidFill>
          <a:ln>
            <a:noFill/>
          </a:ln>
        </p:spPr>
      </p:sp>
      <p:sp>
        <p:nvSpPr>
          <p:cNvPr id="300" name="rect 300"/>
          <p:cNvSpPr/>
          <p:nvPr/>
        </p:nvSpPr>
        <p:spPr>
          <a:xfrm>
            <a:off x="13951527" y="5482552"/>
            <a:ext cx="99922" cy="99922"/>
          </a:xfrm>
          <a:prstGeom prst="rect">
            <a:avLst/>
          </a:prstGeom>
          <a:solidFill>
            <a:srgbClr val="111111"/>
          </a:solidFill>
          <a:ln>
            <a:noFill/>
          </a:ln>
        </p:spPr>
      </p:sp>
      <p:sp>
        <p:nvSpPr>
          <p:cNvPr id="301" name="rect 301"/>
          <p:cNvSpPr/>
          <p:nvPr/>
        </p:nvSpPr>
        <p:spPr>
          <a:xfrm>
            <a:off x="14050433" y="5482552"/>
            <a:ext cx="99922" cy="99922"/>
          </a:xfrm>
          <a:prstGeom prst="rect">
            <a:avLst/>
          </a:prstGeom>
          <a:solidFill>
            <a:srgbClr val="111111"/>
          </a:solidFill>
          <a:ln>
            <a:noFill/>
          </a:ln>
        </p:spPr>
      </p:sp>
      <p:sp>
        <p:nvSpPr>
          <p:cNvPr id="302" name="rect 302"/>
          <p:cNvSpPr/>
          <p:nvPr/>
        </p:nvSpPr>
        <p:spPr>
          <a:xfrm>
            <a:off x="14248245" y="5482552"/>
            <a:ext cx="99922" cy="99922"/>
          </a:xfrm>
          <a:prstGeom prst="rect">
            <a:avLst/>
          </a:prstGeom>
          <a:solidFill>
            <a:srgbClr val="111111"/>
          </a:solidFill>
          <a:ln>
            <a:noFill/>
          </a:ln>
        </p:spPr>
      </p:sp>
      <p:sp>
        <p:nvSpPr>
          <p:cNvPr id="303" name="rect 303"/>
          <p:cNvSpPr/>
          <p:nvPr/>
        </p:nvSpPr>
        <p:spPr>
          <a:xfrm>
            <a:off x="14347152" y="5482552"/>
            <a:ext cx="99922" cy="99922"/>
          </a:xfrm>
          <a:prstGeom prst="rect">
            <a:avLst/>
          </a:prstGeom>
          <a:solidFill>
            <a:srgbClr val="111111"/>
          </a:solidFill>
          <a:ln>
            <a:noFill/>
          </a:ln>
        </p:spPr>
      </p:sp>
      <p:sp>
        <p:nvSpPr>
          <p:cNvPr id="304" name="rect 304"/>
          <p:cNvSpPr/>
          <p:nvPr/>
        </p:nvSpPr>
        <p:spPr>
          <a:xfrm>
            <a:off x="14446058" y="5482552"/>
            <a:ext cx="99922" cy="99922"/>
          </a:xfrm>
          <a:prstGeom prst="rect">
            <a:avLst/>
          </a:prstGeom>
          <a:solidFill>
            <a:srgbClr val="111111"/>
          </a:solidFill>
          <a:ln>
            <a:noFill/>
          </a:ln>
        </p:spPr>
      </p:sp>
      <p:sp>
        <p:nvSpPr>
          <p:cNvPr id="305" name="rect 305"/>
          <p:cNvSpPr/>
          <p:nvPr/>
        </p:nvSpPr>
        <p:spPr>
          <a:xfrm>
            <a:off x="14544964" y="5482552"/>
            <a:ext cx="99922" cy="99922"/>
          </a:xfrm>
          <a:prstGeom prst="rect">
            <a:avLst/>
          </a:prstGeom>
          <a:solidFill>
            <a:srgbClr val="111111"/>
          </a:solidFill>
          <a:ln>
            <a:noFill/>
          </a:ln>
        </p:spPr>
      </p:sp>
      <p:sp>
        <p:nvSpPr>
          <p:cNvPr id="306" name="rect 306"/>
          <p:cNvSpPr/>
          <p:nvPr/>
        </p:nvSpPr>
        <p:spPr>
          <a:xfrm>
            <a:off x="14643870" y="5482552"/>
            <a:ext cx="99922" cy="99922"/>
          </a:xfrm>
          <a:prstGeom prst="rect">
            <a:avLst/>
          </a:prstGeom>
          <a:solidFill>
            <a:srgbClr val="111111"/>
          </a:solidFill>
          <a:ln>
            <a:noFill/>
          </a:ln>
        </p:spPr>
      </p:sp>
      <p:sp>
        <p:nvSpPr>
          <p:cNvPr id="307" name="rect 307"/>
          <p:cNvSpPr/>
          <p:nvPr/>
        </p:nvSpPr>
        <p:spPr>
          <a:xfrm>
            <a:off x="12270124" y="5581458"/>
            <a:ext cx="99922" cy="99922"/>
          </a:xfrm>
          <a:prstGeom prst="rect">
            <a:avLst/>
          </a:prstGeom>
          <a:solidFill>
            <a:srgbClr val="111111"/>
          </a:solidFill>
          <a:ln>
            <a:noFill/>
          </a:ln>
        </p:spPr>
      </p:sp>
      <p:sp>
        <p:nvSpPr>
          <p:cNvPr id="308" name="rect 308"/>
          <p:cNvSpPr/>
          <p:nvPr/>
        </p:nvSpPr>
        <p:spPr>
          <a:xfrm>
            <a:off x="12467936" y="5581458"/>
            <a:ext cx="99922" cy="99922"/>
          </a:xfrm>
          <a:prstGeom prst="rect">
            <a:avLst/>
          </a:prstGeom>
          <a:solidFill>
            <a:srgbClr val="111111"/>
          </a:solidFill>
          <a:ln>
            <a:noFill/>
          </a:ln>
        </p:spPr>
      </p:sp>
      <p:sp>
        <p:nvSpPr>
          <p:cNvPr id="309" name="rect 309"/>
          <p:cNvSpPr/>
          <p:nvPr/>
        </p:nvSpPr>
        <p:spPr>
          <a:xfrm>
            <a:off x="12566842" y="5581458"/>
            <a:ext cx="99922" cy="99922"/>
          </a:xfrm>
          <a:prstGeom prst="rect">
            <a:avLst/>
          </a:prstGeom>
          <a:solidFill>
            <a:srgbClr val="111111"/>
          </a:solidFill>
          <a:ln>
            <a:noFill/>
          </a:ln>
        </p:spPr>
      </p:sp>
      <p:sp>
        <p:nvSpPr>
          <p:cNvPr id="310" name="rect 310"/>
          <p:cNvSpPr/>
          <p:nvPr/>
        </p:nvSpPr>
        <p:spPr>
          <a:xfrm>
            <a:off x="12665748" y="5581458"/>
            <a:ext cx="99922" cy="99922"/>
          </a:xfrm>
          <a:prstGeom prst="rect">
            <a:avLst/>
          </a:prstGeom>
          <a:solidFill>
            <a:srgbClr val="111111"/>
          </a:solidFill>
          <a:ln>
            <a:noFill/>
          </a:ln>
        </p:spPr>
      </p:sp>
      <p:sp>
        <p:nvSpPr>
          <p:cNvPr id="311" name="rect 311"/>
          <p:cNvSpPr/>
          <p:nvPr/>
        </p:nvSpPr>
        <p:spPr>
          <a:xfrm>
            <a:off x="12863561" y="5581458"/>
            <a:ext cx="99922" cy="99922"/>
          </a:xfrm>
          <a:prstGeom prst="rect">
            <a:avLst/>
          </a:prstGeom>
          <a:solidFill>
            <a:srgbClr val="111111"/>
          </a:solidFill>
          <a:ln>
            <a:noFill/>
          </a:ln>
        </p:spPr>
      </p:sp>
      <p:sp>
        <p:nvSpPr>
          <p:cNvPr id="312" name="rect 312"/>
          <p:cNvSpPr/>
          <p:nvPr/>
        </p:nvSpPr>
        <p:spPr>
          <a:xfrm>
            <a:off x="13061373" y="5581458"/>
            <a:ext cx="99922" cy="99922"/>
          </a:xfrm>
          <a:prstGeom prst="rect">
            <a:avLst/>
          </a:prstGeom>
          <a:solidFill>
            <a:srgbClr val="111111"/>
          </a:solidFill>
          <a:ln>
            <a:noFill/>
          </a:ln>
        </p:spPr>
      </p:sp>
      <p:sp>
        <p:nvSpPr>
          <p:cNvPr id="313" name="rect 313"/>
          <p:cNvSpPr/>
          <p:nvPr/>
        </p:nvSpPr>
        <p:spPr>
          <a:xfrm>
            <a:off x="13160279" y="5581458"/>
            <a:ext cx="99922" cy="99922"/>
          </a:xfrm>
          <a:prstGeom prst="rect">
            <a:avLst/>
          </a:prstGeom>
          <a:solidFill>
            <a:srgbClr val="111111"/>
          </a:solidFill>
          <a:ln>
            <a:noFill/>
          </a:ln>
        </p:spPr>
      </p:sp>
      <p:sp>
        <p:nvSpPr>
          <p:cNvPr id="314" name="rect 314"/>
          <p:cNvSpPr/>
          <p:nvPr/>
        </p:nvSpPr>
        <p:spPr>
          <a:xfrm>
            <a:off x="13555903" y="5581458"/>
            <a:ext cx="99922" cy="99922"/>
          </a:xfrm>
          <a:prstGeom prst="rect">
            <a:avLst/>
          </a:prstGeom>
          <a:solidFill>
            <a:srgbClr val="111111"/>
          </a:solidFill>
          <a:ln>
            <a:noFill/>
          </a:ln>
        </p:spPr>
      </p:sp>
      <p:sp>
        <p:nvSpPr>
          <p:cNvPr id="315" name="rect 315"/>
          <p:cNvSpPr/>
          <p:nvPr/>
        </p:nvSpPr>
        <p:spPr>
          <a:xfrm>
            <a:off x="13753715" y="5581458"/>
            <a:ext cx="99922" cy="99922"/>
          </a:xfrm>
          <a:prstGeom prst="rect">
            <a:avLst/>
          </a:prstGeom>
          <a:solidFill>
            <a:srgbClr val="111111"/>
          </a:solidFill>
          <a:ln>
            <a:noFill/>
          </a:ln>
        </p:spPr>
      </p:sp>
      <p:sp>
        <p:nvSpPr>
          <p:cNvPr id="316" name="rect 316"/>
          <p:cNvSpPr/>
          <p:nvPr/>
        </p:nvSpPr>
        <p:spPr>
          <a:xfrm>
            <a:off x="13852621" y="5581458"/>
            <a:ext cx="99922" cy="99922"/>
          </a:xfrm>
          <a:prstGeom prst="rect">
            <a:avLst/>
          </a:prstGeom>
          <a:solidFill>
            <a:srgbClr val="111111"/>
          </a:solidFill>
          <a:ln>
            <a:noFill/>
          </a:ln>
        </p:spPr>
      </p:sp>
      <p:sp>
        <p:nvSpPr>
          <p:cNvPr id="317" name="rect 317"/>
          <p:cNvSpPr/>
          <p:nvPr/>
        </p:nvSpPr>
        <p:spPr>
          <a:xfrm>
            <a:off x="13951527" y="5581458"/>
            <a:ext cx="99922" cy="99922"/>
          </a:xfrm>
          <a:prstGeom prst="rect">
            <a:avLst/>
          </a:prstGeom>
          <a:solidFill>
            <a:srgbClr val="111111"/>
          </a:solidFill>
          <a:ln>
            <a:noFill/>
          </a:ln>
        </p:spPr>
      </p:sp>
      <p:sp>
        <p:nvSpPr>
          <p:cNvPr id="318" name="rect 318"/>
          <p:cNvSpPr/>
          <p:nvPr/>
        </p:nvSpPr>
        <p:spPr>
          <a:xfrm>
            <a:off x="14347152" y="5581458"/>
            <a:ext cx="99922" cy="99922"/>
          </a:xfrm>
          <a:prstGeom prst="rect">
            <a:avLst/>
          </a:prstGeom>
          <a:solidFill>
            <a:srgbClr val="111111"/>
          </a:solidFill>
          <a:ln>
            <a:noFill/>
          </a:ln>
        </p:spPr>
      </p:sp>
      <p:sp>
        <p:nvSpPr>
          <p:cNvPr id="319" name="rect 319"/>
          <p:cNvSpPr/>
          <p:nvPr/>
        </p:nvSpPr>
        <p:spPr>
          <a:xfrm>
            <a:off x="14446058" y="5581458"/>
            <a:ext cx="99922" cy="99922"/>
          </a:xfrm>
          <a:prstGeom prst="rect">
            <a:avLst/>
          </a:prstGeom>
          <a:solidFill>
            <a:srgbClr val="111111"/>
          </a:solidFill>
          <a:ln>
            <a:noFill/>
          </a:ln>
        </p:spPr>
      </p:sp>
      <p:sp>
        <p:nvSpPr>
          <p:cNvPr id="320" name="rect 320"/>
          <p:cNvSpPr/>
          <p:nvPr/>
        </p:nvSpPr>
        <p:spPr>
          <a:xfrm>
            <a:off x="14643870" y="5581458"/>
            <a:ext cx="99922" cy="99922"/>
          </a:xfrm>
          <a:prstGeom prst="rect">
            <a:avLst/>
          </a:prstGeom>
          <a:solidFill>
            <a:srgbClr val="111111"/>
          </a:solidFill>
          <a:ln>
            <a:noFill/>
          </a:ln>
        </p:spPr>
      </p:sp>
      <p:sp>
        <p:nvSpPr>
          <p:cNvPr id="321" name="rect 321"/>
          <p:cNvSpPr/>
          <p:nvPr/>
        </p:nvSpPr>
        <p:spPr>
          <a:xfrm>
            <a:off x="12270124" y="5680364"/>
            <a:ext cx="99922" cy="99922"/>
          </a:xfrm>
          <a:prstGeom prst="rect">
            <a:avLst/>
          </a:prstGeom>
          <a:solidFill>
            <a:srgbClr val="111111"/>
          </a:solidFill>
          <a:ln>
            <a:noFill/>
          </a:ln>
        </p:spPr>
      </p:sp>
      <p:sp>
        <p:nvSpPr>
          <p:cNvPr id="322" name="rect 322"/>
          <p:cNvSpPr/>
          <p:nvPr/>
        </p:nvSpPr>
        <p:spPr>
          <a:xfrm>
            <a:off x="12863561" y="5680364"/>
            <a:ext cx="99922" cy="99922"/>
          </a:xfrm>
          <a:prstGeom prst="rect">
            <a:avLst/>
          </a:prstGeom>
          <a:solidFill>
            <a:srgbClr val="111111"/>
          </a:solidFill>
          <a:ln>
            <a:noFill/>
          </a:ln>
        </p:spPr>
      </p:sp>
      <p:sp>
        <p:nvSpPr>
          <p:cNvPr id="323" name="rect 323"/>
          <p:cNvSpPr/>
          <p:nvPr/>
        </p:nvSpPr>
        <p:spPr>
          <a:xfrm>
            <a:off x="13061373" y="5680364"/>
            <a:ext cx="99922" cy="99922"/>
          </a:xfrm>
          <a:prstGeom prst="rect">
            <a:avLst/>
          </a:prstGeom>
          <a:solidFill>
            <a:srgbClr val="111111"/>
          </a:solidFill>
          <a:ln>
            <a:noFill/>
          </a:ln>
        </p:spPr>
      </p:sp>
      <p:sp>
        <p:nvSpPr>
          <p:cNvPr id="324" name="rect 324"/>
          <p:cNvSpPr/>
          <p:nvPr/>
        </p:nvSpPr>
        <p:spPr>
          <a:xfrm>
            <a:off x="13160279" y="5680364"/>
            <a:ext cx="99922" cy="99922"/>
          </a:xfrm>
          <a:prstGeom prst="rect">
            <a:avLst/>
          </a:prstGeom>
          <a:solidFill>
            <a:srgbClr val="111111"/>
          </a:solidFill>
          <a:ln>
            <a:noFill/>
          </a:ln>
        </p:spPr>
      </p:sp>
      <p:sp>
        <p:nvSpPr>
          <p:cNvPr id="325" name="rect 325"/>
          <p:cNvSpPr/>
          <p:nvPr/>
        </p:nvSpPr>
        <p:spPr>
          <a:xfrm>
            <a:off x="13259185" y="5680364"/>
            <a:ext cx="99922" cy="99922"/>
          </a:xfrm>
          <a:prstGeom prst="rect">
            <a:avLst/>
          </a:prstGeom>
          <a:solidFill>
            <a:srgbClr val="111111"/>
          </a:solidFill>
          <a:ln>
            <a:noFill/>
          </a:ln>
        </p:spPr>
      </p:sp>
      <p:sp>
        <p:nvSpPr>
          <p:cNvPr id="326" name="rect 326"/>
          <p:cNvSpPr/>
          <p:nvPr/>
        </p:nvSpPr>
        <p:spPr>
          <a:xfrm>
            <a:off x="13358091" y="5680364"/>
            <a:ext cx="99922" cy="99922"/>
          </a:xfrm>
          <a:prstGeom prst="rect">
            <a:avLst/>
          </a:prstGeom>
          <a:solidFill>
            <a:srgbClr val="111111"/>
          </a:solidFill>
          <a:ln>
            <a:noFill/>
          </a:ln>
        </p:spPr>
      </p:sp>
      <p:sp>
        <p:nvSpPr>
          <p:cNvPr id="327" name="rect 327"/>
          <p:cNvSpPr/>
          <p:nvPr/>
        </p:nvSpPr>
        <p:spPr>
          <a:xfrm>
            <a:off x="13456997" y="5680364"/>
            <a:ext cx="99922" cy="99922"/>
          </a:xfrm>
          <a:prstGeom prst="rect">
            <a:avLst/>
          </a:prstGeom>
          <a:solidFill>
            <a:srgbClr val="111111"/>
          </a:solidFill>
          <a:ln>
            <a:noFill/>
          </a:ln>
        </p:spPr>
      </p:sp>
      <p:sp>
        <p:nvSpPr>
          <p:cNvPr id="328" name="rect 328"/>
          <p:cNvSpPr/>
          <p:nvPr/>
        </p:nvSpPr>
        <p:spPr>
          <a:xfrm>
            <a:off x="13654809" y="5680364"/>
            <a:ext cx="99922" cy="99922"/>
          </a:xfrm>
          <a:prstGeom prst="rect">
            <a:avLst/>
          </a:prstGeom>
          <a:solidFill>
            <a:srgbClr val="111111"/>
          </a:solidFill>
          <a:ln>
            <a:noFill/>
          </a:ln>
        </p:spPr>
      </p:sp>
      <p:sp>
        <p:nvSpPr>
          <p:cNvPr id="329" name="rect 329"/>
          <p:cNvSpPr/>
          <p:nvPr/>
        </p:nvSpPr>
        <p:spPr>
          <a:xfrm>
            <a:off x="13753715" y="5680364"/>
            <a:ext cx="99922" cy="99922"/>
          </a:xfrm>
          <a:prstGeom prst="rect">
            <a:avLst/>
          </a:prstGeom>
          <a:solidFill>
            <a:srgbClr val="111111"/>
          </a:solidFill>
          <a:ln>
            <a:noFill/>
          </a:ln>
        </p:spPr>
      </p:sp>
      <p:sp>
        <p:nvSpPr>
          <p:cNvPr id="330" name="rect 330"/>
          <p:cNvSpPr/>
          <p:nvPr/>
        </p:nvSpPr>
        <p:spPr>
          <a:xfrm>
            <a:off x="13852621" y="5680364"/>
            <a:ext cx="99922" cy="99922"/>
          </a:xfrm>
          <a:prstGeom prst="rect">
            <a:avLst/>
          </a:prstGeom>
          <a:solidFill>
            <a:srgbClr val="111111"/>
          </a:solidFill>
          <a:ln>
            <a:noFill/>
          </a:ln>
        </p:spPr>
      </p:sp>
      <p:sp>
        <p:nvSpPr>
          <p:cNvPr id="331" name="rect 331"/>
          <p:cNvSpPr/>
          <p:nvPr/>
        </p:nvSpPr>
        <p:spPr>
          <a:xfrm>
            <a:off x="13951527" y="5680364"/>
            <a:ext cx="99922" cy="99922"/>
          </a:xfrm>
          <a:prstGeom prst="rect">
            <a:avLst/>
          </a:prstGeom>
          <a:solidFill>
            <a:srgbClr val="111111"/>
          </a:solidFill>
          <a:ln>
            <a:noFill/>
          </a:ln>
        </p:spPr>
      </p:sp>
      <p:sp>
        <p:nvSpPr>
          <p:cNvPr id="332" name="rect 332"/>
          <p:cNvSpPr/>
          <p:nvPr/>
        </p:nvSpPr>
        <p:spPr>
          <a:xfrm>
            <a:off x="14050433" y="5680364"/>
            <a:ext cx="99922" cy="99922"/>
          </a:xfrm>
          <a:prstGeom prst="rect">
            <a:avLst/>
          </a:prstGeom>
          <a:solidFill>
            <a:srgbClr val="111111"/>
          </a:solidFill>
          <a:ln>
            <a:noFill/>
          </a:ln>
        </p:spPr>
      </p:sp>
      <p:sp>
        <p:nvSpPr>
          <p:cNvPr id="333" name="rect 333"/>
          <p:cNvSpPr/>
          <p:nvPr/>
        </p:nvSpPr>
        <p:spPr>
          <a:xfrm>
            <a:off x="14149339" y="5680364"/>
            <a:ext cx="99922" cy="99922"/>
          </a:xfrm>
          <a:prstGeom prst="rect">
            <a:avLst/>
          </a:prstGeom>
          <a:solidFill>
            <a:srgbClr val="111111"/>
          </a:solidFill>
          <a:ln>
            <a:noFill/>
          </a:ln>
        </p:spPr>
      </p:sp>
      <p:sp>
        <p:nvSpPr>
          <p:cNvPr id="334" name="rect 334"/>
          <p:cNvSpPr/>
          <p:nvPr/>
        </p:nvSpPr>
        <p:spPr>
          <a:xfrm>
            <a:off x="14248245" y="5680364"/>
            <a:ext cx="99922" cy="99922"/>
          </a:xfrm>
          <a:prstGeom prst="rect">
            <a:avLst/>
          </a:prstGeom>
          <a:solidFill>
            <a:srgbClr val="111111"/>
          </a:solidFill>
          <a:ln>
            <a:noFill/>
          </a:ln>
        </p:spPr>
      </p:sp>
      <p:sp>
        <p:nvSpPr>
          <p:cNvPr id="335" name="rect 335"/>
          <p:cNvSpPr/>
          <p:nvPr/>
        </p:nvSpPr>
        <p:spPr>
          <a:xfrm>
            <a:off x="14347152" y="5680364"/>
            <a:ext cx="99922" cy="99922"/>
          </a:xfrm>
          <a:prstGeom prst="rect">
            <a:avLst/>
          </a:prstGeom>
          <a:solidFill>
            <a:srgbClr val="111111"/>
          </a:solidFill>
          <a:ln>
            <a:noFill/>
          </a:ln>
        </p:spPr>
      </p:sp>
      <p:sp>
        <p:nvSpPr>
          <p:cNvPr id="336" name="rect 336"/>
          <p:cNvSpPr/>
          <p:nvPr/>
        </p:nvSpPr>
        <p:spPr>
          <a:xfrm>
            <a:off x="14643870" y="5680364"/>
            <a:ext cx="99922" cy="99922"/>
          </a:xfrm>
          <a:prstGeom prst="rect">
            <a:avLst/>
          </a:prstGeom>
          <a:solidFill>
            <a:srgbClr val="111111"/>
          </a:solidFill>
          <a:ln>
            <a:noFill/>
          </a:ln>
        </p:spPr>
      </p:sp>
      <p:sp>
        <p:nvSpPr>
          <p:cNvPr id="337" name="rect 337"/>
          <p:cNvSpPr/>
          <p:nvPr/>
        </p:nvSpPr>
        <p:spPr>
          <a:xfrm>
            <a:off x="12270124" y="5779270"/>
            <a:ext cx="99922" cy="99922"/>
          </a:xfrm>
          <a:prstGeom prst="rect">
            <a:avLst/>
          </a:prstGeom>
          <a:solidFill>
            <a:srgbClr val="111111"/>
          </a:solidFill>
          <a:ln>
            <a:noFill/>
          </a:ln>
        </p:spPr>
      </p:sp>
      <p:sp>
        <p:nvSpPr>
          <p:cNvPr id="338" name="rect 338"/>
          <p:cNvSpPr/>
          <p:nvPr/>
        </p:nvSpPr>
        <p:spPr>
          <a:xfrm>
            <a:off x="12369030" y="5779270"/>
            <a:ext cx="99922" cy="99922"/>
          </a:xfrm>
          <a:prstGeom prst="rect">
            <a:avLst/>
          </a:prstGeom>
          <a:solidFill>
            <a:srgbClr val="111111"/>
          </a:solidFill>
          <a:ln>
            <a:noFill/>
          </a:ln>
        </p:spPr>
      </p:sp>
      <p:sp>
        <p:nvSpPr>
          <p:cNvPr id="339" name="rect 339"/>
          <p:cNvSpPr/>
          <p:nvPr/>
        </p:nvSpPr>
        <p:spPr>
          <a:xfrm>
            <a:off x="12467936" y="5779270"/>
            <a:ext cx="99922" cy="99922"/>
          </a:xfrm>
          <a:prstGeom prst="rect">
            <a:avLst/>
          </a:prstGeom>
          <a:solidFill>
            <a:srgbClr val="111111"/>
          </a:solidFill>
          <a:ln>
            <a:noFill/>
          </a:ln>
        </p:spPr>
      </p:sp>
      <p:sp>
        <p:nvSpPr>
          <p:cNvPr id="340" name="rect 340"/>
          <p:cNvSpPr/>
          <p:nvPr/>
        </p:nvSpPr>
        <p:spPr>
          <a:xfrm>
            <a:off x="12566842" y="5779270"/>
            <a:ext cx="99922" cy="99922"/>
          </a:xfrm>
          <a:prstGeom prst="rect">
            <a:avLst/>
          </a:prstGeom>
          <a:solidFill>
            <a:srgbClr val="111111"/>
          </a:solidFill>
          <a:ln>
            <a:noFill/>
          </a:ln>
        </p:spPr>
      </p:sp>
      <p:sp>
        <p:nvSpPr>
          <p:cNvPr id="341" name="rect 341"/>
          <p:cNvSpPr/>
          <p:nvPr/>
        </p:nvSpPr>
        <p:spPr>
          <a:xfrm>
            <a:off x="12665748" y="5779270"/>
            <a:ext cx="99922" cy="99922"/>
          </a:xfrm>
          <a:prstGeom prst="rect">
            <a:avLst/>
          </a:prstGeom>
          <a:solidFill>
            <a:srgbClr val="111111"/>
          </a:solidFill>
          <a:ln>
            <a:noFill/>
          </a:ln>
        </p:spPr>
      </p:sp>
      <p:sp>
        <p:nvSpPr>
          <p:cNvPr id="342" name="rect 342"/>
          <p:cNvSpPr/>
          <p:nvPr/>
        </p:nvSpPr>
        <p:spPr>
          <a:xfrm>
            <a:off x="12764655" y="5779270"/>
            <a:ext cx="99922" cy="99922"/>
          </a:xfrm>
          <a:prstGeom prst="rect">
            <a:avLst/>
          </a:prstGeom>
          <a:solidFill>
            <a:srgbClr val="111111"/>
          </a:solidFill>
          <a:ln>
            <a:noFill/>
          </a:ln>
        </p:spPr>
      </p:sp>
      <p:sp>
        <p:nvSpPr>
          <p:cNvPr id="343" name="rect 343"/>
          <p:cNvSpPr/>
          <p:nvPr/>
        </p:nvSpPr>
        <p:spPr>
          <a:xfrm>
            <a:off x="12863561" y="5779270"/>
            <a:ext cx="99922" cy="99922"/>
          </a:xfrm>
          <a:prstGeom prst="rect">
            <a:avLst/>
          </a:prstGeom>
          <a:solidFill>
            <a:srgbClr val="111111"/>
          </a:solidFill>
          <a:ln>
            <a:noFill/>
          </a:ln>
        </p:spPr>
      </p:sp>
      <p:sp>
        <p:nvSpPr>
          <p:cNvPr id="344" name="rect 344"/>
          <p:cNvSpPr/>
          <p:nvPr/>
        </p:nvSpPr>
        <p:spPr>
          <a:xfrm>
            <a:off x="13061373" y="5779270"/>
            <a:ext cx="99922" cy="99922"/>
          </a:xfrm>
          <a:prstGeom prst="rect">
            <a:avLst/>
          </a:prstGeom>
          <a:solidFill>
            <a:srgbClr val="111111"/>
          </a:solidFill>
          <a:ln>
            <a:noFill/>
          </a:ln>
        </p:spPr>
      </p:sp>
      <p:sp>
        <p:nvSpPr>
          <p:cNvPr id="345" name="rect 345"/>
          <p:cNvSpPr/>
          <p:nvPr/>
        </p:nvSpPr>
        <p:spPr>
          <a:xfrm>
            <a:off x="13160279" y="5779270"/>
            <a:ext cx="99922" cy="99922"/>
          </a:xfrm>
          <a:prstGeom prst="rect">
            <a:avLst/>
          </a:prstGeom>
          <a:solidFill>
            <a:srgbClr val="111111"/>
          </a:solidFill>
          <a:ln>
            <a:noFill/>
          </a:ln>
        </p:spPr>
      </p:sp>
      <p:sp>
        <p:nvSpPr>
          <p:cNvPr id="346" name="rect 346"/>
          <p:cNvSpPr/>
          <p:nvPr/>
        </p:nvSpPr>
        <p:spPr>
          <a:xfrm>
            <a:off x="13555903" y="5779270"/>
            <a:ext cx="99922" cy="99922"/>
          </a:xfrm>
          <a:prstGeom prst="rect">
            <a:avLst/>
          </a:prstGeom>
          <a:solidFill>
            <a:srgbClr val="111111"/>
          </a:solidFill>
          <a:ln>
            <a:noFill/>
          </a:ln>
        </p:spPr>
      </p:sp>
      <p:sp>
        <p:nvSpPr>
          <p:cNvPr id="347" name="rect 347"/>
          <p:cNvSpPr/>
          <p:nvPr/>
        </p:nvSpPr>
        <p:spPr>
          <a:xfrm>
            <a:off x="13654809" y="5779270"/>
            <a:ext cx="99922" cy="99922"/>
          </a:xfrm>
          <a:prstGeom prst="rect">
            <a:avLst/>
          </a:prstGeom>
          <a:solidFill>
            <a:srgbClr val="111111"/>
          </a:solidFill>
          <a:ln>
            <a:noFill/>
          </a:ln>
        </p:spPr>
      </p:sp>
      <p:sp>
        <p:nvSpPr>
          <p:cNvPr id="348" name="rect 348"/>
          <p:cNvSpPr/>
          <p:nvPr/>
        </p:nvSpPr>
        <p:spPr>
          <a:xfrm>
            <a:off x="14050433" y="5779270"/>
            <a:ext cx="99922" cy="99922"/>
          </a:xfrm>
          <a:prstGeom prst="rect">
            <a:avLst/>
          </a:prstGeom>
          <a:solidFill>
            <a:srgbClr val="111111"/>
          </a:solidFill>
          <a:ln>
            <a:noFill/>
          </a:ln>
        </p:spPr>
      </p:sp>
      <p:sp>
        <p:nvSpPr>
          <p:cNvPr id="349" name="rect 349"/>
          <p:cNvSpPr/>
          <p:nvPr/>
        </p:nvSpPr>
        <p:spPr>
          <a:xfrm>
            <a:off x="14149339" y="5779270"/>
            <a:ext cx="99922" cy="99922"/>
          </a:xfrm>
          <a:prstGeom prst="rect">
            <a:avLst/>
          </a:prstGeom>
          <a:solidFill>
            <a:srgbClr val="111111"/>
          </a:solidFill>
          <a:ln>
            <a:noFill/>
          </a:ln>
        </p:spPr>
      </p:sp>
      <p:sp>
        <p:nvSpPr>
          <p:cNvPr id="350" name="rect 350"/>
          <p:cNvSpPr/>
          <p:nvPr/>
        </p:nvSpPr>
        <p:spPr>
          <a:xfrm>
            <a:off x="14248245" y="5779270"/>
            <a:ext cx="99922" cy="99922"/>
          </a:xfrm>
          <a:prstGeom prst="rect">
            <a:avLst/>
          </a:prstGeom>
          <a:solidFill>
            <a:srgbClr val="111111"/>
          </a:solidFill>
          <a:ln>
            <a:noFill/>
          </a:ln>
        </p:spPr>
      </p:sp>
      <p:sp>
        <p:nvSpPr>
          <p:cNvPr id="351" name="rect 351"/>
          <p:cNvSpPr/>
          <p:nvPr/>
        </p:nvSpPr>
        <p:spPr>
          <a:xfrm>
            <a:off x="14347152" y="5779270"/>
            <a:ext cx="99922" cy="99922"/>
          </a:xfrm>
          <a:prstGeom prst="rect">
            <a:avLst/>
          </a:prstGeom>
          <a:solidFill>
            <a:srgbClr val="111111"/>
          </a:solidFill>
          <a:ln>
            <a:noFill/>
          </a:ln>
        </p:spPr>
      </p:sp>
      <p:sp>
        <p:nvSpPr>
          <p:cNvPr id="352" name="rect 352"/>
          <p:cNvSpPr/>
          <p:nvPr/>
        </p:nvSpPr>
        <p:spPr>
          <a:xfrm>
            <a:off x="14446058" y="5779270"/>
            <a:ext cx="99922" cy="99922"/>
          </a:xfrm>
          <a:prstGeom prst="rect">
            <a:avLst/>
          </a:prstGeom>
          <a:solidFill>
            <a:srgbClr val="111111"/>
          </a:solidFill>
          <a:ln>
            <a:noFill/>
          </a:ln>
        </p:spPr>
      </p:sp>
      <p:sp>
        <p:nvSpPr>
          <p:cNvPr id="353" name="rect 353"/>
          <p:cNvSpPr/>
          <p:nvPr/>
        </p:nvSpPr>
        <p:spPr>
          <a:xfrm>
            <a:off x="14544964" y="5779270"/>
            <a:ext cx="99922" cy="99922"/>
          </a:xfrm>
          <a:prstGeom prst="rect">
            <a:avLst/>
          </a:prstGeom>
          <a:solidFill>
            <a:srgbClr val="111111"/>
          </a:solidFill>
          <a:ln>
            <a:noFill/>
          </a:ln>
        </p:spPr>
      </p:sp>
      <p:sp>
        <p:nvSpPr>
          <p:cNvPr id="354" name="rect 354"/>
          <p:cNvSpPr/>
          <p:nvPr/>
        </p:nvSpPr>
        <p:spPr>
          <a:xfrm>
            <a:off x="14643870" y="5779270"/>
            <a:ext cx="99922" cy="99922"/>
          </a:xfrm>
          <a:prstGeom prst="rect">
            <a:avLst/>
          </a:prstGeom>
          <a:solidFill>
            <a:srgbClr val="111111"/>
          </a:solidFill>
          <a:ln>
            <a:noFill/>
          </a:ln>
        </p:spPr>
      </p:sp>
    </p:spTree>
  </p:cSld>
  <p:clrMapOvr>
    <a:masterClrMapping/>
  </p:clrMapOvr>
</p:sld>
</file>

<file path=ppt/theme/theme1.xml><?xml version="1.0" encoding="utf-8"?>
<a:theme xmlns:a="http://schemas.openxmlformats.org/drawingml/2006/main" name="Cap">
  <a:themeElements>
    <a:clrScheme name="Cap">
      <a:dk1>
        <a:srgbClr val="162F3B"/>
      </a:dk1>
      <a:lt1>
        <a:srgbClr val="FAFAF7"/>
      </a:lt1>
      <a:dk2>
        <a:srgbClr val="52666F"/>
      </a:dk2>
      <a:lt2>
        <a:srgbClr val="EAF3F1"/>
      </a:lt2>
      <a:accent1>
        <a:srgbClr val="007E80"/>
      </a:accent1>
      <a:accent2>
        <a:srgbClr val="B44D32"/>
      </a:accent2>
      <a:accent3>
        <a:srgbClr val="675399"/>
      </a:accent3>
      <a:accent4>
        <a:srgbClr val="316F9B"/>
      </a:accent4>
      <a:accent5>
        <a:srgbClr val="8AB1AD"/>
      </a:accent5>
      <a:accent6>
        <a:srgbClr val="BACDD0"/>
      </a:accent6>
      <a:hlink>
        <a:srgbClr val="007E80"/>
      </a:hlink>
      <a:folHlink>
        <a:srgbClr val="675399"/>
      </a:folHlink>
    </a:clrScheme>
    <a:fontScheme name="Cap">
      <a:majorFont>
        <a:latin typeface="DejaVu Sans"/>
        <a:ea typeface=""/>
        <a:cs typeface=""/>
      </a:majorFont>
      <a:minorFont>
        <a:latin typeface="DejaVu Sans"/>
        <a:ea typeface=""/>
        <a:cs typeface=""/>
      </a:minorFont>
    </a:fontScheme>
    <a:fmtScheme name="Cap">
      <a:fillStyleLst>
        <a:solidFill>
          <a:schemeClr val="phClr"/>
        </a:solidFill>
        <a:solidFill>
          <a:schemeClr val="phClr"/>
        </a:solidFill>
        <a:solidFill>
          <a:schemeClr val="phClr"/>
        </a:solidFill>
      </a:fillStyleLst>
      <a:lnStyleLst>
        <a:ln w="12700">
          <a:solidFill>
            <a:schemeClr val="phClr"/>
          </a:solidFill>
        </a:ln>
        <a:ln w="12700">
          <a:solidFill>
            <a:schemeClr val="phClr"/>
          </a:solidFill>
        </a:ln>
        <a:ln w="127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